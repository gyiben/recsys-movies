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75" r:id="rId5"/>
    <p:sldId id="259" r:id="rId6"/>
    <p:sldId id="260" r:id="rId7"/>
    <p:sldId id="261" r:id="rId8"/>
    <p:sldId id="262" r:id="rId9"/>
    <p:sldId id="263" r:id="rId10"/>
    <p:sldId id="264" r:id="rId11"/>
    <p:sldId id="265" r:id="rId12"/>
    <p:sldId id="266" r:id="rId13"/>
    <p:sldId id="267" r:id="rId14"/>
    <p:sldId id="278" r:id="rId15"/>
    <p:sldId id="268" r:id="rId16"/>
    <p:sldId id="269" r:id="rId17"/>
    <p:sldId id="270" r:id="rId18"/>
    <p:sldId id="271" r:id="rId19"/>
    <p:sldId id="276" r:id="rId20"/>
    <p:sldId id="272" r:id="rId2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115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this is the story of what building the recommender taught me, not a feature tour.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The real question wasn't whether I could implement six algorithms — it was how to tell which one to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properties of the data shaped everything: it is extremely sparse, and the ratings skew high.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from raw CSVs to one cleaned grid that feeds all six models and the app. Filtered noisy films, temporal 80/20 split.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Three bugs, each one a lesson.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1: niche movies with one or two ratings flooded my lists. Fix: a minimum-support filter. Lesson: the threshold is a value choice.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2: a random train/test split let models train on a user's future. Fix: a temporal split. Lesson: an evaluation that flatters you is a lie.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3: item-based CF returned impossible ratings, caused by negative similarities. Fix: zero out negative similarities. Lesson: a textbook formula needs to survive messy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Six methods built from scratch — and the surprises in the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models, from the popularity baseline up to SVD. All share one interface so the notebook and app reuse the same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and diversity are different questions. Content-based reaches the widest but gives the narrowest individual lists.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 rating error doesn't mean good recommendations. Item-CF predicts best but ranks weakly; SVD ranks best.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results table. No single row wins everything — each model leads on a different metric. 'Which is best?' was the wrong question.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on MovieLens Small I could compare on accuracy alone. At production scale, training time, latency, memory, cost and maintainability matter as much as NDCG — sometimes more. The best offline algorithm isn't automatically the most useful.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 didn't like: Popularity, which ignores the user entirely, out-ranks every personalised method except SVD. That's the data talking.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The reflection — what the whole exercise actually taught me about evaluation.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lesson: offline metrics are built from history, and history favours popular films. The same bias showed up three times.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I'd go next, now informed by where each model fails: a hybrid, online evaluation, and explanations users trust.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a live Streamlit app on top of the same recommenders.py the notebook uses. Built week 1 as the agile shell; every algorithm plugged into the shared interface.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2912745"/>
            <a:ext cx="17183100" cy="33528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2F6F75"/>
                </a:solidFill>
                <a:latin typeface="Courier New" pitchFamily="34" charset="0"/>
                <a:ea typeface="Courier New" pitchFamily="34" charset="-122"/>
                <a:cs typeface="Courier New" pitchFamily="34" charset="-120"/>
              </a:rPr>
              <a:t>RECOMMENDER SYSTEMS · INDIVIDUAL PROJECT</a:t>
            </a:r>
            <a:endParaRPr lang="en-US" sz="1800" dirty="0"/>
          </a:p>
        </p:txBody>
      </p:sp>
      <p:sp>
        <p:nvSpPr>
          <p:cNvPr id="3" name="Text 1"/>
          <p:cNvSpPr/>
          <p:nvPr/>
        </p:nvSpPr>
        <p:spPr>
          <a:xfrm>
            <a:off x="1333500" y="3648075"/>
            <a:ext cx="14716125" cy="20002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7500" kern="0" spc="-112" dirty="0">
                <a:solidFill>
                  <a:srgbClr val="1A1A17"/>
                </a:solidFill>
                <a:latin typeface="Georgia" pitchFamily="34" charset="0"/>
                <a:ea typeface="Georgia" pitchFamily="34" charset="-122"/>
                <a:cs typeface="Georgia" pitchFamily="34" charset="-120"/>
              </a:rPr>
              <a:t>What building a movie recommender taught me</a:t>
            </a:r>
            <a:endParaRPr lang="en-US" sz="7500" dirty="0"/>
          </a:p>
        </p:txBody>
      </p:sp>
      <p:sp>
        <p:nvSpPr>
          <p:cNvPr id="4" name="Text 2"/>
          <p:cNvSpPr/>
          <p:nvPr/>
        </p:nvSpPr>
        <p:spPr>
          <a:xfrm>
            <a:off x="1333500" y="6010275"/>
            <a:ext cx="12165330" cy="2363704"/>
          </a:xfrm>
          <a:prstGeom prst="rect">
            <a:avLst/>
          </a:prstGeom>
          <a:noFill/>
          <a:ln/>
        </p:spPr>
        <p:txBody>
          <a:bodyPr wrap="square" lIns="25400" tIns="25400" rIns="25400" bIns="25400" rtlCol="0" anchor="t">
            <a:normAutofit/>
          </a:bodyPr>
          <a:lstStyle/>
          <a:p>
            <a:pPr marL="0" indent="0" algn="l">
              <a:lnSpc>
                <a:spcPct val="130000"/>
              </a:lnSpc>
              <a:buNone/>
            </a:pPr>
            <a:r>
              <a:rPr lang="en-US" sz="3300" i="1" dirty="0">
                <a:solidFill>
                  <a:srgbClr val="55524C"/>
                </a:solidFill>
                <a:latin typeface="Georgia" pitchFamily="34" charset="0"/>
                <a:ea typeface="Georgia" pitchFamily="34" charset="-122"/>
                <a:cs typeface="Georgia" pitchFamily="34" charset="-120"/>
              </a:rPr>
              <a:t>Six methods, one dataset, and three bugs that taught me more than the textbook.</a:t>
            </a:r>
          </a:p>
          <a:p>
            <a:pPr marL="0" indent="0" algn="l">
              <a:lnSpc>
                <a:spcPct val="130000"/>
              </a:lnSpc>
              <a:buNone/>
            </a:pPr>
            <a:endParaRPr lang="en-US" sz="3300" i="1" dirty="0">
              <a:solidFill>
                <a:srgbClr val="55524C"/>
              </a:solidFill>
              <a:latin typeface="Georgia" pitchFamily="34" charset="0"/>
            </a:endParaRPr>
          </a:p>
        </p:txBody>
      </p:sp>
      <p:sp>
        <p:nvSpPr>
          <p:cNvPr id="5" name="Text 3"/>
          <p:cNvSpPr/>
          <p:nvPr/>
        </p:nvSpPr>
        <p:spPr>
          <a:xfrm>
            <a:off x="1333500" y="8869680"/>
            <a:ext cx="17183100" cy="31242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20" dirty="0">
                <a:solidFill>
                  <a:srgbClr val="7A766E"/>
                </a:solidFill>
                <a:latin typeface="Arial" pitchFamily="34" charset="0"/>
                <a:ea typeface="Arial" pitchFamily="34" charset="-122"/>
                <a:cs typeface="Arial" pitchFamily="34" charset="-120"/>
              </a:rPr>
              <a:t>MovieLens Latest Small · 610 users · 9,724 movies · 100,836 ratings</a:t>
            </a:r>
            <a:endParaRPr lang="en-US" sz="1950" dirty="0"/>
          </a:p>
        </p:txBody>
      </p:sp>
      <p:sp>
        <p:nvSpPr>
          <p:cNvPr id="7" name="TextBox 6">
            <a:extLst>
              <a:ext uri="{FF2B5EF4-FFF2-40B4-BE49-F238E27FC236}">
                <a16:creationId xmlns:a16="http://schemas.microsoft.com/office/drawing/2014/main" id="{0E4CD460-6CBD-3D84-0868-ECCBCD8D3B6E}"/>
              </a:ext>
            </a:extLst>
          </p:cNvPr>
          <p:cNvSpPr txBox="1"/>
          <p:nvPr/>
        </p:nvSpPr>
        <p:spPr>
          <a:xfrm>
            <a:off x="1333500" y="7709929"/>
            <a:ext cx="2217144" cy="667490"/>
          </a:xfrm>
          <a:prstGeom prst="rect">
            <a:avLst/>
          </a:prstGeom>
          <a:noFill/>
        </p:spPr>
        <p:txBody>
          <a:bodyPr wrap="square">
            <a:spAutoFit/>
          </a:bodyPr>
          <a:lstStyle/>
          <a:p>
            <a:pPr marL="0" indent="0" algn="l">
              <a:lnSpc>
                <a:spcPct val="130000"/>
              </a:lnSpc>
              <a:buNone/>
            </a:pPr>
            <a:r>
              <a:rPr lang="en-US" sz="3200" i="1" dirty="0">
                <a:solidFill>
                  <a:srgbClr val="55524C"/>
                </a:solidFill>
                <a:latin typeface="Georgia" pitchFamily="34" charset="0"/>
              </a:rPr>
              <a:t>By Yiben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9144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MOTIVATION</a:t>
            </a:r>
            <a:endParaRPr lang="en-US" sz="1650" dirty="0"/>
          </a:p>
        </p:txBody>
      </p:sp>
      <p:sp>
        <p:nvSpPr>
          <p:cNvPr id="3" name="Text 1"/>
          <p:cNvSpPr/>
          <p:nvPr/>
        </p:nvSpPr>
        <p:spPr>
          <a:xfrm>
            <a:off x="1333500" y="1398270"/>
            <a:ext cx="17183100" cy="71818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100" kern="0" spc="-51" dirty="0">
                <a:solidFill>
                  <a:srgbClr val="1A1A17"/>
                </a:solidFill>
                <a:latin typeface="Georgia" pitchFamily="34" charset="0"/>
                <a:ea typeface="Georgia" pitchFamily="34" charset="-122"/>
                <a:cs typeface="Georgia" pitchFamily="34" charset="-120"/>
              </a:rPr>
              <a:t>Why movies, and why I cared</a:t>
            </a:r>
            <a:endParaRPr lang="en-US" sz="5100" dirty="0"/>
          </a:p>
        </p:txBody>
      </p:sp>
      <p:sp>
        <p:nvSpPr>
          <p:cNvPr id="4" name="Text 2"/>
          <p:cNvSpPr/>
          <p:nvPr/>
        </p:nvSpPr>
        <p:spPr>
          <a:xfrm>
            <a:off x="1333500" y="2535555"/>
            <a:ext cx="12950190" cy="10096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550" dirty="0">
                <a:solidFill>
                  <a:srgbClr val="3A372F"/>
                </a:solidFill>
                <a:latin typeface="Arial" pitchFamily="34" charset="0"/>
                <a:ea typeface="Arial" pitchFamily="34" charset="-122"/>
                <a:cs typeface="Arial" pitchFamily="34" charset="-120"/>
              </a:rPr>
              <a:t>I'm a cinephile. I wanted to build a recommender I would actually trust with my own Saturday night.</a:t>
            </a:r>
            <a:endParaRPr lang="en-US" sz="2550" dirty="0"/>
          </a:p>
        </p:txBody>
      </p:sp>
      <p:sp>
        <p:nvSpPr>
          <p:cNvPr id="5" name="Shape 3"/>
          <p:cNvSpPr/>
          <p:nvPr/>
        </p:nvSpPr>
        <p:spPr>
          <a:xfrm>
            <a:off x="1333500" y="3926205"/>
            <a:ext cx="38100" cy="1906310"/>
          </a:xfrm>
          <a:prstGeom prst="rect">
            <a:avLst/>
          </a:prstGeom>
          <a:solidFill>
            <a:srgbClr val="2F6F75"/>
          </a:solidFill>
          <a:ln/>
        </p:spPr>
        <p:txBody>
          <a:bodyPr/>
          <a:lstStyle/>
          <a:p>
            <a:endParaRPr lang="en-GB"/>
          </a:p>
        </p:txBody>
      </p:sp>
      <p:sp>
        <p:nvSpPr>
          <p:cNvPr id="6" name="Text 4"/>
          <p:cNvSpPr/>
          <p:nvPr/>
        </p:nvSpPr>
        <p:spPr>
          <a:xfrm>
            <a:off x="1790700" y="3926205"/>
            <a:ext cx="15108555" cy="1944410"/>
          </a:xfrm>
          <a:prstGeom prst="rect">
            <a:avLst/>
          </a:prstGeom>
          <a:noFill/>
          <a:ln/>
        </p:spPr>
        <p:txBody>
          <a:bodyPr wrap="square" lIns="25400" tIns="25400" rIns="25400" bIns="25400" rtlCol="0" anchor="t">
            <a:normAutofit fontScale="92500" lnSpcReduction="10000"/>
          </a:bodyPr>
          <a:lstStyle/>
          <a:p>
            <a:pPr marL="0" indent="0" algn="l">
              <a:lnSpc>
                <a:spcPct val="134000"/>
              </a:lnSpc>
              <a:buNone/>
            </a:pPr>
            <a:r>
              <a:rPr lang="en-US" sz="3600" dirty="0">
                <a:solidFill>
                  <a:srgbClr val="1A1A17"/>
                </a:solidFill>
                <a:latin typeface="Georgia" pitchFamily="34" charset="0"/>
                <a:ea typeface="Georgia" pitchFamily="34" charset="-122"/>
                <a:cs typeface="Georgia" pitchFamily="34" charset="-120"/>
              </a:rPr>
              <a:t>So my real question wasn't </a:t>
            </a:r>
            <a:r>
              <a:rPr lang="en-US" sz="3600" i="1" dirty="0">
                <a:solidFill>
                  <a:srgbClr val="55524C"/>
                </a:solidFill>
                <a:latin typeface="Georgia" pitchFamily="34" charset="0"/>
                <a:ea typeface="Georgia" pitchFamily="34" charset="-122"/>
                <a:cs typeface="Georgia" pitchFamily="34" charset="-120"/>
              </a:rPr>
              <a:t>"can I implement six algorithms?" </a:t>
            </a:r>
            <a:r>
              <a:rPr lang="en-US" sz="3600" dirty="0">
                <a:solidFill>
                  <a:srgbClr val="1A1A17"/>
                </a:solidFill>
                <a:latin typeface="Georgia" pitchFamily="34" charset="0"/>
                <a:ea typeface="Georgia" pitchFamily="34" charset="-122"/>
                <a:cs typeface="Georgia" pitchFamily="34" charset="-120"/>
              </a:rPr>
              <a:t>It was: </a:t>
            </a:r>
            <a:r>
              <a:rPr lang="en-US" sz="3600" b="1" dirty="0">
                <a:solidFill>
                  <a:srgbClr val="2F6F75"/>
                </a:solidFill>
                <a:latin typeface="Georgia" pitchFamily="34" charset="0"/>
                <a:ea typeface="Georgia" pitchFamily="34" charset="-122"/>
                <a:cs typeface="Georgia" pitchFamily="34" charset="-120"/>
              </a:rPr>
              <a:t>when these models disagree, which one is right and how would I even know?</a:t>
            </a:r>
            <a:endParaRPr lang="en-US" sz="3600" dirty="0"/>
          </a:p>
        </p:txBody>
      </p:sp>
      <p:sp>
        <p:nvSpPr>
          <p:cNvPr id="8" name="Text 6"/>
          <p:cNvSpPr/>
          <p:nvPr/>
        </p:nvSpPr>
        <p:spPr>
          <a:xfrm>
            <a:off x="1790700" y="6574156"/>
            <a:ext cx="160896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9A968D"/>
                </a:solidFill>
                <a:latin typeface="Courier New" pitchFamily="34" charset="0"/>
                <a:ea typeface="Courier New" pitchFamily="34" charset="-122"/>
                <a:cs typeface="Courier New" pitchFamily="34" charset="-120"/>
              </a:rPr>
              <a:t>Movie track · 610 users · 9,724 movies · 100,836 ratings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9144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THE DATA</a:t>
            </a:r>
            <a:endParaRPr lang="en-US" sz="1650" dirty="0"/>
          </a:p>
        </p:txBody>
      </p:sp>
      <p:sp>
        <p:nvSpPr>
          <p:cNvPr id="3" name="Text 1"/>
          <p:cNvSpPr/>
          <p:nvPr/>
        </p:nvSpPr>
        <p:spPr>
          <a:xfrm>
            <a:off x="1333500" y="1398270"/>
            <a:ext cx="17183100" cy="71818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100" kern="0" spc="-51" dirty="0">
                <a:solidFill>
                  <a:srgbClr val="1A1A17"/>
                </a:solidFill>
                <a:latin typeface="Georgia" pitchFamily="34" charset="0"/>
                <a:ea typeface="Georgia" pitchFamily="34" charset="-122"/>
                <a:cs typeface="Georgia" pitchFamily="34" charset="-120"/>
              </a:rPr>
              <a:t>The starting point</a:t>
            </a:r>
            <a:endParaRPr lang="en-US" sz="5100" dirty="0"/>
          </a:p>
        </p:txBody>
      </p:sp>
      <p:sp>
        <p:nvSpPr>
          <p:cNvPr id="4" name="Shape 2"/>
          <p:cNvSpPr/>
          <p:nvPr/>
        </p:nvSpPr>
        <p:spPr>
          <a:xfrm>
            <a:off x="1333500" y="2611755"/>
            <a:ext cx="7620000" cy="6760845"/>
          </a:xfrm>
          <a:prstGeom prst="roundRect">
            <a:avLst>
              <a:gd name="adj" fmla="val 56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798320" y="3133725"/>
            <a:ext cx="7359396" cy="320040"/>
          </a:xfrm>
          <a:prstGeom prst="rect">
            <a:avLst/>
          </a:prstGeom>
          <a:noFill/>
          <a:ln/>
        </p:spPr>
        <p:txBody>
          <a:bodyPr wrap="square" lIns="25400" tIns="25400" rIns="25400" bIns="25400" rtlCol="0" anchor="t">
            <a:normAutofit/>
          </a:bodyPr>
          <a:lstStyle/>
          <a:p>
            <a:pPr marL="0" indent="0" algn="l">
              <a:buNone/>
            </a:pPr>
            <a:r>
              <a:rPr lang="en-US" sz="1725" kern="0" spc="173" dirty="0">
                <a:solidFill>
                  <a:srgbClr val="2F6F75"/>
                </a:solidFill>
                <a:latin typeface="Courier New" pitchFamily="34" charset="0"/>
                <a:ea typeface="Courier New" pitchFamily="34" charset="-122"/>
                <a:cs typeface="Courier New" pitchFamily="34" charset="-120"/>
              </a:rPr>
              <a:t>TOO EMPTY</a:t>
            </a:r>
            <a:endParaRPr lang="en-US" sz="1725" dirty="0"/>
          </a:p>
        </p:txBody>
      </p:sp>
      <p:sp>
        <p:nvSpPr>
          <p:cNvPr id="6" name="Text 4"/>
          <p:cNvSpPr/>
          <p:nvPr/>
        </p:nvSpPr>
        <p:spPr>
          <a:xfrm>
            <a:off x="1696212" y="3547712"/>
            <a:ext cx="7359396" cy="10668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100" dirty="0">
                <a:solidFill>
                  <a:srgbClr val="1A1A17"/>
                </a:solidFill>
                <a:latin typeface="Georgia" pitchFamily="34" charset="0"/>
                <a:ea typeface="Georgia" pitchFamily="34" charset="-122"/>
                <a:cs typeface="Georgia" pitchFamily="34" charset="-120"/>
              </a:rPr>
              <a:t>98.3%</a:t>
            </a:r>
            <a:endParaRPr lang="en-US" sz="8100" dirty="0"/>
          </a:p>
        </p:txBody>
      </p:sp>
      <p:sp>
        <p:nvSpPr>
          <p:cNvPr id="7" name="Text 5"/>
          <p:cNvSpPr/>
          <p:nvPr/>
        </p:nvSpPr>
        <p:spPr>
          <a:xfrm>
            <a:off x="1798320" y="4711065"/>
            <a:ext cx="7359396" cy="327660"/>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7A766E"/>
                </a:solidFill>
                <a:latin typeface="Arial" pitchFamily="34" charset="0"/>
                <a:ea typeface="Arial" pitchFamily="34" charset="-122"/>
                <a:cs typeface="Arial" pitchFamily="34" charset="-120"/>
              </a:rPr>
              <a:t>of the 610 × 9,724 user–movie grid is blank</a:t>
            </a:r>
            <a:endParaRPr lang="en-US" sz="2100" dirty="0"/>
          </a:p>
        </p:txBody>
      </p:sp>
      <p:sp>
        <p:nvSpPr>
          <p:cNvPr id="8" name="Text 6"/>
          <p:cNvSpPr/>
          <p:nvPr/>
        </p:nvSpPr>
        <p:spPr>
          <a:xfrm>
            <a:off x="1798320" y="5324475"/>
            <a:ext cx="6891071" cy="1331119"/>
          </a:xfrm>
          <a:prstGeom prst="rect">
            <a:avLst/>
          </a:prstGeom>
          <a:noFill/>
          <a:ln/>
        </p:spPr>
        <p:txBody>
          <a:bodyPr wrap="square" lIns="25400" tIns="25400" rIns="25400" bIns="25400" rtlCol="0" anchor="t">
            <a:normAutofit fontScale="92500" lnSpcReduction="20000"/>
          </a:bodyPr>
          <a:lstStyle/>
          <a:p>
            <a:pPr marL="0" indent="0" algn="l">
              <a:lnSpc>
                <a:spcPct val="146000"/>
              </a:lnSpc>
              <a:buNone/>
            </a:pPr>
            <a:r>
              <a:rPr lang="en-US" sz="2325" dirty="0">
                <a:solidFill>
                  <a:srgbClr val="3A372F"/>
                </a:solidFill>
                <a:latin typeface="Arial" pitchFamily="34" charset="0"/>
                <a:ea typeface="Arial" pitchFamily="34" charset="-122"/>
                <a:cs typeface="Arial" pitchFamily="34" charset="-120"/>
              </a:rPr>
              <a:t>Most users rated only a handful of films, so every method has to guess from very little. This is what pushed me toward SVD.</a:t>
            </a:r>
            <a:endParaRPr lang="en-US" sz="2325" dirty="0"/>
          </a:p>
        </p:txBody>
      </p:sp>
      <p:sp>
        <p:nvSpPr>
          <p:cNvPr id="9" name="Shape 7"/>
          <p:cNvSpPr/>
          <p:nvPr/>
        </p:nvSpPr>
        <p:spPr>
          <a:xfrm>
            <a:off x="9334500" y="2611755"/>
            <a:ext cx="7620000" cy="6760845"/>
          </a:xfrm>
          <a:prstGeom prst="roundRect">
            <a:avLst>
              <a:gd name="adj" fmla="val 564"/>
            </a:avLst>
          </a:prstGeom>
          <a:solidFill>
            <a:srgbClr val="FFFFFF"/>
          </a:solidFill>
          <a:ln w="7620">
            <a:solidFill>
              <a:srgbClr val="E6E2DA"/>
            </a:solidFill>
            <a:prstDash val="solid"/>
          </a:ln>
        </p:spPr>
        <p:txBody>
          <a:bodyPr/>
          <a:lstStyle/>
          <a:p>
            <a:endParaRPr lang="en-GB"/>
          </a:p>
        </p:txBody>
      </p:sp>
      <p:sp>
        <p:nvSpPr>
          <p:cNvPr id="10" name="Text 8"/>
          <p:cNvSpPr/>
          <p:nvPr/>
        </p:nvSpPr>
        <p:spPr>
          <a:xfrm>
            <a:off x="9799320" y="3133725"/>
            <a:ext cx="7359396" cy="320040"/>
          </a:xfrm>
          <a:prstGeom prst="rect">
            <a:avLst/>
          </a:prstGeom>
          <a:noFill/>
          <a:ln/>
        </p:spPr>
        <p:txBody>
          <a:bodyPr wrap="square" lIns="25400" tIns="25400" rIns="25400" bIns="25400" rtlCol="0" anchor="t">
            <a:normAutofit/>
          </a:bodyPr>
          <a:lstStyle/>
          <a:p>
            <a:pPr marL="0" indent="0" algn="l">
              <a:buNone/>
            </a:pPr>
            <a:r>
              <a:rPr lang="en-US" sz="1725" kern="0" spc="173" dirty="0">
                <a:solidFill>
                  <a:srgbClr val="2F6F75"/>
                </a:solidFill>
                <a:latin typeface="Courier New" pitchFamily="34" charset="0"/>
                <a:ea typeface="Courier New" pitchFamily="34" charset="-122"/>
                <a:cs typeface="Courier New" pitchFamily="34" charset="-120"/>
              </a:rPr>
              <a:t>TOO POSITIVE</a:t>
            </a:r>
            <a:endParaRPr lang="en-US" sz="1725" dirty="0"/>
          </a:p>
        </p:txBody>
      </p:sp>
      <p:sp>
        <p:nvSpPr>
          <p:cNvPr id="11" name="Text 9"/>
          <p:cNvSpPr/>
          <p:nvPr/>
        </p:nvSpPr>
        <p:spPr>
          <a:xfrm>
            <a:off x="9799320" y="3547712"/>
            <a:ext cx="7359396" cy="10668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100" dirty="0">
                <a:solidFill>
                  <a:srgbClr val="1A1A17"/>
                </a:solidFill>
                <a:latin typeface="Georgia" pitchFamily="34" charset="0"/>
                <a:ea typeface="Georgia" pitchFamily="34" charset="-122"/>
                <a:cs typeface="Georgia" pitchFamily="34" charset="-120"/>
              </a:rPr>
              <a:t>4.0</a:t>
            </a:r>
            <a:endParaRPr lang="en-US" sz="8100" dirty="0"/>
          </a:p>
        </p:txBody>
      </p:sp>
      <p:sp>
        <p:nvSpPr>
          <p:cNvPr id="12" name="Text 10"/>
          <p:cNvSpPr/>
          <p:nvPr/>
        </p:nvSpPr>
        <p:spPr>
          <a:xfrm>
            <a:off x="9799320" y="4711065"/>
            <a:ext cx="7359396" cy="327660"/>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7A766E"/>
                </a:solidFill>
                <a:latin typeface="Arial" pitchFamily="34" charset="0"/>
                <a:ea typeface="Arial" pitchFamily="34" charset="-122"/>
                <a:cs typeface="Arial" pitchFamily="34" charset="-120"/>
              </a:rPr>
              <a:t>the most common rating</a:t>
            </a:r>
            <a:endParaRPr lang="en-US" sz="2100" dirty="0"/>
          </a:p>
        </p:txBody>
      </p:sp>
      <p:sp>
        <p:nvSpPr>
          <p:cNvPr id="13" name="Text 11"/>
          <p:cNvSpPr/>
          <p:nvPr/>
        </p:nvSpPr>
        <p:spPr>
          <a:xfrm>
            <a:off x="9799320" y="5324475"/>
            <a:ext cx="6891071" cy="900113"/>
          </a:xfrm>
          <a:prstGeom prst="rect">
            <a:avLst/>
          </a:prstGeom>
          <a:noFill/>
          <a:ln/>
        </p:spPr>
        <p:txBody>
          <a:bodyPr wrap="square" lIns="25400" tIns="25400" rIns="25400" bIns="25400" rtlCol="0" anchor="t">
            <a:normAutofit fontScale="92500" lnSpcReduction="20000"/>
          </a:bodyPr>
          <a:lstStyle/>
          <a:p>
            <a:pPr marL="0" indent="0" algn="l">
              <a:lnSpc>
                <a:spcPct val="146000"/>
              </a:lnSpc>
              <a:buNone/>
            </a:pPr>
            <a:r>
              <a:rPr lang="en-US" sz="2325" dirty="0">
                <a:solidFill>
                  <a:srgbClr val="3A372F"/>
                </a:solidFill>
                <a:latin typeface="Arial" pitchFamily="34" charset="0"/>
                <a:ea typeface="Arial" pitchFamily="34" charset="-122"/>
                <a:cs typeface="Arial" pitchFamily="34" charset="-120"/>
              </a:rPr>
              <a:t>Ratings skew high, peaking at 4 stars. The first hint that my test set is not neutral.</a:t>
            </a:r>
            <a:endParaRPr lang="en-US" sz="23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0" y="9144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cs typeface="Courier New" pitchFamily="34" charset="-120"/>
              </a:rPr>
              <a:t>THE DATA</a:t>
            </a:r>
            <a:endParaRPr lang="en-US" sz="1650" dirty="0"/>
          </a:p>
        </p:txBody>
      </p:sp>
      <p:sp>
        <p:nvSpPr>
          <p:cNvPr id="3" name="Text 1"/>
          <p:cNvSpPr/>
          <p:nvPr/>
        </p:nvSpPr>
        <p:spPr>
          <a:xfrm>
            <a:off x="1333500" y="1398270"/>
            <a:ext cx="17183100" cy="71818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100" kern="0" spc="-51" dirty="0">
                <a:solidFill>
                  <a:srgbClr val="1A1A17"/>
                </a:solidFill>
                <a:latin typeface="Georgia" pitchFamily="34" charset="0"/>
                <a:ea typeface="Georgia" pitchFamily="34" charset="-122"/>
                <a:cs typeface="Georgia" pitchFamily="34" charset="-120"/>
              </a:rPr>
              <a:t>Pre-processing</a:t>
            </a:r>
            <a:endParaRPr lang="en-US" sz="5100" dirty="0"/>
          </a:p>
        </p:txBody>
      </p:sp>
      <p:sp>
        <p:nvSpPr>
          <p:cNvPr id="4" name="Shape 2"/>
          <p:cNvSpPr/>
          <p:nvPr/>
        </p:nvSpPr>
        <p:spPr>
          <a:xfrm>
            <a:off x="1333500" y="2554605"/>
            <a:ext cx="6975277" cy="3285172"/>
          </a:xfrm>
          <a:prstGeom prst="roundRect">
            <a:avLst>
              <a:gd name="adj" fmla="val 1160"/>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760220" y="2943225"/>
            <a:ext cx="6734020" cy="320040"/>
          </a:xfrm>
          <a:prstGeom prst="rect">
            <a:avLst/>
          </a:prstGeom>
          <a:noFill/>
          <a:ln/>
        </p:spPr>
        <p:txBody>
          <a:bodyPr wrap="square" lIns="25400" tIns="25400" rIns="25400" bIns="25400" rtlCol="0" anchor="t">
            <a:normAutofit/>
          </a:bodyPr>
          <a:lstStyle/>
          <a:p>
            <a:pPr marL="0" indent="0" algn="l">
              <a:buNone/>
            </a:pPr>
            <a:r>
              <a:rPr lang="en-US" sz="1725" kern="0" spc="173" dirty="0">
                <a:solidFill>
                  <a:srgbClr val="2F6F75"/>
                </a:solidFill>
                <a:latin typeface="Courier New" pitchFamily="34" charset="0"/>
                <a:ea typeface="Courier New" pitchFamily="34" charset="-122"/>
                <a:cs typeface="Courier New" pitchFamily="34" charset="-120"/>
              </a:rPr>
              <a:t>FILTERED OUT</a:t>
            </a:r>
            <a:endParaRPr lang="en-US" sz="1725" dirty="0"/>
          </a:p>
        </p:txBody>
      </p:sp>
      <p:sp>
        <p:nvSpPr>
          <p:cNvPr id="6" name="Text 4"/>
          <p:cNvSpPr/>
          <p:nvPr/>
        </p:nvSpPr>
        <p:spPr>
          <a:xfrm>
            <a:off x="1760220" y="3358515"/>
            <a:ext cx="6734020"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dirty="0">
                <a:solidFill>
                  <a:srgbClr val="1A1A17"/>
                </a:solidFill>
                <a:latin typeface="Georgia" pitchFamily="34" charset="0"/>
                <a:ea typeface="Georgia" pitchFamily="34" charset="-122"/>
                <a:cs typeface="Georgia" pitchFamily="34" charset="-120"/>
              </a:rPr>
              <a:t>~50%</a:t>
            </a:r>
            <a:endParaRPr lang="en-US" sz="6600" dirty="0"/>
          </a:p>
        </p:txBody>
      </p:sp>
      <p:sp>
        <p:nvSpPr>
          <p:cNvPr id="7" name="Text 5"/>
          <p:cNvSpPr/>
          <p:nvPr/>
        </p:nvSpPr>
        <p:spPr>
          <a:xfrm>
            <a:off x="1760220" y="4253865"/>
            <a:ext cx="6734020" cy="385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025" dirty="0">
                <a:solidFill>
                  <a:srgbClr val="7A766E"/>
                </a:solidFill>
                <a:latin typeface="Arial" pitchFamily="34" charset="0"/>
                <a:ea typeface="Arial" pitchFamily="34" charset="-122"/>
                <a:cs typeface="Arial" pitchFamily="34" charset="-120"/>
              </a:rPr>
              <a:t>of the catalog has ≤2 ratings. Too noisy for CF</a:t>
            </a:r>
            <a:endParaRPr lang="en-US" sz="2025" dirty="0"/>
          </a:p>
        </p:txBody>
      </p:sp>
      <p:sp>
        <p:nvSpPr>
          <p:cNvPr id="8" name="Shape 6"/>
          <p:cNvSpPr/>
          <p:nvPr/>
        </p:nvSpPr>
        <p:spPr>
          <a:xfrm>
            <a:off x="1333500" y="6087428"/>
            <a:ext cx="6975277" cy="3285172"/>
          </a:xfrm>
          <a:prstGeom prst="roundRect">
            <a:avLst>
              <a:gd name="adj" fmla="val 1160"/>
            </a:avLst>
          </a:prstGeom>
          <a:solidFill>
            <a:srgbClr val="FFFFFF"/>
          </a:solidFill>
          <a:ln w="7620">
            <a:solidFill>
              <a:srgbClr val="E6E2DA"/>
            </a:solidFill>
            <a:prstDash val="solid"/>
          </a:ln>
        </p:spPr>
        <p:txBody>
          <a:bodyPr/>
          <a:lstStyle/>
          <a:p>
            <a:endParaRPr lang="en-GB"/>
          </a:p>
        </p:txBody>
      </p:sp>
      <p:sp>
        <p:nvSpPr>
          <p:cNvPr id="9" name="Text 7"/>
          <p:cNvSpPr/>
          <p:nvPr/>
        </p:nvSpPr>
        <p:spPr>
          <a:xfrm>
            <a:off x="1760220" y="6476048"/>
            <a:ext cx="6734020" cy="320040"/>
          </a:xfrm>
          <a:prstGeom prst="rect">
            <a:avLst/>
          </a:prstGeom>
          <a:noFill/>
          <a:ln/>
        </p:spPr>
        <p:txBody>
          <a:bodyPr wrap="square" lIns="25400" tIns="25400" rIns="25400" bIns="25400" rtlCol="0" anchor="t">
            <a:normAutofit/>
          </a:bodyPr>
          <a:lstStyle/>
          <a:p>
            <a:pPr marL="0" indent="0" algn="l">
              <a:buNone/>
            </a:pPr>
            <a:r>
              <a:rPr lang="en-US" sz="1725" kern="0" spc="173" dirty="0">
                <a:solidFill>
                  <a:srgbClr val="2F6F75"/>
                </a:solidFill>
                <a:latin typeface="Courier New" pitchFamily="34" charset="0"/>
                <a:ea typeface="Courier New" pitchFamily="34" charset="-122"/>
                <a:cs typeface="Courier New" pitchFamily="34" charset="-120"/>
              </a:rPr>
              <a:t>SPLIT</a:t>
            </a:r>
            <a:endParaRPr lang="en-US" sz="1725" dirty="0"/>
          </a:p>
        </p:txBody>
      </p:sp>
      <p:sp>
        <p:nvSpPr>
          <p:cNvPr id="10" name="Text 8"/>
          <p:cNvSpPr/>
          <p:nvPr/>
        </p:nvSpPr>
        <p:spPr>
          <a:xfrm>
            <a:off x="1760220" y="6891338"/>
            <a:ext cx="6734020"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dirty="0">
                <a:solidFill>
                  <a:srgbClr val="1A1A17"/>
                </a:solidFill>
                <a:latin typeface="Georgia" pitchFamily="34" charset="0"/>
                <a:ea typeface="Georgia" pitchFamily="34" charset="-122"/>
                <a:cs typeface="Georgia" pitchFamily="34" charset="-120"/>
              </a:rPr>
              <a:t>80 / 20</a:t>
            </a:r>
            <a:endParaRPr lang="en-US" sz="6600" dirty="0"/>
          </a:p>
        </p:txBody>
      </p:sp>
      <p:sp>
        <p:nvSpPr>
          <p:cNvPr id="11" name="Text 9"/>
          <p:cNvSpPr/>
          <p:nvPr/>
        </p:nvSpPr>
        <p:spPr>
          <a:xfrm>
            <a:off x="1760220" y="7786688"/>
            <a:ext cx="6734020" cy="385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025" dirty="0">
                <a:solidFill>
                  <a:srgbClr val="7A766E"/>
                </a:solidFill>
                <a:latin typeface="Arial" pitchFamily="34" charset="0"/>
                <a:ea typeface="Arial" pitchFamily="34" charset="-122"/>
                <a:cs typeface="Arial" pitchFamily="34" charset="-120"/>
              </a:rPr>
              <a:t>temporal holdout per user; most recent 20% for test</a:t>
            </a:r>
            <a:endParaRPr lang="en-US" sz="2025" dirty="0"/>
          </a:p>
        </p:txBody>
      </p:sp>
      <p:sp>
        <p:nvSpPr>
          <p:cNvPr id="12" name="Text 10"/>
          <p:cNvSpPr/>
          <p:nvPr/>
        </p:nvSpPr>
        <p:spPr>
          <a:xfrm>
            <a:off x="8765977" y="3391376"/>
            <a:ext cx="35052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F6F75"/>
                </a:solidFill>
                <a:latin typeface="Courier New" pitchFamily="34" charset="0"/>
                <a:ea typeface="Courier New" pitchFamily="34" charset="-122"/>
                <a:cs typeface="Courier New" pitchFamily="34" charset="-120"/>
              </a:rPr>
              <a:t>01</a:t>
            </a:r>
            <a:endParaRPr lang="en-US" sz="1800" dirty="0"/>
          </a:p>
        </p:txBody>
      </p:sp>
      <p:sp>
        <p:nvSpPr>
          <p:cNvPr id="13" name="Text 11"/>
          <p:cNvSpPr/>
          <p:nvPr/>
        </p:nvSpPr>
        <p:spPr>
          <a:xfrm>
            <a:off x="9268896" y="3391376"/>
            <a:ext cx="7916172" cy="888444"/>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325" dirty="0">
                <a:solidFill>
                  <a:srgbClr val="3A372F"/>
                </a:solidFill>
                <a:latin typeface="Arial" pitchFamily="34" charset="0"/>
                <a:ea typeface="Arial" pitchFamily="34" charset="-122"/>
                <a:cs typeface="Arial" pitchFamily="34" charset="-120"/>
              </a:rPr>
              <a:t>Merged ratings, movies and tags; dropped rows with missing IDs.</a:t>
            </a:r>
            <a:endParaRPr lang="en-US" sz="2325" dirty="0"/>
          </a:p>
        </p:txBody>
      </p:sp>
      <p:sp>
        <p:nvSpPr>
          <p:cNvPr id="14" name="Shape 12"/>
          <p:cNvSpPr/>
          <p:nvPr/>
        </p:nvSpPr>
        <p:spPr>
          <a:xfrm>
            <a:off x="8765977" y="4527471"/>
            <a:ext cx="8188523" cy="9525"/>
          </a:xfrm>
          <a:prstGeom prst="rect">
            <a:avLst/>
          </a:prstGeom>
          <a:solidFill>
            <a:srgbClr val="E6E2DA"/>
          </a:solidFill>
          <a:ln/>
        </p:spPr>
        <p:txBody>
          <a:bodyPr/>
          <a:lstStyle/>
          <a:p>
            <a:endParaRPr lang="en-GB"/>
          </a:p>
        </p:txBody>
      </p:sp>
      <p:sp>
        <p:nvSpPr>
          <p:cNvPr id="15" name="Text 13"/>
          <p:cNvSpPr/>
          <p:nvPr/>
        </p:nvSpPr>
        <p:spPr>
          <a:xfrm>
            <a:off x="8765977" y="4822746"/>
            <a:ext cx="35052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F6F75"/>
                </a:solidFill>
                <a:latin typeface="Courier New" pitchFamily="34" charset="0"/>
                <a:ea typeface="Courier New" pitchFamily="34" charset="-122"/>
                <a:cs typeface="Courier New" pitchFamily="34" charset="-120"/>
              </a:rPr>
              <a:t>02</a:t>
            </a:r>
            <a:endParaRPr lang="en-US" sz="1800" dirty="0"/>
          </a:p>
        </p:txBody>
      </p:sp>
      <p:sp>
        <p:nvSpPr>
          <p:cNvPr id="16" name="Text 14"/>
          <p:cNvSpPr/>
          <p:nvPr/>
        </p:nvSpPr>
        <p:spPr>
          <a:xfrm>
            <a:off x="9268896" y="4822746"/>
            <a:ext cx="7916172" cy="888444"/>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325" dirty="0">
                <a:solidFill>
                  <a:srgbClr val="3A372F"/>
                </a:solidFill>
                <a:latin typeface="Arial" pitchFamily="34" charset="0"/>
                <a:ea typeface="Arial" pitchFamily="34" charset="-122"/>
                <a:cs typeface="Arial" pitchFamily="34" charset="-120"/>
              </a:rPr>
              <a:t>CF candidates need ≥20 ratings (MovieLens convention) so obscure one-rating films don't dominate lists.</a:t>
            </a:r>
            <a:endParaRPr lang="en-US" sz="2325" dirty="0"/>
          </a:p>
        </p:txBody>
      </p:sp>
      <p:sp>
        <p:nvSpPr>
          <p:cNvPr id="17" name="Shape 15"/>
          <p:cNvSpPr/>
          <p:nvPr/>
        </p:nvSpPr>
        <p:spPr>
          <a:xfrm>
            <a:off x="8765977" y="5958840"/>
            <a:ext cx="8188523" cy="9525"/>
          </a:xfrm>
          <a:prstGeom prst="rect">
            <a:avLst/>
          </a:prstGeom>
          <a:solidFill>
            <a:srgbClr val="E6E2DA"/>
          </a:solidFill>
          <a:ln/>
        </p:spPr>
        <p:txBody>
          <a:bodyPr/>
          <a:lstStyle/>
          <a:p>
            <a:endParaRPr lang="en-GB"/>
          </a:p>
        </p:txBody>
      </p:sp>
      <p:sp>
        <p:nvSpPr>
          <p:cNvPr id="18" name="Text 16"/>
          <p:cNvSpPr/>
          <p:nvPr/>
        </p:nvSpPr>
        <p:spPr>
          <a:xfrm>
            <a:off x="8765977" y="6254115"/>
            <a:ext cx="35052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F6F75"/>
                </a:solidFill>
                <a:latin typeface="Courier New" pitchFamily="34" charset="0"/>
                <a:ea typeface="Courier New" pitchFamily="34" charset="-122"/>
                <a:cs typeface="Courier New" pitchFamily="34" charset="-120"/>
              </a:rPr>
              <a:t>03</a:t>
            </a:r>
            <a:endParaRPr lang="en-US" sz="1800" dirty="0"/>
          </a:p>
        </p:txBody>
      </p:sp>
      <p:sp>
        <p:nvSpPr>
          <p:cNvPr id="19" name="Text 17"/>
          <p:cNvSpPr/>
          <p:nvPr/>
        </p:nvSpPr>
        <p:spPr>
          <a:xfrm>
            <a:off x="9268896" y="6254115"/>
            <a:ext cx="7916172" cy="888444"/>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325" dirty="0">
                <a:solidFill>
                  <a:srgbClr val="3A372F"/>
                </a:solidFill>
                <a:latin typeface="Arial" pitchFamily="34" charset="0"/>
                <a:ea typeface="Arial" pitchFamily="34" charset="-122"/>
                <a:cs typeface="Arial" pitchFamily="34" charset="-120"/>
              </a:rPr>
              <a:t>Train on past ratings only; test on each user's future. No leakage.</a:t>
            </a:r>
            <a:endParaRPr lang="en-US" sz="2325" dirty="0"/>
          </a:p>
        </p:txBody>
      </p:sp>
      <p:sp>
        <p:nvSpPr>
          <p:cNvPr id="20" name="Shape 18"/>
          <p:cNvSpPr/>
          <p:nvPr/>
        </p:nvSpPr>
        <p:spPr>
          <a:xfrm>
            <a:off x="8765977" y="7390209"/>
            <a:ext cx="8188523" cy="9525"/>
          </a:xfrm>
          <a:prstGeom prst="rect">
            <a:avLst/>
          </a:prstGeom>
          <a:solidFill>
            <a:srgbClr val="E6E2DA"/>
          </a:solidFill>
          <a:ln/>
        </p:spPr>
        <p:txBody>
          <a:bodyPr/>
          <a:lstStyle/>
          <a:p>
            <a:endParaRPr lang="en-GB"/>
          </a:p>
        </p:txBody>
      </p:sp>
      <p:sp>
        <p:nvSpPr>
          <p:cNvPr id="21" name="Text 19"/>
          <p:cNvSpPr/>
          <p:nvPr/>
        </p:nvSpPr>
        <p:spPr>
          <a:xfrm>
            <a:off x="8765977" y="7685484"/>
            <a:ext cx="35052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F6F75"/>
                </a:solidFill>
                <a:latin typeface="Courier New" pitchFamily="34" charset="0"/>
                <a:ea typeface="Courier New" pitchFamily="34" charset="-122"/>
                <a:cs typeface="Courier New" pitchFamily="34" charset="-120"/>
              </a:rPr>
              <a:t>04</a:t>
            </a:r>
            <a:endParaRPr lang="en-US" sz="1800" dirty="0"/>
          </a:p>
        </p:txBody>
      </p:sp>
      <p:sp>
        <p:nvSpPr>
          <p:cNvPr id="22" name="Text 20"/>
          <p:cNvSpPr/>
          <p:nvPr/>
        </p:nvSpPr>
        <p:spPr>
          <a:xfrm>
            <a:off x="9268896" y="7685484"/>
            <a:ext cx="7916172" cy="888444"/>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325" dirty="0">
                <a:solidFill>
                  <a:srgbClr val="3A372F"/>
                </a:solidFill>
                <a:latin typeface="Arial" pitchFamily="34" charset="0"/>
                <a:ea typeface="Arial" pitchFamily="34" charset="-122"/>
                <a:cs typeface="Arial" pitchFamily="34" charset="-120"/>
              </a:rPr>
              <a:t>The same cleaned data feeds all six models and the Streamlit app.</a:t>
            </a:r>
            <a:endParaRPr lang="en-US" sz="23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2F6F75"/>
        </a:solidFill>
        <a:effectLst/>
      </p:bgPr>
    </p:bg>
    <p:spTree>
      <p:nvGrpSpPr>
        <p:cNvPr id="1" name=""/>
        <p:cNvGrpSpPr/>
        <p:nvPr/>
      </p:nvGrpSpPr>
      <p:grpSpPr>
        <a:xfrm>
          <a:off x="0" y="0"/>
          <a:ext cx="0" cy="0"/>
          <a:chOff x="0" y="0"/>
          <a:chExt cx="0" cy="0"/>
        </a:xfrm>
      </p:grpSpPr>
      <p:sp>
        <p:nvSpPr>
          <p:cNvPr id="2" name="Text 0"/>
          <p:cNvSpPr/>
          <p:nvPr/>
        </p:nvSpPr>
        <p:spPr>
          <a:xfrm>
            <a:off x="1333500" y="3834051"/>
            <a:ext cx="17183100" cy="35814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BFE1E3"/>
                </a:solidFill>
                <a:latin typeface="Courier New" pitchFamily="34" charset="0"/>
                <a:ea typeface="Courier New" pitchFamily="34" charset="-122"/>
                <a:cs typeface="Courier New" pitchFamily="34" charset="-120"/>
              </a:rPr>
              <a:t>PART 1</a:t>
            </a:r>
            <a:endParaRPr lang="en-US" sz="1950" dirty="0"/>
          </a:p>
        </p:txBody>
      </p:sp>
      <p:sp>
        <p:nvSpPr>
          <p:cNvPr id="3" name="Text 1"/>
          <p:cNvSpPr/>
          <p:nvPr/>
        </p:nvSpPr>
        <p:spPr>
          <a:xfrm>
            <a:off x="1333500" y="4535091"/>
            <a:ext cx="17183100" cy="1068229"/>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7800" kern="0" spc="-117" dirty="0">
                <a:solidFill>
                  <a:srgbClr val="FFFFFF"/>
                </a:solidFill>
                <a:latin typeface="Georgia" pitchFamily="34" charset="0"/>
                <a:ea typeface="Georgia" pitchFamily="34" charset="-122"/>
                <a:cs typeface="Georgia" pitchFamily="34" charset="-120"/>
              </a:rPr>
              <a:t>Three things that broke</a:t>
            </a:r>
            <a:endParaRPr lang="en-US" sz="7800" dirty="0"/>
          </a:p>
        </p:txBody>
      </p:sp>
      <p:sp>
        <p:nvSpPr>
          <p:cNvPr id="4" name="Text 2"/>
          <p:cNvSpPr/>
          <p:nvPr/>
        </p:nvSpPr>
        <p:spPr>
          <a:xfrm>
            <a:off x="1333500" y="5908120"/>
            <a:ext cx="12573000" cy="58293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300" i="1" dirty="0">
                <a:solidFill>
                  <a:srgbClr val="D6EBEC"/>
                </a:solidFill>
                <a:latin typeface="Georgia" pitchFamily="34" charset="0"/>
                <a:ea typeface="Georgia" pitchFamily="34" charset="-122"/>
                <a:cs typeface="Georgia" pitchFamily="34" charset="-120"/>
              </a:rPr>
              <a:t>The challenges I hit, what I tried, what I learned.</a:t>
            </a:r>
            <a:endParaRPr lang="en-US" sz="3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PART 1 · BUG 01</a:t>
            </a:r>
            <a:endParaRPr lang="en-US" sz="1650" dirty="0"/>
          </a:p>
        </p:txBody>
      </p:sp>
      <p:sp>
        <p:nvSpPr>
          <p:cNvPr id="3" name="Text 1"/>
          <p:cNvSpPr/>
          <p:nvPr/>
        </p:nvSpPr>
        <p:spPr>
          <a:xfrm>
            <a:off x="1333500" y="1322070"/>
            <a:ext cx="17183100" cy="69818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950" kern="0" spc="-49" dirty="0">
                <a:solidFill>
                  <a:srgbClr val="1A1A17"/>
                </a:solidFill>
                <a:latin typeface="Georgia" pitchFamily="34" charset="0"/>
                <a:ea typeface="Georgia" pitchFamily="34" charset="-122"/>
                <a:cs typeface="Georgia" pitchFamily="34" charset="-120"/>
              </a:rPr>
              <a:t>The obscure-movie swamp</a:t>
            </a:r>
            <a:endParaRPr lang="en-US" sz="4950" dirty="0"/>
          </a:p>
        </p:txBody>
      </p:sp>
      <p:sp>
        <p:nvSpPr>
          <p:cNvPr id="4" name="Shape 2"/>
          <p:cNvSpPr/>
          <p:nvPr/>
        </p:nvSpPr>
        <p:spPr>
          <a:xfrm>
            <a:off x="1333500"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664970"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BROKE</a:t>
            </a:r>
            <a:endParaRPr lang="en-US" sz="1575" dirty="0"/>
          </a:p>
        </p:txBody>
      </p:sp>
      <p:sp>
        <p:nvSpPr>
          <p:cNvPr id="6" name="Text 4"/>
          <p:cNvSpPr/>
          <p:nvPr/>
        </p:nvSpPr>
        <p:spPr>
          <a:xfrm>
            <a:off x="1664970" y="3315653"/>
            <a:ext cx="3148270" cy="2814162"/>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My first collaborative-filtering lists were full of films I'd never heard of. Movies with one or two ratings total.</a:t>
            </a:r>
            <a:endParaRPr lang="en-US" sz="2175" dirty="0"/>
          </a:p>
        </p:txBody>
      </p:sp>
      <p:sp>
        <p:nvSpPr>
          <p:cNvPr id="7" name="Shape 5"/>
          <p:cNvSpPr/>
          <p:nvPr/>
        </p:nvSpPr>
        <p:spPr>
          <a:xfrm>
            <a:off x="5300663"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8" name="Text 6"/>
          <p:cNvSpPr/>
          <p:nvPr/>
        </p:nvSpPr>
        <p:spPr>
          <a:xfrm>
            <a:off x="5632132"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WHY</a:t>
            </a:r>
            <a:endParaRPr lang="en-US" sz="1575" dirty="0"/>
          </a:p>
        </p:txBody>
      </p:sp>
      <p:sp>
        <p:nvSpPr>
          <p:cNvPr id="9" name="Text 7"/>
          <p:cNvSpPr/>
          <p:nvPr/>
        </p:nvSpPr>
        <p:spPr>
          <a:xfrm>
            <a:off x="5632132" y="3315652"/>
            <a:ext cx="3148270" cy="2627947"/>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With that little support, a single agreeing neighbour produces a fake-perfect score. There were a lot of noise.</a:t>
            </a:r>
            <a:endParaRPr lang="en-US" sz="2175" dirty="0"/>
          </a:p>
        </p:txBody>
      </p:sp>
      <p:sp>
        <p:nvSpPr>
          <p:cNvPr id="10" name="Shape 8"/>
          <p:cNvSpPr/>
          <p:nvPr/>
        </p:nvSpPr>
        <p:spPr>
          <a:xfrm>
            <a:off x="9267825"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11" name="Text 9"/>
          <p:cNvSpPr/>
          <p:nvPr/>
        </p:nvSpPr>
        <p:spPr>
          <a:xfrm>
            <a:off x="9599295"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I TRIED</a:t>
            </a:r>
            <a:endParaRPr lang="en-US" sz="1575" dirty="0"/>
          </a:p>
        </p:txBody>
      </p:sp>
      <p:sp>
        <p:nvSpPr>
          <p:cNvPr id="12" name="Text 10"/>
          <p:cNvSpPr/>
          <p:nvPr/>
        </p:nvSpPr>
        <p:spPr>
          <a:xfrm>
            <a:off x="9599295" y="3315652"/>
            <a:ext cx="3148270" cy="3422031"/>
          </a:xfrm>
          <a:prstGeom prst="rect">
            <a:avLst/>
          </a:prstGeom>
          <a:noFill/>
          <a:ln/>
        </p:spPr>
        <p:txBody>
          <a:bodyPr wrap="square" lIns="25400" tIns="25400" rIns="25400" bIns="25400" rtlCol="0" anchor="t">
            <a:normAutofit fontScale="85000" lnSpcReduction="10000"/>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A minimum-support filter: drop candidates with fewer than 20 ratings from both CF methods.</a:t>
            </a:r>
          </a:p>
          <a:p>
            <a:pPr>
              <a:lnSpc>
                <a:spcPct val="144000"/>
              </a:lnSpc>
            </a:pPr>
            <a:r>
              <a:rPr lang="en-GB" sz="2200" dirty="0">
                <a:solidFill>
                  <a:srgbClr val="3A372F"/>
                </a:solidFill>
                <a:latin typeface="Arial" pitchFamily="34" charset="0"/>
                <a:cs typeface="Arial" pitchFamily="34" charset="-120"/>
              </a:rPr>
              <a:t>I chose 20 because half the </a:t>
            </a:r>
            <a:r>
              <a:rPr lang="en-GB" sz="2200" dirty="0" err="1">
                <a:solidFill>
                  <a:srgbClr val="3A372F"/>
                </a:solidFill>
                <a:latin typeface="Arial" pitchFamily="34" charset="0"/>
                <a:cs typeface="Arial" pitchFamily="34" charset="-120"/>
              </a:rPr>
              <a:t>catalog</a:t>
            </a:r>
            <a:r>
              <a:rPr lang="en-GB" sz="2200" dirty="0">
                <a:solidFill>
                  <a:srgbClr val="3A372F"/>
                </a:solidFill>
                <a:latin typeface="Arial" pitchFamily="34" charset="0"/>
                <a:cs typeface="Arial" pitchFamily="34" charset="-120"/>
              </a:rPr>
              <a:t> has two or fewer ratings, so a support floor is needed, and  also 20 is the value </a:t>
            </a:r>
            <a:r>
              <a:rPr lang="en-GB" sz="2200" dirty="0" err="1">
                <a:solidFill>
                  <a:srgbClr val="3A372F"/>
                </a:solidFill>
                <a:latin typeface="Arial" pitchFamily="34" charset="0"/>
                <a:cs typeface="Arial" pitchFamily="34" charset="-120"/>
              </a:rPr>
              <a:t>MovieLens</a:t>
            </a:r>
            <a:r>
              <a:rPr lang="en-GB" sz="2200" dirty="0">
                <a:solidFill>
                  <a:srgbClr val="3A372F"/>
                </a:solidFill>
                <a:latin typeface="Arial" pitchFamily="34" charset="0"/>
                <a:cs typeface="Arial" pitchFamily="34" charset="-120"/>
              </a:rPr>
              <a:t> itself uses.</a:t>
            </a:r>
            <a:endParaRPr lang="en-US" sz="2200" dirty="0">
              <a:solidFill>
                <a:srgbClr val="3A372F"/>
              </a:solidFill>
              <a:latin typeface="Arial" pitchFamily="34" charset="0"/>
              <a:cs typeface="Arial" pitchFamily="34" charset="-120"/>
            </a:endParaRPr>
          </a:p>
        </p:txBody>
      </p:sp>
      <p:sp>
        <p:nvSpPr>
          <p:cNvPr id="13" name="Shape 11"/>
          <p:cNvSpPr/>
          <p:nvPr/>
        </p:nvSpPr>
        <p:spPr>
          <a:xfrm>
            <a:off x="13234988" y="2458403"/>
            <a:ext cx="3719512" cy="6971348"/>
          </a:xfrm>
          <a:prstGeom prst="roundRect">
            <a:avLst>
              <a:gd name="adj" fmla="val 1024"/>
            </a:avLst>
          </a:prstGeom>
          <a:solidFill>
            <a:srgbClr val="2F6F75"/>
          </a:solidFill>
          <a:ln/>
        </p:spPr>
        <p:txBody>
          <a:bodyPr/>
          <a:lstStyle/>
          <a:p>
            <a:endParaRPr lang="en-GB"/>
          </a:p>
        </p:txBody>
      </p:sp>
      <p:sp>
        <p:nvSpPr>
          <p:cNvPr id="14" name="Text 12"/>
          <p:cNvSpPr/>
          <p:nvPr/>
        </p:nvSpPr>
        <p:spPr>
          <a:xfrm>
            <a:off x="13558838" y="2839403"/>
            <a:ext cx="3378994"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LEARNED</a:t>
            </a:r>
            <a:endParaRPr lang="en-US" sz="1575" dirty="0"/>
          </a:p>
        </p:txBody>
      </p:sp>
      <p:sp>
        <p:nvSpPr>
          <p:cNvPr id="15" name="Text 13"/>
          <p:cNvSpPr/>
          <p:nvPr/>
        </p:nvSpPr>
        <p:spPr>
          <a:xfrm>
            <a:off x="13558838" y="3308033"/>
            <a:ext cx="3163967" cy="3971072"/>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FFFFFF"/>
                </a:solidFill>
                <a:latin typeface="Arial" pitchFamily="34" charset="0"/>
                <a:ea typeface="Arial" pitchFamily="34" charset="-122"/>
                <a:cs typeface="Arial" pitchFamily="34" charset="-120"/>
              </a:rPr>
              <a:t>The threshold is a value choice. Raise it and lists get more accurate but more boringly popular. This was my first taste of the accuracy-vs-discovery tension.</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PART 1 · BUG 02</a:t>
            </a:r>
            <a:endParaRPr lang="en-US" sz="1650" dirty="0"/>
          </a:p>
        </p:txBody>
      </p:sp>
      <p:sp>
        <p:nvSpPr>
          <p:cNvPr id="3" name="Text 1"/>
          <p:cNvSpPr/>
          <p:nvPr/>
        </p:nvSpPr>
        <p:spPr>
          <a:xfrm>
            <a:off x="1333500" y="1322070"/>
            <a:ext cx="17183100" cy="69818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950" kern="0" spc="-49" dirty="0">
                <a:solidFill>
                  <a:srgbClr val="1A1A17"/>
                </a:solidFill>
                <a:latin typeface="Georgia" pitchFamily="34" charset="0"/>
                <a:ea typeface="Georgia" pitchFamily="34" charset="-122"/>
                <a:cs typeface="Georgia" pitchFamily="34" charset="-120"/>
              </a:rPr>
              <a:t>My evaluation was cheating</a:t>
            </a:r>
            <a:endParaRPr lang="en-US" sz="4950" dirty="0"/>
          </a:p>
        </p:txBody>
      </p:sp>
      <p:sp>
        <p:nvSpPr>
          <p:cNvPr id="4" name="Shape 2"/>
          <p:cNvSpPr/>
          <p:nvPr/>
        </p:nvSpPr>
        <p:spPr>
          <a:xfrm>
            <a:off x="1333500"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664970"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BROKE</a:t>
            </a:r>
            <a:endParaRPr lang="en-US" sz="1575" dirty="0"/>
          </a:p>
        </p:txBody>
      </p:sp>
      <p:sp>
        <p:nvSpPr>
          <p:cNvPr id="6" name="Text 4"/>
          <p:cNvSpPr/>
          <p:nvPr/>
        </p:nvSpPr>
        <p:spPr>
          <a:xfrm>
            <a:off x="1664970" y="3315653"/>
            <a:ext cx="3148270" cy="833437"/>
          </a:xfrm>
          <a:prstGeom prst="rect">
            <a:avLst/>
          </a:prstGeom>
          <a:noFill/>
          <a:ln/>
        </p:spPr>
        <p:txBody>
          <a:bodyPr wrap="square" lIns="25400" tIns="25400" rIns="25400" bIns="25400" rtlCol="0" anchor="t">
            <a:normAutofit fontScale="92500" lnSpcReduction="10000"/>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Early scores looked great. Too great.</a:t>
            </a:r>
            <a:endParaRPr lang="en-US" sz="2175" dirty="0"/>
          </a:p>
        </p:txBody>
      </p:sp>
      <p:sp>
        <p:nvSpPr>
          <p:cNvPr id="7" name="Shape 5"/>
          <p:cNvSpPr/>
          <p:nvPr/>
        </p:nvSpPr>
        <p:spPr>
          <a:xfrm>
            <a:off x="5300663"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8" name="Text 6"/>
          <p:cNvSpPr/>
          <p:nvPr/>
        </p:nvSpPr>
        <p:spPr>
          <a:xfrm>
            <a:off x="5632132"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WHY</a:t>
            </a:r>
            <a:endParaRPr lang="en-US" sz="1575" dirty="0"/>
          </a:p>
        </p:txBody>
      </p:sp>
      <p:sp>
        <p:nvSpPr>
          <p:cNvPr id="9" name="Text 7"/>
          <p:cNvSpPr/>
          <p:nvPr/>
        </p:nvSpPr>
        <p:spPr>
          <a:xfrm>
            <a:off x="5632132" y="3315652"/>
            <a:ext cx="3148270" cy="2868579"/>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A random split let a model train on a user's future to predict their past, leakage that can't happen in real life.</a:t>
            </a:r>
            <a:endParaRPr lang="en-US" sz="2175" dirty="0"/>
          </a:p>
        </p:txBody>
      </p:sp>
      <p:sp>
        <p:nvSpPr>
          <p:cNvPr id="10" name="Shape 8"/>
          <p:cNvSpPr/>
          <p:nvPr/>
        </p:nvSpPr>
        <p:spPr>
          <a:xfrm>
            <a:off x="9267825"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11" name="Text 9"/>
          <p:cNvSpPr/>
          <p:nvPr/>
        </p:nvSpPr>
        <p:spPr>
          <a:xfrm>
            <a:off x="9599295"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I TRIED</a:t>
            </a:r>
            <a:endParaRPr lang="en-US" sz="1575" dirty="0"/>
          </a:p>
        </p:txBody>
      </p:sp>
      <p:sp>
        <p:nvSpPr>
          <p:cNvPr id="12" name="Text 10"/>
          <p:cNvSpPr/>
          <p:nvPr/>
        </p:nvSpPr>
        <p:spPr>
          <a:xfrm>
            <a:off x="9599295" y="3315652"/>
            <a:ext cx="3148270" cy="2688105"/>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A temporal split: hold out each user's most recent 20% by timestamp, so I only predict forward in time.</a:t>
            </a:r>
            <a:endParaRPr lang="en-US" sz="2175" dirty="0"/>
          </a:p>
        </p:txBody>
      </p:sp>
      <p:sp>
        <p:nvSpPr>
          <p:cNvPr id="13" name="Shape 11"/>
          <p:cNvSpPr/>
          <p:nvPr/>
        </p:nvSpPr>
        <p:spPr>
          <a:xfrm>
            <a:off x="13234988" y="2458403"/>
            <a:ext cx="3719512" cy="6971348"/>
          </a:xfrm>
          <a:prstGeom prst="roundRect">
            <a:avLst>
              <a:gd name="adj" fmla="val 1024"/>
            </a:avLst>
          </a:prstGeom>
          <a:solidFill>
            <a:srgbClr val="2F6F75"/>
          </a:solidFill>
          <a:ln/>
        </p:spPr>
        <p:txBody>
          <a:bodyPr/>
          <a:lstStyle/>
          <a:p>
            <a:endParaRPr lang="en-GB"/>
          </a:p>
        </p:txBody>
      </p:sp>
      <p:sp>
        <p:nvSpPr>
          <p:cNvPr id="14" name="Text 12"/>
          <p:cNvSpPr/>
          <p:nvPr/>
        </p:nvSpPr>
        <p:spPr>
          <a:xfrm>
            <a:off x="13558838" y="2839403"/>
            <a:ext cx="3378994"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LEARNED</a:t>
            </a:r>
            <a:endParaRPr lang="en-US" sz="1575" dirty="0"/>
          </a:p>
        </p:txBody>
      </p:sp>
      <p:sp>
        <p:nvSpPr>
          <p:cNvPr id="15" name="Text 13"/>
          <p:cNvSpPr/>
          <p:nvPr/>
        </p:nvSpPr>
        <p:spPr>
          <a:xfrm>
            <a:off x="13558838" y="3308033"/>
            <a:ext cx="3163967" cy="2876198"/>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FFFFFF"/>
                </a:solidFill>
                <a:latin typeface="Arial" pitchFamily="34" charset="0"/>
                <a:ea typeface="Arial" pitchFamily="34" charset="-122"/>
                <a:cs typeface="Arial" pitchFamily="34" charset="-120"/>
              </a:rPr>
              <a:t>The honest number was lower, and that was the point. An evaluation that flatters you is a lie you tell yourself.</a:t>
            </a:r>
            <a:endParaRPr lang="en-US" sz="21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PART 1 · BUG 03</a:t>
            </a:r>
            <a:endParaRPr lang="en-US" sz="1650" dirty="0"/>
          </a:p>
        </p:txBody>
      </p:sp>
      <p:sp>
        <p:nvSpPr>
          <p:cNvPr id="3" name="Text 1"/>
          <p:cNvSpPr/>
          <p:nvPr/>
        </p:nvSpPr>
        <p:spPr>
          <a:xfrm>
            <a:off x="1333500" y="1322070"/>
            <a:ext cx="17183100" cy="69818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950" kern="0" spc="-49" dirty="0">
                <a:solidFill>
                  <a:srgbClr val="1A1A17"/>
                </a:solidFill>
                <a:latin typeface="Georgia" pitchFamily="34" charset="0"/>
                <a:ea typeface="Georgia" pitchFamily="34" charset="-122"/>
                <a:cs typeface="Georgia" pitchFamily="34" charset="-120"/>
              </a:rPr>
              <a:t>Predictions flew off the scale</a:t>
            </a:r>
            <a:endParaRPr lang="en-US" sz="4950" dirty="0"/>
          </a:p>
        </p:txBody>
      </p:sp>
      <p:sp>
        <p:nvSpPr>
          <p:cNvPr id="4" name="Shape 2"/>
          <p:cNvSpPr/>
          <p:nvPr/>
        </p:nvSpPr>
        <p:spPr>
          <a:xfrm>
            <a:off x="1333500"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664970"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BROKE</a:t>
            </a:r>
            <a:endParaRPr lang="en-US" sz="1575" dirty="0"/>
          </a:p>
        </p:txBody>
      </p:sp>
      <p:sp>
        <p:nvSpPr>
          <p:cNvPr id="6" name="Text 4"/>
          <p:cNvSpPr/>
          <p:nvPr/>
        </p:nvSpPr>
        <p:spPr>
          <a:xfrm>
            <a:off x="1664970" y="3315652"/>
            <a:ext cx="3148270" cy="2964831"/>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Item-based CF returned predicted ratings above 5 and below 0.5. Impossible on a 0.5-to-5 scale.</a:t>
            </a:r>
            <a:endParaRPr lang="en-US" sz="2175" dirty="0"/>
          </a:p>
        </p:txBody>
      </p:sp>
      <p:sp>
        <p:nvSpPr>
          <p:cNvPr id="7" name="Shape 5"/>
          <p:cNvSpPr/>
          <p:nvPr/>
        </p:nvSpPr>
        <p:spPr>
          <a:xfrm>
            <a:off x="5300663"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8" name="Text 6"/>
          <p:cNvSpPr/>
          <p:nvPr/>
        </p:nvSpPr>
        <p:spPr>
          <a:xfrm>
            <a:off x="5632132"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WHY</a:t>
            </a:r>
            <a:endParaRPr lang="en-US" sz="1575" dirty="0"/>
          </a:p>
        </p:txBody>
      </p:sp>
      <p:sp>
        <p:nvSpPr>
          <p:cNvPr id="9" name="Text 7"/>
          <p:cNvSpPr/>
          <p:nvPr/>
        </p:nvSpPr>
        <p:spPr>
          <a:xfrm>
            <a:off x="5632132" y="3315652"/>
            <a:ext cx="3148270" cy="2567789"/>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Negative item similarities. A negatively correlated disliked movie can swing the weighted formula out of range.</a:t>
            </a:r>
            <a:endParaRPr lang="en-US" sz="2175" dirty="0"/>
          </a:p>
        </p:txBody>
      </p:sp>
      <p:sp>
        <p:nvSpPr>
          <p:cNvPr id="10" name="Shape 8"/>
          <p:cNvSpPr/>
          <p:nvPr/>
        </p:nvSpPr>
        <p:spPr>
          <a:xfrm>
            <a:off x="9267825" y="2458403"/>
            <a:ext cx="3719512" cy="6971348"/>
          </a:xfrm>
          <a:prstGeom prst="roundRect">
            <a:avLst>
              <a:gd name="adj" fmla="val 1024"/>
            </a:avLst>
          </a:prstGeom>
          <a:solidFill>
            <a:srgbClr val="FFFFFF"/>
          </a:solidFill>
          <a:ln w="7620">
            <a:solidFill>
              <a:srgbClr val="E6E2DA"/>
            </a:solidFill>
            <a:prstDash val="solid"/>
          </a:ln>
        </p:spPr>
        <p:txBody>
          <a:bodyPr/>
          <a:lstStyle/>
          <a:p>
            <a:endParaRPr lang="en-GB"/>
          </a:p>
        </p:txBody>
      </p:sp>
      <p:sp>
        <p:nvSpPr>
          <p:cNvPr id="11" name="Text 9"/>
          <p:cNvSpPr/>
          <p:nvPr/>
        </p:nvSpPr>
        <p:spPr>
          <a:xfrm>
            <a:off x="9599295" y="2847022"/>
            <a:ext cx="336223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I TRIED</a:t>
            </a:r>
            <a:endParaRPr lang="en-US" sz="1575" dirty="0"/>
          </a:p>
        </p:txBody>
      </p:sp>
      <p:sp>
        <p:nvSpPr>
          <p:cNvPr id="12" name="Text 10"/>
          <p:cNvSpPr/>
          <p:nvPr/>
        </p:nvSpPr>
        <p:spPr>
          <a:xfrm>
            <a:off x="9599295" y="3315653"/>
            <a:ext cx="3148270" cy="3518284"/>
          </a:xfrm>
          <a:prstGeom prst="rect">
            <a:avLst/>
          </a:prstGeom>
          <a:noFill/>
          <a:ln/>
        </p:spPr>
        <p:txBody>
          <a:bodyPr wrap="square" lIns="25400" tIns="25400" rIns="25400" bIns="25400" rtlCol="0" anchor="t">
            <a:normAutofit/>
          </a:bodyPr>
          <a:lstStyle/>
          <a:p>
            <a:pPr marL="0" indent="0" algn="l">
              <a:lnSpc>
                <a:spcPct val="144000"/>
              </a:lnSpc>
              <a:buNone/>
            </a:pPr>
            <a:r>
              <a:rPr lang="en-US" sz="2175" dirty="0">
                <a:solidFill>
                  <a:srgbClr val="3A372F"/>
                </a:solidFill>
                <a:latin typeface="Arial" pitchFamily="34" charset="0"/>
                <a:ea typeface="Arial" pitchFamily="34" charset="-122"/>
                <a:cs typeface="Arial" pitchFamily="34" charset="-120"/>
              </a:rPr>
              <a:t>Zero out negative similarities, so the prediction is a clean weighted average of the actual ratings.</a:t>
            </a:r>
            <a:endParaRPr lang="en-US" sz="2175" dirty="0"/>
          </a:p>
        </p:txBody>
      </p:sp>
      <p:sp>
        <p:nvSpPr>
          <p:cNvPr id="13" name="Shape 11"/>
          <p:cNvSpPr/>
          <p:nvPr/>
        </p:nvSpPr>
        <p:spPr>
          <a:xfrm>
            <a:off x="13234988" y="2458403"/>
            <a:ext cx="3719512" cy="6971348"/>
          </a:xfrm>
          <a:prstGeom prst="roundRect">
            <a:avLst>
              <a:gd name="adj" fmla="val 1024"/>
            </a:avLst>
          </a:prstGeom>
          <a:solidFill>
            <a:srgbClr val="2F6F75"/>
          </a:solidFill>
          <a:ln/>
        </p:spPr>
        <p:txBody>
          <a:bodyPr/>
          <a:lstStyle/>
          <a:p>
            <a:endParaRPr lang="en-GB"/>
          </a:p>
        </p:txBody>
      </p:sp>
      <p:sp>
        <p:nvSpPr>
          <p:cNvPr id="14" name="Text 12"/>
          <p:cNvSpPr/>
          <p:nvPr/>
        </p:nvSpPr>
        <p:spPr>
          <a:xfrm>
            <a:off x="13558838" y="2839403"/>
            <a:ext cx="3378994"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LEARNED</a:t>
            </a:r>
            <a:endParaRPr lang="en-US" sz="1575" dirty="0"/>
          </a:p>
        </p:txBody>
      </p:sp>
      <p:sp>
        <p:nvSpPr>
          <p:cNvPr id="15" name="Text 13"/>
          <p:cNvSpPr/>
          <p:nvPr/>
        </p:nvSpPr>
        <p:spPr>
          <a:xfrm>
            <a:off x="13558838" y="3308033"/>
            <a:ext cx="3163967" cy="2424113"/>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175" dirty="0">
                <a:solidFill>
                  <a:srgbClr val="FFFFFF"/>
                </a:solidFill>
                <a:latin typeface="Arial" pitchFamily="34" charset="0"/>
                <a:ea typeface="Arial" pitchFamily="34" charset="-122"/>
                <a:cs typeface="Arial" pitchFamily="34" charset="-120"/>
              </a:rPr>
              <a:t>A formula copied from the notes isn't done. The textbook version assumes clean data; mine had to survive a sparse, messy grid.</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2F6F75"/>
        </a:solidFill>
        <a:effectLst/>
      </p:bgPr>
    </p:bg>
    <p:spTree>
      <p:nvGrpSpPr>
        <p:cNvPr id="1" name=""/>
        <p:cNvGrpSpPr/>
        <p:nvPr/>
      </p:nvGrpSpPr>
      <p:grpSpPr>
        <a:xfrm>
          <a:off x="0" y="0"/>
          <a:ext cx="0" cy="0"/>
          <a:chOff x="0" y="0"/>
          <a:chExt cx="0" cy="0"/>
        </a:xfrm>
      </p:grpSpPr>
      <p:sp>
        <p:nvSpPr>
          <p:cNvPr id="2" name="Text 0"/>
          <p:cNvSpPr/>
          <p:nvPr/>
        </p:nvSpPr>
        <p:spPr>
          <a:xfrm>
            <a:off x="1333500" y="3834051"/>
            <a:ext cx="17183100" cy="35814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BFE1E3"/>
                </a:solidFill>
                <a:latin typeface="Courier New" pitchFamily="34" charset="0"/>
                <a:ea typeface="Courier New" pitchFamily="34" charset="-122"/>
                <a:cs typeface="Courier New" pitchFamily="34" charset="-120"/>
              </a:rPr>
              <a:t>PART 2</a:t>
            </a:r>
            <a:endParaRPr lang="en-US" sz="1950" dirty="0"/>
          </a:p>
        </p:txBody>
      </p:sp>
      <p:sp>
        <p:nvSpPr>
          <p:cNvPr id="3" name="Text 1"/>
          <p:cNvSpPr/>
          <p:nvPr/>
        </p:nvSpPr>
        <p:spPr>
          <a:xfrm>
            <a:off x="1333500" y="4535091"/>
            <a:ext cx="17183100" cy="1068229"/>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7800" kern="0" spc="-117" dirty="0">
                <a:solidFill>
                  <a:srgbClr val="FFFFFF"/>
                </a:solidFill>
                <a:latin typeface="Georgia" pitchFamily="34" charset="0"/>
                <a:ea typeface="Georgia" pitchFamily="34" charset="-122"/>
                <a:cs typeface="Georgia" pitchFamily="34" charset="-120"/>
              </a:rPr>
              <a:t>Six methods, then the surprises</a:t>
            </a:r>
            <a:endParaRPr lang="en-US" sz="7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THE TOOLKIT</a:t>
            </a:r>
            <a:endParaRPr lang="en-US" sz="1650" dirty="0"/>
          </a:p>
        </p:txBody>
      </p:sp>
      <p:sp>
        <p:nvSpPr>
          <p:cNvPr id="3" name="Text 1"/>
          <p:cNvSpPr/>
          <p:nvPr/>
        </p:nvSpPr>
        <p:spPr>
          <a:xfrm>
            <a:off x="1333500" y="1322070"/>
            <a:ext cx="17183100" cy="69818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950" kern="0" spc="-49" dirty="0">
                <a:solidFill>
                  <a:srgbClr val="1A1A17"/>
                </a:solidFill>
                <a:latin typeface="Georgia" pitchFamily="34" charset="0"/>
                <a:ea typeface="Georgia" pitchFamily="34" charset="-122"/>
                <a:cs typeface="Georgia" pitchFamily="34" charset="-120"/>
              </a:rPr>
              <a:t>The six, in one breath</a:t>
            </a:r>
            <a:endParaRPr lang="en-US" sz="4950" dirty="0"/>
          </a:p>
        </p:txBody>
      </p:sp>
      <p:sp>
        <p:nvSpPr>
          <p:cNvPr id="4" name="Shape 2"/>
          <p:cNvSpPr/>
          <p:nvPr/>
        </p:nvSpPr>
        <p:spPr>
          <a:xfrm>
            <a:off x="1333500" y="2420303"/>
            <a:ext cx="5041821"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703070" y="2980372"/>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2106930" y="2789872"/>
            <a:ext cx="1957721"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Popularity</a:t>
            </a:r>
            <a:endParaRPr lang="en-US" sz="3000" dirty="0"/>
          </a:p>
        </p:txBody>
      </p:sp>
      <p:sp>
        <p:nvSpPr>
          <p:cNvPr id="7" name="Text 5"/>
          <p:cNvSpPr/>
          <p:nvPr/>
        </p:nvSpPr>
        <p:spPr>
          <a:xfrm>
            <a:off x="1703070" y="3540443"/>
            <a:ext cx="4431761" cy="8115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Top-N by rating count. The baseline to beat.</a:t>
            </a:r>
            <a:endParaRPr lang="en-US" sz="2175" dirty="0"/>
          </a:p>
        </p:txBody>
      </p:sp>
      <p:sp>
        <p:nvSpPr>
          <p:cNvPr id="8" name="Shape 6"/>
          <p:cNvSpPr/>
          <p:nvPr/>
        </p:nvSpPr>
        <p:spPr>
          <a:xfrm>
            <a:off x="6622971" y="2420303"/>
            <a:ext cx="5041940"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9" name="Text 7"/>
          <p:cNvSpPr/>
          <p:nvPr/>
        </p:nvSpPr>
        <p:spPr>
          <a:xfrm>
            <a:off x="6992541" y="2980372"/>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7396401" y="2789872"/>
            <a:ext cx="3186863"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Bayesian average</a:t>
            </a:r>
            <a:endParaRPr lang="en-US" sz="3000" dirty="0"/>
          </a:p>
        </p:txBody>
      </p:sp>
      <p:sp>
        <p:nvSpPr>
          <p:cNvPr id="11" name="Text 9"/>
          <p:cNvSpPr/>
          <p:nvPr/>
        </p:nvSpPr>
        <p:spPr>
          <a:xfrm>
            <a:off x="6992541" y="3540443"/>
            <a:ext cx="4431884" cy="8115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IMDb weighting. Stops one 5-star rating from winning.</a:t>
            </a:r>
            <a:endParaRPr lang="en-US" sz="2175" dirty="0"/>
          </a:p>
        </p:txBody>
      </p:sp>
      <p:sp>
        <p:nvSpPr>
          <p:cNvPr id="12" name="Shape 10"/>
          <p:cNvSpPr/>
          <p:nvPr/>
        </p:nvSpPr>
        <p:spPr>
          <a:xfrm>
            <a:off x="11912560" y="2420303"/>
            <a:ext cx="5041940"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13" name="Text 11"/>
          <p:cNvSpPr/>
          <p:nvPr/>
        </p:nvSpPr>
        <p:spPr>
          <a:xfrm>
            <a:off x="12282131" y="2980372"/>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2685991" y="2789872"/>
            <a:ext cx="2778633"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User-based CF</a:t>
            </a:r>
            <a:endParaRPr lang="en-US" sz="3000" dirty="0"/>
          </a:p>
        </p:txBody>
      </p:sp>
      <p:sp>
        <p:nvSpPr>
          <p:cNvPr id="15" name="Text 13"/>
          <p:cNvSpPr/>
          <p:nvPr/>
        </p:nvSpPr>
        <p:spPr>
          <a:xfrm>
            <a:off x="12282131" y="3540443"/>
            <a:ext cx="4733080" cy="4248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"People like you also liked…"</a:t>
            </a:r>
            <a:endParaRPr lang="en-US" sz="2175" dirty="0"/>
          </a:p>
        </p:txBody>
      </p:sp>
      <p:sp>
        <p:nvSpPr>
          <p:cNvPr id="16" name="Shape 14"/>
          <p:cNvSpPr/>
          <p:nvPr/>
        </p:nvSpPr>
        <p:spPr>
          <a:xfrm>
            <a:off x="1333500" y="5738336"/>
            <a:ext cx="5041821"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17" name="Text 15"/>
          <p:cNvSpPr/>
          <p:nvPr/>
        </p:nvSpPr>
        <p:spPr>
          <a:xfrm>
            <a:off x="1703070" y="6298406"/>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04</a:t>
            </a:r>
            <a:endParaRPr lang="en-US" sz="1650" dirty="0"/>
          </a:p>
        </p:txBody>
      </p:sp>
      <p:sp>
        <p:nvSpPr>
          <p:cNvPr id="18" name="Text 16"/>
          <p:cNvSpPr/>
          <p:nvPr/>
        </p:nvSpPr>
        <p:spPr>
          <a:xfrm>
            <a:off x="2106930" y="6107906"/>
            <a:ext cx="2778240"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Item-based CF</a:t>
            </a:r>
            <a:endParaRPr lang="en-US" sz="3000" dirty="0"/>
          </a:p>
        </p:txBody>
      </p:sp>
      <p:sp>
        <p:nvSpPr>
          <p:cNvPr id="19" name="Text 17"/>
          <p:cNvSpPr/>
          <p:nvPr/>
        </p:nvSpPr>
        <p:spPr>
          <a:xfrm>
            <a:off x="1703070" y="6858476"/>
            <a:ext cx="4431761" cy="81153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"Because you liked similar movies…"</a:t>
            </a:r>
            <a:endParaRPr lang="en-US" sz="2175" dirty="0"/>
          </a:p>
        </p:txBody>
      </p:sp>
      <p:sp>
        <p:nvSpPr>
          <p:cNvPr id="20" name="Shape 18"/>
          <p:cNvSpPr/>
          <p:nvPr/>
        </p:nvSpPr>
        <p:spPr>
          <a:xfrm>
            <a:off x="6622971" y="5738336"/>
            <a:ext cx="5041940"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21" name="Text 19"/>
          <p:cNvSpPr/>
          <p:nvPr/>
        </p:nvSpPr>
        <p:spPr>
          <a:xfrm>
            <a:off x="6992541" y="6298406"/>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05</a:t>
            </a:r>
            <a:endParaRPr lang="en-US" sz="1650" dirty="0"/>
          </a:p>
        </p:txBody>
      </p:sp>
      <p:sp>
        <p:nvSpPr>
          <p:cNvPr id="22" name="Text 20"/>
          <p:cNvSpPr/>
          <p:nvPr/>
        </p:nvSpPr>
        <p:spPr>
          <a:xfrm>
            <a:off x="7396401" y="6107906"/>
            <a:ext cx="2750606"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Content-based</a:t>
            </a:r>
            <a:endParaRPr lang="en-US" sz="3000" dirty="0"/>
          </a:p>
        </p:txBody>
      </p:sp>
      <p:sp>
        <p:nvSpPr>
          <p:cNvPr id="23" name="Text 21"/>
          <p:cNvSpPr/>
          <p:nvPr/>
        </p:nvSpPr>
        <p:spPr>
          <a:xfrm>
            <a:off x="6992541" y="6858476"/>
            <a:ext cx="4431884" cy="8115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TF-IDF on genres and tags, with explanations.</a:t>
            </a:r>
            <a:endParaRPr lang="en-US" sz="2175" dirty="0"/>
          </a:p>
        </p:txBody>
      </p:sp>
      <p:sp>
        <p:nvSpPr>
          <p:cNvPr id="24" name="Shape 22"/>
          <p:cNvSpPr/>
          <p:nvPr/>
        </p:nvSpPr>
        <p:spPr>
          <a:xfrm>
            <a:off x="11912560" y="5738336"/>
            <a:ext cx="5041940" cy="3070384"/>
          </a:xfrm>
          <a:prstGeom prst="roundRect">
            <a:avLst>
              <a:gd name="adj" fmla="val 1241"/>
            </a:avLst>
          </a:prstGeom>
          <a:solidFill>
            <a:srgbClr val="FFFFFF"/>
          </a:solidFill>
          <a:ln w="7620">
            <a:solidFill>
              <a:srgbClr val="E6E2DA"/>
            </a:solidFill>
            <a:prstDash val="solid"/>
          </a:ln>
        </p:spPr>
        <p:txBody>
          <a:bodyPr/>
          <a:lstStyle/>
          <a:p>
            <a:endParaRPr lang="en-GB"/>
          </a:p>
        </p:txBody>
      </p:sp>
      <p:sp>
        <p:nvSpPr>
          <p:cNvPr id="25" name="Text 23"/>
          <p:cNvSpPr/>
          <p:nvPr/>
        </p:nvSpPr>
        <p:spPr>
          <a:xfrm>
            <a:off x="12282131" y="6298406"/>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06</a:t>
            </a:r>
            <a:endParaRPr lang="en-US" sz="1650" dirty="0"/>
          </a:p>
        </p:txBody>
      </p:sp>
      <p:sp>
        <p:nvSpPr>
          <p:cNvPr id="26" name="Text 24"/>
          <p:cNvSpPr/>
          <p:nvPr/>
        </p:nvSpPr>
        <p:spPr>
          <a:xfrm>
            <a:off x="12685991" y="6107906"/>
            <a:ext cx="862965" cy="617220"/>
          </a:xfrm>
          <a:prstGeom prst="rect">
            <a:avLst/>
          </a:prstGeom>
          <a:noFill/>
          <a:ln/>
        </p:spPr>
        <p:txBody>
          <a:bodyPr wrap="square" lIns="25400" tIns="25400" rIns="25400" bIns="25400" rtlCol="0" anchor="t">
            <a:normAutofit/>
          </a:bodyPr>
          <a:lstStyle/>
          <a:p>
            <a:pPr marL="0" indent="0" algn="l">
              <a:buNone/>
            </a:pPr>
            <a:r>
              <a:rPr lang="en-US" sz="3000" dirty="0">
                <a:solidFill>
                  <a:srgbClr val="1A1A17"/>
                </a:solidFill>
                <a:latin typeface="Georgia" pitchFamily="34" charset="0"/>
                <a:ea typeface="Georgia" pitchFamily="34" charset="-122"/>
                <a:cs typeface="Georgia" pitchFamily="34" charset="-120"/>
              </a:rPr>
              <a:t>SVD</a:t>
            </a:r>
            <a:endParaRPr lang="en-US" sz="3000" dirty="0"/>
          </a:p>
        </p:txBody>
      </p:sp>
      <p:sp>
        <p:nvSpPr>
          <p:cNvPr id="27" name="Text 25"/>
          <p:cNvSpPr/>
          <p:nvPr/>
        </p:nvSpPr>
        <p:spPr>
          <a:xfrm>
            <a:off x="12282131" y="6858476"/>
            <a:ext cx="4431884" cy="81153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75" dirty="0">
                <a:solidFill>
                  <a:srgbClr val="3A372F"/>
                </a:solidFill>
                <a:latin typeface="Arial" pitchFamily="34" charset="0"/>
                <a:ea typeface="Arial" pitchFamily="34" charset="-122"/>
                <a:cs typeface="Arial" pitchFamily="34" charset="-120"/>
              </a:rPr>
              <a:t>Latent factors on the 98%-empty grid.</a:t>
            </a:r>
            <a:endParaRPr lang="en-US" sz="2175" dirty="0"/>
          </a:p>
        </p:txBody>
      </p:sp>
      <p:sp>
        <p:nvSpPr>
          <p:cNvPr id="28" name="Text 26"/>
          <p:cNvSpPr/>
          <p:nvPr/>
        </p:nvSpPr>
        <p:spPr>
          <a:xfrm>
            <a:off x="1333500" y="9132570"/>
            <a:ext cx="1718310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9A968D"/>
                </a:solidFill>
                <a:latin typeface="Courier New" pitchFamily="34" charset="0"/>
                <a:ea typeface="Courier New" pitchFamily="34" charset="-122"/>
                <a:cs typeface="Courier New" pitchFamily="34" charset="-120"/>
              </a:rPr>
              <a:t>All six share one interface, model.recommend(user, n), so the notebook and the app reuse the exact same code.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SURPRISE 1</a:t>
            </a:r>
            <a:endParaRPr lang="en-US" sz="1650" dirty="0"/>
          </a:p>
        </p:txBody>
      </p:sp>
      <p:sp>
        <p:nvSpPr>
          <p:cNvPr id="3" name="Text 1"/>
          <p:cNvSpPr/>
          <p:nvPr/>
        </p:nvSpPr>
        <p:spPr>
          <a:xfrm>
            <a:off x="1333500" y="1322070"/>
            <a:ext cx="17183100" cy="64389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45" dirty="0">
                <a:solidFill>
                  <a:srgbClr val="1A1A17"/>
                </a:solidFill>
                <a:latin typeface="Georgia" pitchFamily="34" charset="0"/>
                <a:ea typeface="Georgia" pitchFamily="34" charset="-122"/>
                <a:cs typeface="Georgia" pitchFamily="34" charset="-120"/>
              </a:rPr>
              <a:t>Reaching wide is not the same as variety</a:t>
            </a:r>
            <a:endParaRPr lang="en-US" sz="4500" dirty="0"/>
          </a:p>
        </p:txBody>
      </p:sp>
      <p:sp>
        <p:nvSpPr>
          <p:cNvPr id="4" name="Shape 2"/>
          <p:cNvSpPr/>
          <p:nvPr/>
        </p:nvSpPr>
        <p:spPr>
          <a:xfrm>
            <a:off x="1333500" y="2346960"/>
            <a:ext cx="7396877" cy="2899410"/>
          </a:xfrm>
          <a:prstGeom prst="roundRect">
            <a:avLst>
              <a:gd name="adj" fmla="val 131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684020" y="2716530"/>
            <a:ext cx="7365421"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I EXPECTED</a:t>
            </a:r>
            <a:endParaRPr lang="en-US" sz="1575" dirty="0"/>
          </a:p>
        </p:txBody>
      </p:sp>
      <p:sp>
        <p:nvSpPr>
          <p:cNvPr id="6" name="Text 4"/>
          <p:cNvSpPr/>
          <p:nvPr/>
        </p:nvSpPr>
        <p:spPr>
          <a:xfrm>
            <a:off x="1684020" y="3166110"/>
            <a:ext cx="6896712" cy="861060"/>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250" dirty="0">
                <a:solidFill>
                  <a:srgbClr val="3A372F"/>
                </a:solidFill>
                <a:latin typeface="Arial" pitchFamily="34" charset="0"/>
                <a:ea typeface="Arial" pitchFamily="34" charset="-122"/>
                <a:cs typeface="Arial" pitchFamily="34" charset="-120"/>
              </a:rPr>
              <a:t>The model that touches the most of the catalog should also give the most varied lists.</a:t>
            </a:r>
            <a:endParaRPr lang="en-US" sz="2250" dirty="0"/>
          </a:p>
        </p:txBody>
      </p:sp>
      <p:sp>
        <p:nvSpPr>
          <p:cNvPr id="7" name="Shape 5"/>
          <p:cNvSpPr/>
          <p:nvPr/>
        </p:nvSpPr>
        <p:spPr>
          <a:xfrm>
            <a:off x="1333500" y="5494020"/>
            <a:ext cx="7396877" cy="2884170"/>
          </a:xfrm>
          <a:prstGeom prst="roundRect">
            <a:avLst>
              <a:gd name="adj" fmla="val 1321"/>
            </a:avLst>
          </a:prstGeom>
          <a:solidFill>
            <a:srgbClr val="2F6F75"/>
          </a:solidFill>
          <a:ln/>
        </p:spPr>
        <p:txBody>
          <a:bodyPr/>
          <a:lstStyle/>
          <a:p>
            <a:endParaRPr lang="en-GB"/>
          </a:p>
        </p:txBody>
      </p:sp>
      <p:sp>
        <p:nvSpPr>
          <p:cNvPr id="8" name="Text 6"/>
          <p:cNvSpPr/>
          <p:nvPr/>
        </p:nvSpPr>
        <p:spPr>
          <a:xfrm>
            <a:off x="1676400" y="5855970"/>
            <a:ext cx="7382185"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FOUND</a:t>
            </a:r>
            <a:endParaRPr lang="en-US" sz="1575" dirty="0"/>
          </a:p>
        </p:txBody>
      </p:sp>
      <p:sp>
        <p:nvSpPr>
          <p:cNvPr id="9" name="Text 7"/>
          <p:cNvSpPr/>
          <p:nvPr/>
        </p:nvSpPr>
        <p:spPr>
          <a:xfrm>
            <a:off x="1676400" y="6305550"/>
            <a:ext cx="6912409" cy="1272540"/>
          </a:xfrm>
          <a:prstGeom prst="rect">
            <a:avLst/>
          </a:prstGeom>
          <a:noFill/>
          <a:ln/>
        </p:spPr>
        <p:txBody>
          <a:bodyPr wrap="square" lIns="25400" tIns="25400" rIns="25400" bIns="25400" rtlCol="0" anchor="t">
            <a:normAutofit fontScale="92500"/>
          </a:bodyPr>
          <a:lstStyle/>
          <a:p>
            <a:pPr marL="0" indent="0" algn="l">
              <a:lnSpc>
                <a:spcPct val="144000"/>
              </a:lnSpc>
              <a:buNone/>
            </a:pPr>
            <a:r>
              <a:rPr lang="en-US" sz="2250" dirty="0">
                <a:solidFill>
                  <a:srgbClr val="FFFFFF"/>
                </a:solidFill>
                <a:latin typeface="Arial" pitchFamily="34" charset="0"/>
                <a:ea typeface="Arial" pitchFamily="34" charset="-122"/>
                <a:cs typeface="Arial" pitchFamily="34" charset="-120"/>
              </a:rPr>
              <a:t>Content-based has the widest reach (coverage 0.38) yet the narrowest lists (diversity 0.22). Exactly backwards.</a:t>
            </a:r>
            <a:endParaRPr lang="en-US" sz="2250" dirty="0"/>
          </a:p>
        </p:txBody>
      </p:sp>
      <p:sp>
        <p:nvSpPr>
          <p:cNvPr id="10" name="Shape 8"/>
          <p:cNvSpPr/>
          <p:nvPr/>
        </p:nvSpPr>
        <p:spPr>
          <a:xfrm>
            <a:off x="9187577" y="2346960"/>
            <a:ext cx="7766923" cy="6031230"/>
          </a:xfrm>
          <a:prstGeom prst="roundRect">
            <a:avLst>
              <a:gd name="adj" fmla="val 632"/>
            </a:avLst>
          </a:prstGeom>
          <a:solidFill>
            <a:srgbClr val="FFFFFF"/>
          </a:solidFill>
          <a:ln w="7620">
            <a:solidFill>
              <a:srgbClr val="E6E2DA"/>
            </a:solidFill>
            <a:prstDash val="solid"/>
          </a:ln>
        </p:spPr>
        <p:txBody>
          <a:bodyPr/>
          <a:lstStyle/>
          <a:p>
            <a:endParaRPr lang="en-GB"/>
          </a:p>
        </p:txBody>
      </p:sp>
      <p:sp>
        <p:nvSpPr>
          <p:cNvPr id="11" name="Shape 9"/>
          <p:cNvSpPr/>
          <p:nvPr/>
        </p:nvSpPr>
        <p:spPr>
          <a:xfrm>
            <a:off x="9576197" y="4269105"/>
            <a:ext cx="2533769" cy="15240"/>
          </a:xfrm>
          <a:prstGeom prst="rect">
            <a:avLst/>
          </a:prstGeom>
          <a:solidFill>
            <a:srgbClr val="2F6F75"/>
          </a:solidFill>
          <a:ln/>
        </p:spPr>
        <p:txBody>
          <a:bodyPr/>
          <a:lstStyle/>
          <a:p>
            <a:endParaRPr lang="en-GB"/>
          </a:p>
        </p:txBody>
      </p:sp>
      <p:sp>
        <p:nvSpPr>
          <p:cNvPr id="12" name="Text 10"/>
          <p:cNvSpPr/>
          <p:nvPr/>
        </p:nvSpPr>
        <p:spPr>
          <a:xfrm>
            <a:off x="9747647" y="3895725"/>
            <a:ext cx="2267069" cy="259080"/>
          </a:xfrm>
          <a:prstGeom prst="rect">
            <a:avLst/>
          </a:prstGeom>
          <a:noFill/>
          <a:ln/>
        </p:spPr>
        <p:txBody>
          <a:bodyPr wrap="square" lIns="25400" tIns="25400" rIns="25400" bIns="25400" rtlCol="0" anchor="ctr">
            <a:normAutofit fontScale="92500" lnSpcReduction="20000"/>
          </a:bodyPr>
          <a:lstStyle/>
          <a:p>
            <a:pPr marL="0" indent="0" algn="l">
              <a:buNone/>
            </a:pPr>
            <a:r>
              <a:rPr lang="en-US" sz="1575" b="1" kern="0" spc="95" dirty="0">
                <a:solidFill>
                  <a:srgbClr val="2F6F75"/>
                </a:solidFill>
                <a:latin typeface="Courier New" pitchFamily="34" charset="0"/>
                <a:ea typeface="Courier New" pitchFamily="34" charset="-122"/>
                <a:cs typeface="Courier New" pitchFamily="34" charset="-120"/>
              </a:rPr>
              <a:t>METHOD</a:t>
            </a:r>
            <a:endParaRPr lang="en-US" sz="1575" dirty="0"/>
          </a:p>
        </p:txBody>
      </p:sp>
      <p:sp>
        <p:nvSpPr>
          <p:cNvPr id="13" name="Shape 11"/>
          <p:cNvSpPr/>
          <p:nvPr/>
        </p:nvSpPr>
        <p:spPr>
          <a:xfrm>
            <a:off x="12109967" y="4269105"/>
            <a:ext cx="2127528" cy="15240"/>
          </a:xfrm>
          <a:prstGeom prst="rect">
            <a:avLst/>
          </a:prstGeom>
          <a:solidFill>
            <a:srgbClr val="2F6F75"/>
          </a:solidFill>
          <a:ln/>
        </p:spPr>
        <p:txBody>
          <a:bodyPr/>
          <a:lstStyle/>
          <a:p>
            <a:endParaRPr lang="en-GB"/>
          </a:p>
        </p:txBody>
      </p:sp>
      <p:sp>
        <p:nvSpPr>
          <p:cNvPr id="14" name="Text 12"/>
          <p:cNvSpPr/>
          <p:nvPr/>
        </p:nvSpPr>
        <p:spPr>
          <a:xfrm>
            <a:off x="12243317" y="3895725"/>
            <a:ext cx="1860828" cy="259080"/>
          </a:xfrm>
          <a:prstGeom prst="rect">
            <a:avLst/>
          </a:prstGeom>
          <a:noFill/>
          <a:ln/>
        </p:spPr>
        <p:txBody>
          <a:bodyPr wrap="square" lIns="25400" tIns="25400" rIns="25400" bIns="25400" rtlCol="0" anchor="ctr">
            <a:normAutofit fontScale="92500" lnSpcReduction="20000"/>
          </a:bodyPr>
          <a:lstStyle/>
          <a:p>
            <a:pPr marL="0" indent="0" algn="ctr">
              <a:buNone/>
            </a:pPr>
            <a:r>
              <a:rPr lang="en-US" sz="1575" b="1" kern="0" spc="95" dirty="0">
                <a:solidFill>
                  <a:srgbClr val="2F6F75"/>
                </a:solidFill>
                <a:latin typeface="Courier New" pitchFamily="34" charset="0"/>
                <a:ea typeface="Courier New" pitchFamily="34" charset="-122"/>
                <a:cs typeface="Courier New" pitchFamily="34" charset="-120"/>
              </a:rPr>
              <a:t>COVERAGE</a:t>
            </a:r>
            <a:endParaRPr lang="en-US" sz="1575" dirty="0"/>
          </a:p>
        </p:txBody>
      </p:sp>
      <p:sp>
        <p:nvSpPr>
          <p:cNvPr id="15" name="Shape 13"/>
          <p:cNvSpPr/>
          <p:nvPr/>
        </p:nvSpPr>
        <p:spPr>
          <a:xfrm>
            <a:off x="14237494" y="4269105"/>
            <a:ext cx="2328386" cy="15240"/>
          </a:xfrm>
          <a:prstGeom prst="rect">
            <a:avLst/>
          </a:prstGeom>
          <a:solidFill>
            <a:srgbClr val="2F6F75"/>
          </a:solidFill>
          <a:ln/>
        </p:spPr>
        <p:txBody>
          <a:bodyPr/>
          <a:lstStyle/>
          <a:p>
            <a:endParaRPr lang="en-GB"/>
          </a:p>
        </p:txBody>
      </p:sp>
      <p:sp>
        <p:nvSpPr>
          <p:cNvPr id="16" name="Text 14"/>
          <p:cNvSpPr/>
          <p:nvPr/>
        </p:nvSpPr>
        <p:spPr>
          <a:xfrm>
            <a:off x="14370844" y="3895725"/>
            <a:ext cx="2061686" cy="259080"/>
          </a:xfrm>
          <a:prstGeom prst="rect">
            <a:avLst/>
          </a:prstGeom>
          <a:noFill/>
          <a:ln/>
        </p:spPr>
        <p:txBody>
          <a:bodyPr wrap="square" lIns="25400" tIns="25400" rIns="25400" bIns="25400" rtlCol="0" anchor="ctr">
            <a:normAutofit fontScale="92500" lnSpcReduction="20000"/>
          </a:bodyPr>
          <a:lstStyle/>
          <a:p>
            <a:pPr marL="0" indent="0" algn="ctr">
              <a:buNone/>
            </a:pPr>
            <a:r>
              <a:rPr lang="en-US" sz="1575" b="1" kern="0" spc="95" dirty="0">
                <a:solidFill>
                  <a:srgbClr val="2F6F75"/>
                </a:solidFill>
                <a:latin typeface="Courier New" pitchFamily="34" charset="0"/>
                <a:ea typeface="Courier New" pitchFamily="34" charset="-122"/>
                <a:cs typeface="Courier New" pitchFamily="34" charset="-120"/>
              </a:rPr>
              <a:t>DIVERSITY</a:t>
            </a:r>
            <a:endParaRPr lang="en-US" sz="1575" dirty="0"/>
          </a:p>
        </p:txBody>
      </p:sp>
      <p:sp>
        <p:nvSpPr>
          <p:cNvPr id="17" name="Shape 15"/>
          <p:cNvSpPr/>
          <p:nvPr/>
        </p:nvSpPr>
        <p:spPr>
          <a:xfrm>
            <a:off x="9576197" y="4951095"/>
            <a:ext cx="2533769" cy="9525"/>
          </a:xfrm>
          <a:prstGeom prst="rect">
            <a:avLst/>
          </a:prstGeom>
          <a:solidFill>
            <a:srgbClr val="E6E2DA"/>
          </a:solidFill>
          <a:ln/>
        </p:spPr>
        <p:txBody>
          <a:bodyPr/>
          <a:lstStyle/>
          <a:p>
            <a:endParaRPr lang="en-GB"/>
          </a:p>
        </p:txBody>
      </p:sp>
      <p:sp>
        <p:nvSpPr>
          <p:cNvPr id="18" name="Text 16"/>
          <p:cNvSpPr/>
          <p:nvPr/>
        </p:nvSpPr>
        <p:spPr>
          <a:xfrm>
            <a:off x="9747647" y="4455795"/>
            <a:ext cx="2267069" cy="361950"/>
          </a:xfrm>
          <a:prstGeom prst="rect">
            <a:avLst/>
          </a:prstGeom>
          <a:noFill/>
          <a:ln/>
        </p:spPr>
        <p:txBody>
          <a:bodyPr wrap="square" lIns="25400" tIns="25400" rIns="25400" bIns="25400" rtlCol="0" anchor="ctr">
            <a:normAutofit fontScale="92500" lnSpcReduction="10000"/>
          </a:bodyPr>
          <a:lstStyle/>
          <a:p>
            <a:pPr marL="0" indent="0" algn="l">
              <a:buNone/>
            </a:pPr>
            <a:r>
              <a:rPr lang="en-US" sz="2325" dirty="0">
                <a:solidFill>
                  <a:srgbClr val="3A372F"/>
                </a:solidFill>
                <a:latin typeface="Arial" pitchFamily="34" charset="0"/>
                <a:ea typeface="Arial" pitchFamily="34" charset="-122"/>
                <a:cs typeface="Arial" pitchFamily="34" charset="-120"/>
              </a:rPr>
              <a:t>Popularity</a:t>
            </a:r>
            <a:endParaRPr lang="en-US" sz="2325" dirty="0"/>
          </a:p>
        </p:txBody>
      </p:sp>
      <p:sp>
        <p:nvSpPr>
          <p:cNvPr id="19" name="Shape 17"/>
          <p:cNvSpPr/>
          <p:nvPr/>
        </p:nvSpPr>
        <p:spPr>
          <a:xfrm>
            <a:off x="12109967" y="4951095"/>
            <a:ext cx="2127528" cy="9525"/>
          </a:xfrm>
          <a:prstGeom prst="rect">
            <a:avLst/>
          </a:prstGeom>
          <a:solidFill>
            <a:srgbClr val="E6E2DA"/>
          </a:solidFill>
          <a:ln/>
        </p:spPr>
        <p:txBody>
          <a:bodyPr/>
          <a:lstStyle/>
          <a:p>
            <a:endParaRPr lang="en-GB"/>
          </a:p>
        </p:txBody>
      </p:sp>
      <p:sp>
        <p:nvSpPr>
          <p:cNvPr id="20" name="Text 18"/>
          <p:cNvSpPr/>
          <p:nvPr/>
        </p:nvSpPr>
        <p:spPr>
          <a:xfrm>
            <a:off x="12243317" y="4455795"/>
            <a:ext cx="1860828"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0.012</a:t>
            </a:r>
            <a:endParaRPr lang="en-US" sz="2325" dirty="0"/>
          </a:p>
        </p:txBody>
      </p:sp>
      <p:sp>
        <p:nvSpPr>
          <p:cNvPr id="21" name="Shape 19"/>
          <p:cNvSpPr/>
          <p:nvPr/>
        </p:nvSpPr>
        <p:spPr>
          <a:xfrm>
            <a:off x="14237494" y="4951095"/>
            <a:ext cx="2328386" cy="9525"/>
          </a:xfrm>
          <a:prstGeom prst="rect">
            <a:avLst/>
          </a:prstGeom>
          <a:solidFill>
            <a:srgbClr val="E6E2DA"/>
          </a:solidFill>
          <a:ln/>
        </p:spPr>
        <p:txBody>
          <a:bodyPr/>
          <a:lstStyle/>
          <a:p>
            <a:endParaRPr lang="en-GB"/>
          </a:p>
        </p:txBody>
      </p:sp>
      <p:sp>
        <p:nvSpPr>
          <p:cNvPr id="22" name="Text 20"/>
          <p:cNvSpPr/>
          <p:nvPr/>
        </p:nvSpPr>
        <p:spPr>
          <a:xfrm>
            <a:off x="14370844" y="4455795"/>
            <a:ext cx="2061686"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0.96</a:t>
            </a:r>
            <a:endParaRPr lang="en-US" sz="2325" dirty="0"/>
          </a:p>
        </p:txBody>
      </p:sp>
      <p:sp>
        <p:nvSpPr>
          <p:cNvPr id="23" name="Shape 21"/>
          <p:cNvSpPr/>
          <p:nvPr/>
        </p:nvSpPr>
        <p:spPr>
          <a:xfrm>
            <a:off x="9576197" y="5621655"/>
            <a:ext cx="2533769" cy="9525"/>
          </a:xfrm>
          <a:prstGeom prst="rect">
            <a:avLst/>
          </a:prstGeom>
          <a:solidFill>
            <a:srgbClr val="E6E2DA"/>
          </a:solidFill>
          <a:ln/>
        </p:spPr>
        <p:txBody>
          <a:bodyPr/>
          <a:lstStyle/>
          <a:p>
            <a:endParaRPr lang="en-GB"/>
          </a:p>
        </p:txBody>
      </p:sp>
      <p:sp>
        <p:nvSpPr>
          <p:cNvPr id="24" name="Text 22"/>
          <p:cNvSpPr/>
          <p:nvPr/>
        </p:nvSpPr>
        <p:spPr>
          <a:xfrm>
            <a:off x="9747647" y="5130165"/>
            <a:ext cx="2267069" cy="358140"/>
          </a:xfrm>
          <a:prstGeom prst="rect">
            <a:avLst/>
          </a:prstGeom>
          <a:noFill/>
          <a:ln/>
        </p:spPr>
        <p:txBody>
          <a:bodyPr wrap="square" lIns="25400" tIns="25400" rIns="25400" bIns="25400" rtlCol="0" anchor="ctr">
            <a:normAutofit fontScale="92500" lnSpcReduction="10000"/>
          </a:bodyPr>
          <a:lstStyle/>
          <a:p>
            <a:pPr marL="0" indent="0" algn="l">
              <a:buNone/>
            </a:pPr>
            <a:r>
              <a:rPr lang="en-US" sz="2325" dirty="0">
                <a:solidFill>
                  <a:srgbClr val="3A372F"/>
                </a:solidFill>
                <a:latin typeface="Arial" pitchFamily="34" charset="0"/>
                <a:ea typeface="Arial" pitchFamily="34" charset="-122"/>
                <a:cs typeface="Arial" pitchFamily="34" charset="-120"/>
              </a:rPr>
              <a:t>Item-CF</a:t>
            </a:r>
            <a:endParaRPr lang="en-US" sz="2325" dirty="0"/>
          </a:p>
        </p:txBody>
      </p:sp>
      <p:sp>
        <p:nvSpPr>
          <p:cNvPr id="25" name="Shape 23"/>
          <p:cNvSpPr/>
          <p:nvPr/>
        </p:nvSpPr>
        <p:spPr>
          <a:xfrm>
            <a:off x="12109967" y="5621655"/>
            <a:ext cx="2127528" cy="9525"/>
          </a:xfrm>
          <a:prstGeom prst="rect">
            <a:avLst/>
          </a:prstGeom>
          <a:solidFill>
            <a:srgbClr val="E6E2DA"/>
          </a:solidFill>
          <a:ln/>
        </p:spPr>
        <p:txBody>
          <a:bodyPr/>
          <a:lstStyle/>
          <a:p>
            <a:endParaRPr lang="en-GB"/>
          </a:p>
        </p:txBody>
      </p:sp>
      <p:sp>
        <p:nvSpPr>
          <p:cNvPr id="26" name="Text 24"/>
          <p:cNvSpPr/>
          <p:nvPr/>
        </p:nvSpPr>
        <p:spPr>
          <a:xfrm>
            <a:off x="12243317" y="5130165"/>
            <a:ext cx="1860828" cy="35814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0.115</a:t>
            </a:r>
            <a:endParaRPr lang="en-US" sz="2325" dirty="0"/>
          </a:p>
        </p:txBody>
      </p:sp>
      <p:sp>
        <p:nvSpPr>
          <p:cNvPr id="27" name="Shape 25"/>
          <p:cNvSpPr/>
          <p:nvPr/>
        </p:nvSpPr>
        <p:spPr>
          <a:xfrm>
            <a:off x="14237494" y="5621655"/>
            <a:ext cx="2328386" cy="9525"/>
          </a:xfrm>
          <a:prstGeom prst="rect">
            <a:avLst/>
          </a:prstGeom>
          <a:solidFill>
            <a:srgbClr val="E6E2DA"/>
          </a:solidFill>
          <a:ln/>
        </p:spPr>
        <p:txBody>
          <a:bodyPr/>
          <a:lstStyle/>
          <a:p>
            <a:endParaRPr lang="en-GB"/>
          </a:p>
        </p:txBody>
      </p:sp>
      <p:sp>
        <p:nvSpPr>
          <p:cNvPr id="28" name="Text 26"/>
          <p:cNvSpPr/>
          <p:nvPr/>
        </p:nvSpPr>
        <p:spPr>
          <a:xfrm>
            <a:off x="14370844" y="5130165"/>
            <a:ext cx="2061686" cy="35814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0.90</a:t>
            </a:r>
            <a:endParaRPr lang="en-US" sz="2325" dirty="0"/>
          </a:p>
        </p:txBody>
      </p:sp>
      <p:sp>
        <p:nvSpPr>
          <p:cNvPr id="29" name="Shape 27"/>
          <p:cNvSpPr/>
          <p:nvPr/>
        </p:nvSpPr>
        <p:spPr>
          <a:xfrm>
            <a:off x="9576197" y="6307455"/>
            <a:ext cx="2533769" cy="9525"/>
          </a:xfrm>
          <a:prstGeom prst="rect">
            <a:avLst/>
          </a:prstGeom>
          <a:solidFill>
            <a:srgbClr val="E6E2DA"/>
          </a:solidFill>
          <a:ln/>
        </p:spPr>
        <p:txBody>
          <a:bodyPr/>
          <a:lstStyle/>
          <a:p>
            <a:endParaRPr lang="en-GB"/>
          </a:p>
        </p:txBody>
      </p:sp>
      <p:sp>
        <p:nvSpPr>
          <p:cNvPr id="30" name="Text 28"/>
          <p:cNvSpPr/>
          <p:nvPr/>
        </p:nvSpPr>
        <p:spPr>
          <a:xfrm>
            <a:off x="9747647" y="5800725"/>
            <a:ext cx="2267069" cy="373380"/>
          </a:xfrm>
          <a:prstGeom prst="rect">
            <a:avLst/>
          </a:prstGeom>
          <a:noFill/>
          <a:ln/>
        </p:spPr>
        <p:txBody>
          <a:bodyPr wrap="square" lIns="25400" tIns="25400" rIns="25400" bIns="25400" rtlCol="0" anchor="ctr">
            <a:normAutofit lnSpcReduction="10000"/>
          </a:bodyPr>
          <a:lstStyle/>
          <a:p>
            <a:pPr marL="0" indent="0" algn="l">
              <a:buNone/>
            </a:pPr>
            <a:r>
              <a:rPr lang="en-US" sz="2325" b="1" dirty="0">
                <a:solidFill>
                  <a:srgbClr val="1A1A17"/>
                </a:solidFill>
                <a:latin typeface="Arial" pitchFamily="34" charset="0"/>
                <a:ea typeface="Arial" pitchFamily="34" charset="-122"/>
                <a:cs typeface="Arial" pitchFamily="34" charset="-120"/>
              </a:rPr>
              <a:t>Content</a:t>
            </a:r>
            <a:endParaRPr lang="en-US" sz="2325" dirty="0"/>
          </a:p>
        </p:txBody>
      </p:sp>
      <p:sp>
        <p:nvSpPr>
          <p:cNvPr id="31" name="Shape 29"/>
          <p:cNvSpPr/>
          <p:nvPr/>
        </p:nvSpPr>
        <p:spPr>
          <a:xfrm>
            <a:off x="12109967" y="6307455"/>
            <a:ext cx="2127528" cy="9525"/>
          </a:xfrm>
          <a:prstGeom prst="rect">
            <a:avLst/>
          </a:prstGeom>
          <a:solidFill>
            <a:srgbClr val="E6E2DA"/>
          </a:solidFill>
          <a:ln/>
        </p:spPr>
        <p:txBody>
          <a:bodyPr/>
          <a:lstStyle/>
          <a:p>
            <a:endParaRPr lang="en-GB"/>
          </a:p>
        </p:txBody>
      </p:sp>
      <p:sp>
        <p:nvSpPr>
          <p:cNvPr id="32" name="Text 30"/>
          <p:cNvSpPr/>
          <p:nvPr/>
        </p:nvSpPr>
        <p:spPr>
          <a:xfrm>
            <a:off x="12243317" y="5800725"/>
            <a:ext cx="1860828" cy="373380"/>
          </a:xfrm>
          <a:prstGeom prst="rect">
            <a:avLst/>
          </a:prstGeom>
          <a:noFill/>
          <a:ln/>
        </p:spPr>
        <p:txBody>
          <a:bodyPr wrap="square" lIns="25400" tIns="25400" rIns="25400" bIns="25400" rtlCol="0" anchor="ctr">
            <a:normAutofit lnSpcReduction="10000"/>
          </a:bodyPr>
          <a:lstStyle/>
          <a:p>
            <a:pPr marL="0" indent="0" algn="ctr">
              <a:buNone/>
            </a:pPr>
            <a:r>
              <a:rPr lang="en-US" sz="2325" b="1" dirty="0">
                <a:solidFill>
                  <a:srgbClr val="2F6F75"/>
                </a:solidFill>
                <a:latin typeface="Arial" pitchFamily="34" charset="0"/>
                <a:ea typeface="Arial" pitchFamily="34" charset="-122"/>
                <a:cs typeface="Arial" pitchFamily="34" charset="-120"/>
              </a:rPr>
              <a:t>0.38</a:t>
            </a:r>
            <a:endParaRPr lang="en-US" sz="2325" dirty="0"/>
          </a:p>
        </p:txBody>
      </p:sp>
      <p:sp>
        <p:nvSpPr>
          <p:cNvPr id="33" name="Shape 31"/>
          <p:cNvSpPr/>
          <p:nvPr/>
        </p:nvSpPr>
        <p:spPr>
          <a:xfrm>
            <a:off x="14237494" y="6307455"/>
            <a:ext cx="2328386" cy="9525"/>
          </a:xfrm>
          <a:prstGeom prst="rect">
            <a:avLst/>
          </a:prstGeom>
          <a:solidFill>
            <a:srgbClr val="E6E2DA"/>
          </a:solidFill>
          <a:ln/>
        </p:spPr>
        <p:txBody>
          <a:bodyPr/>
          <a:lstStyle/>
          <a:p>
            <a:endParaRPr lang="en-GB"/>
          </a:p>
        </p:txBody>
      </p:sp>
      <p:sp>
        <p:nvSpPr>
          <p:cNvPr id="34" name="Text 32"/>
          <p:cNvSpPr/>
          <p:nvPr/>
        </p:nvSpPr>
        <p:spPr>
          <a:xfrm>
            <a:off x="14370844" y="5800725"/>
            <a:ext cx="2061686" cy="373380"/>
          </a:xfrm>
          <a:prstGeom prst="rect">
            <a:avLst/>
          </a:prstGeom>
          <a:noFill/>
          <a:ln/>
        </p:spPr>
        <p:txBody>
          <a:bodyPr wrap="square" lIns="25400" tIns="25400" rIns="25400" bIns="25400" rtlCol="0" anchor="ctr">
            <a:normAutofit lnSpcReduction="10000"/>
          </a:bodyPr>
          <a:lstStyle/>
          <a:p>
            <a:pPr marL="0" indent="0" algn="ctr">
              <a:buNone/>
            </a:pPr>
            <a:r>
              <a:rPr lang="en-US" sz="2325" b="1" dirty="0">
                <a:solidFill>
                  <a:srgbClr val="2F6F75"/>
                </a:solidFill>
                <a:latin typeface="Arial" pitchFamily="34" charset="0"/>
                <a:ea typeface="Arial" pitchFamily="34" charset="-122"/>
                <a:cs typeface="Arial" pitchFamily="34" charset="-120"/>
              </a:rPr>
              <a:t>0.22</a:t>
            </a:r>
            <a:endParaRPr lang="en-US" sz="2325" dirty="0"/>
          </a:p>
        </p:txBody>
      </p:sp>
      <p:sp>
        <p:nvSpPr>
          <p:cNvPr id="35" name="Text 33"/>
          <p:cNvSpPr/>
          <p:nvPr/>
        </p:nvSpPr>
        <p:spPr>
          <a:xfrm>
            <a:off x="9747647" y="6486525"/>
            <a:ext cx="2267069" cy="361950"/>
          </a:xfrm>
          <a:prstGeom prst="rect">
            <a:avLst/>
          </a:prstGeom>
          <a:noFill/>
          <a:ln/>
        </p:spPr>
        <p:txBody>
          <a:bodyPr wrap="square" lIns="25400" tIns="25400" rIns="25400" bIns="25400" rtlCol="0" anchor="ctr">
            <a:normAutofit fontScale="92500" lnSpcReduction="10000"/>
          </a:bodyPr>
          <a:lstStyle/>
          <a:p>
            <a:pPr marL="0" indent="0" algn="l">
              <a:buNone/>
            </a:pPr>
            <a:r>
              <a:rPr lang="en-US" sz="2325" dirty="0">
                <a:solidFill>
                  <a:srgbClr val="3A372F"/>
                </a:solidFill>
                <a:latin typeface="Arial" pitchFamily="34" charset="0"/>
                <a:ea typeface="Arial" pitchFamily="34" charset="-122"/>
                <a:cs typeface="Arial" pitchFamily="34" charset="-120"/>
              </a:rPr>
              <a:t>SVD</a:t>
            </a:r>
            <a:endParaRPr lang="en-US" sz="2325" dirty="0"/>
          </a:p>
        </p:txBody>
      </p:sp>
      <p:sp>
        <p:nvSpPr>
          <p:cNvPr id="36" name="Text 34"/>
          <p:cNvSpPr/>
          <p:nvPr/>
        </p:nvSpPr>
        <p:spPr>
          <a:xfrm>
            <a:off x="12243317" y="6486525"/>
            <a:ext cx="1860828"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0.072</a:t>
            </a:r>
            <a:endParaRPr lang="en-US" sz="2325" dirty="0"/>
          </a:p>
        </p:txBody>
      </p:sp>
      <p:sp>
        <p:nvSpPr>
          <p:cNvPr id="37" name="Text 35"/>
          <p:cNvSpPr/>
          <p:nvPr/>
        </p:nvSpPr>
        <p:spPr>
          <a:xfrm>
            <a:off x="14370844" y="6486525"/>
            <a:ext cx="2061686"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0.94</a:t>
            </a:r>
            <a:endParaRPr lang="en-US" sz="2325" dirty="0"/>
          </a:p>
        </p:txBody>
      </p:sp>
      <p:sp>
        <p:nvSpPr>
          <p:cNvPr id="39" name="Text 37"/>
          <p:cNvSpPr/>
          <p:nvPr/>
        </p:nvSpPr>
        <p:spPr>
          <a:xfrm>
            <a:off x="1817741" y="8646795"/>
            <a:ext cx="14739671" cy="7848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55524C"/>
                </a:solidFill>
                <a:latin typeface="Arial" pitchFamily="34" charset="0"/>
                <a:ea typeface="Arial" pitchFamily="34" charset="-122"/>
                <a:cs typeface="Arial" pitchFamily="34" charset="-120"/>
              </a:rPr>
              <a:t>Now I understand more that it recommends the nearest look-alikes. Across all users that explores the whole catalog; for one user it's ten near-clones, so that’s why the diversity is so low.</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SURPRISE 2</a:t>
            </a:r>
            <a:endParaRPr lang="en-US" sz="1650" dirty="0"/>
          </a:p>
        </p:txBody>
      </p:sp>
      <p:sp>
        <p:nvSpPr>
          <p:cNvPr id="3" name="Text 1"/>
          <p:cNvSpPr/>
          <p:nvPr/>
        </p:nvSpPr>
        <p:spPr>
          <a:xfrm>
            <a:off x="1333500" y="1322070"/>
            <a:ext cx="17183100" cy="64389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45" dirty="0">
                <a:solidFill>
                  <a:srgbClr val="1A1A17"/>
                </a:solidFill>
                <a:latin typeface="Georgia" pitchFamily="34" charset="0"/>
                <a:ea typeface="Georgia" pitchFamily="34" charset="-122"/>
                <a:cs typeface="Georgia" pitchFamily="34" charset="-120"/>
              </a:rPr>
              <a:t>Predicting ratings well is not recommending well</a:t>
            </a:r>
            <a:endParaRPr lang="en-US" sz="4500" dirty="0"/>
          </a:p>
        </p:txBody>
      </p:sp>
      <p:sp>
        <p:nvSpPr>
          <p:cNvPr id="4" name="Shape 2"/>
          <p:cNvSpPr/>
          <p:nvPr/>
        </p:nvSpPr>
        <p:spPr>
          <a:xfrm>
            <a:off x="1333500" y="2346960"/>
            <a:ext cx="7396877" cy="2899410"/>
          </a:xfrm>
          <a:prstGeom prst="roundRect">
            <a:avLst>
              <a:gd name="adj" fmla="val 1314"/>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684020" y="2716530"/>
            <a:ext cx="7365421"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2F6F75"/>
                </a:solidFill>
                <a:latin typeface="Courier New" pitchFamily="34" charset="0"/>
                <a:ea typeface="Courier New" pitchFamily="34" charset="-122"/>
                <a:cs typeface="Courier New" pitchFamily="34" charset="-120"/>
              </a:rPr>
              <a:t>WHAT I EXPECTED</a:t>
            </a:r>
            <a:endParaRPr lang="en-US" sz="1575" dirty="0"/>
          </a:p>
        </p:txBody>
      </p:sp>
      <p:sp>
        <p:nvSpPr>
          <p:cNvPr id="6" name="Text 4"/>
          <p:cNvSpPr/>
          <p:nvPr/>
        </p:nvSpPr>
        <p:spPr>
          <a:xfrm>
            <a:off x="1684020" y="3166110"/>
            <a:ext cx="6896712" cy="861060"/>
          </a:xfrm>
          <a:prstGeom prst="rect">
            <a:avLst/>
          </a:prstGeom>
          <a:noFill/>
          <a:ln/>
        </p:spPr>
        <p:txBody>
          <a:bodyPr wrap="square" lIns="25400" tIns="25400" rIns="25400" bIns="25400" rtlCol="0" anchor="t">
            <a:normAutofit fontScale="92500" lnSpcReduction="20000"/>
          </a:bodyPr>
          <a:lstStyle/>
          <a:p>
            <a:pPr marL="0" indent="0" algn="l">
              <a:lnSpc>
                <a:spcPct val="144000"/>
              </a:lnSpc>
              <a:buNone/>
            </a:pPr>
            <a:r>
              <a:rPr lang="en-US" sz="2250" dirty="0">
                <a:solidFill>
                  <a:srgbClr val="3A372F"/>
                </a:solidFill>
                <a:latin typeface="Arial" pitchFamily="34" charset="0"/>
                <a:ea typeface="Arial" pitchFamily="34" charset="-122"/>
                <a:cs typeface="Arial" pitchFamily="34" charset="-120"/>
              </a:rPr>
              <a:t>The model with the lowest rating error should be the best recommender.</a:t>
            </a:r>
            <a:endParaRPr lang="en-US" sz="2250" dirty="0"/>
          </a:p>
        </p:txBody>
      </p:sp>
      <p:sp>
        <p:nvSpPr>
          <p:cNvPr id="7" name="Shape 5"/>
          <p:cNvSpPr/>
          <p:nvPr/>
        </p:nvSpPr>
        <p:spPr>
          <a:xfrm>
            <a:off x="1333500" y="5494020"/>
            <a:ext cx="7396877" cy="2884170"/>
          </a:xfrm>
          <a:prstGeom prst="roundRect">
            <a:avLst>
              <a:gd name="adj" fmla="val 1321"/>
            </a:avLst>
          </a:prstGeom>
          <a:solidFill>
            <a:srgbClr val="2F6F75"/>
          </a:solidFill>
          <a:ln/>
        </p:spPr>
        <p:txBody>
          <a:bodyPr/>
          <a:lstStyle/>
          <a:p>
            <a:endParaRPr lang="en-GB"/>
          </a:p>
        </p:txBody>
      </p:sp>
      <p:sp>
        <p:nvSpPr>
          <p:cNvPr id="8" name="Text 6"/>
          <p:cNvSpPr/>
          <p:nvPr/>
        </p:nvSpPr>
        <p:spPr>
          <a:xfrm>
            <a:off x="1676400" y="5855970"/>
            <a:ext cx="7382185"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FOUND</a:t>
            </a:r>
            <a:endParaRPr lang="en-US" sz="1575" dirty="0"/>
          </a:p>
        </p:txBody>
      </p:sp>
      <p:sp>
        <p:nvSpPr>
          <p:cNvPr id="9" name="Text 7"/>
          <p:cNvSpPr/>
          <p:nvPr/>
        </p:nvSpPr>
        <p:spPr>
          <a:xfrm>
            <a:off x="1676400" y="6305550"/>
            <a:ext cx="6912409" cy="1783080"/>
          </a:xfrm>
          <a:prstGeom prst="rect">
            <a:avLst/>
          </a:prstGeom>
          <a:noFill/>
          <a:ln/>
        </p:spPr>
        <p:txBody>
          <a:bodyPr wrap="square" lIns="25400" tIns="25400" rIns="25400" bIns="25400" rtlCol="0" anchor="t">
            <a:normAutofit fontScale="92500" lnSpcReduction="10000"/>
          </a:bodyPr>
          <a:lstStyle/>
          <a:p>
            <a:pPr marL="0" indent="0" algn="l">
              <a:lnSpc>
                <a:spcPct val="144000"/>
              </a:lnSpc>
              <a:buNone/>
            </a:pPr>
            <a:r>
              <a:rPr lang="en-GB" sz="2250" dirty="0">
                <a:solidFill>
                  <a:srgbClr val="FFFFFF"/>
                </a:solidFill>
                <a:latin typeface="Arial" pitchFamily="34" charset="0"/>
                <a:ea typeface="Arial" pitchFamily="34" charset="-122"/>
                <a:cs typeface="Arial" pitchFamily="34" charset="-120"/>
              </a:rPr>
              <a:t>Item-CF has the best RMSE (0.883) but a weak NDCG (0.026). And user-based CF has NDCG that is barely a third of item-CF and down at the bottom with content-based.</a:t>
            </a:r>
            <a:endParaRPr lang="en-US" sz="2250" dirty="0"/>
          </a:p>
        </p:txBody>
      </p:sp>
      <p:sp>
        <p:nvSpPr>
          <p:cNvPr id="10" name="Shape 8"/>
          <p:cNvSpPr/>
          <p:nvPr/>
        </p:nvSpPr>
        <p:spPr>
          <a:xfrm>
            <a:off x="9187577" y="2346960"/>
            <a:ext cx="7766923" cy="6031230"/>
          </a:xfrm>
          <a:prstGeom prst="roundRect">
            <a:avLst>
              <a:gd name="adj" fmla="val 632"/>
            </a:avLst>
          </a:prstGeom>
          <a:solidFill>
            <a:srgbClr val="FFFFFF"/>
          </a:solidFill>
          <a:ln w="7620">
            <a:solidFill>
              <a:srgbClr val="E6E2DA"/>
            </a:solidFill>
            <a:prstDash val="solid"/>
          </a:ln>
        </p:spPr>
        <p:txBody>
          <a:bodyPr/>
          <a:lstStyle/>
          <a:p>
            <a:endParaRPr lang="en-GB"/>
          </a:p>
        </p:txBody>
      </p:sp>
      <p:sp>
        <p:nvSpPr>
          <p:cNvPr id="11" name="Shape 9"/>
          <p:cNvSpPr/>
          <p:nvPr/>
        </p:nvSpPr>
        <p:spPr>
          <a:xfrm>
            <a:off x="9576197" y="4261485"/>
            <a:ext cx="2673191" cy="15240"/>
          </a:xfrm>
          <a:prstGeom prst="rect">
            <a:avLst/>
          </a:prstGeom>
          <a:solidFill>
            <a:srgbClr val="2F6F75"/>
          </a:solidFill>
          <a:ln/>
        </p:spPr>
        <p:txBody>
          <a:bodyPr/>
          <a:lstStyle/>
          <a:p>
            <a:endParaRPr lang="en-GB"/>
          </a:p>
        </p:txBody>
      </p:sp>
      <p:sp>
        <p:nvSpPr>
          <p:cNvPr id="12" name="Text 10"/>
          <p:cNvSpPr/>
          <p:nvPr/>
        </p:nvSpPr>
        <p:spPr>
          <a:xfrm>
            <a:off x="9747647" y="3888105"/>
            <a:ext cx="2410487" cy="259080"/>
          </a:xfrm>
          <a:prstGeom prst="rect">
            <a:avLst/>
          </a:prstGeom>
          <a:noFill/>
          <a:ln/>
        </p:spPr>
        <p:txBody>
          <a:bodyPr wrap="square" lIns="25400" tIns="25400" rIns="25400" bIns="25400" rtlCol="0" anchor="ctr">
            <a:normAutofit fontScale="92500" lnSpcReduction="20000"/>
          </a:bodyPr>
          <a:lstStyle/>
          <a:p>
            <a:pPr marL="0" indent="0" algn="l">
              <a:buNone/>
            </a:pPr>
            <a:r>
              <a:rPr lang="en-US" sz="1575" b="1" kern="0" spc="95" dirty="0">
                <a:solidFill>
                  <a:srgbClr val="2F6F75"/>
                </a:solidFill>
                <a:latin typeface="Courier New" pitchFamily="34" charset="0"/>
                <a:ea typeface="Courier New" pitchFamily="34" charset="-122"/>
                <a:cs typeface="Courier New" pitchFamily="34" charset="-120"/>
              </a:rPr>
              <a:t>METHOD</a:t>
            </a:r>
            <a:endParaRPr lang="en-US" sz="1575" dirty="0"/>
          </a:p>
        </p:txBody>
      </p:sp>
      <p:sp>
        <p:nvSpPr>
          <p:cNvPr id="13" name="Shape 11"/>
          <p:cNvSpPr/>
          <p:nvPr/>
        </p:nvSpPr>
        <p:spPr>
          <a:xfrm>
            <a:off x="12249388" y="4261485"/>
            <a:ext cx="2001441" cy="15240"/>
          </a:xfrm>
          <a:prstGeom prst="rect">
            <a:avLst/>
          </a:prstGeom>
          <a:solidFill>
            <a:srgbClr val="2F6F75"/>
          </a:solidFill>
          <a:ln/>
        </p:spPr>
        <p:txBody>
          <a:bodyPr/>
          <a:lstStyle/>
          <a:p>
            <a:endParaRPr lang="en-GB"/>
          </a:p>
        </p:txBody>
      </p:sp>
      <p:sp>
        <p:nvSpPr>
          <p:cNvPr id="14" name="Text 12"/>
          <p:cNvSpPr/>
          <p:nvPr/>
        </p:nvSpPr>
        <p:spPr>
          <a:xfrm>
            <a:off x="12382738" y="3888105"/>
            <a:ext cx="1734741" cy="259080"/>
          </a:xfrm>
          <a:prstGeom prst="rect">
            <a:avLst/>
          </a:prstGeom>
          <a:noFill/>
          <a:ln/>
        </p:spPr>
        <p:txBody>
          <a:bodyPr wrap="square" lIns="25400" tIns="25400" rIns="25400" bIns="25400" rtlCol="0" anchor="ctr">
            <a:normAutofit fontScale="92500" lnSpcReduction="20000"/>
          </a:bodyPr>
          <a:lstStyle/>
          <a:p>
            <a:pPr marL="0" indent="0" algn="ctr">
              <a:buNone/>
            </a:pPr>
            <a:r>
              <a:rPr lang="en-US" sz="1575" b="1" kern="0" spc="95" dirty="0">
                <a:solidFill>
                  <a:srgbClr val="2F6F75"/>
                </a:solidFill>
                <a:latin typeface="Courier New" pitchFamily="34" charset="0"/>
                <a:ea typeface="Courier New" pitchFamily="34" charset="-122"/>
                <a:cs typeface="Courier New" pitchFamily="34" charset="-120"/>
              </a:rPr>
              <a:t>RMSE</a:t>
            </a:r>
            <a:endParaRPr lang="en-US" sz="1575" dirty="0"/>
          </a:p>
        </p:txBody>
      </p:sp>
      <p:sp>
        <p:nvSpPr>
          <p:cNvPr id="15" name="Shape 13"/>
          <p:cNvSpPr/>
          <p:nvPr/>
        </p:nvSpPr>
        <p:spPr>
          <a:xfrm>
            <a:off x="14250829" y="4261485"/>
            <a:ext cx="2315051" cy="15240"/>
          </a:xfrm>
          <a:prstGeom prst="rect">
            <a:avLst/>
          </a:prstGeom>
          <a:solidFill>
            <a:srgbClr val="2F6F75"/>
          </a:solidFill>
          <a:ln/>
        </p:spPr>
        <p:txBody>
          <a:bodyPr/>
          <a:lstStyle/>
          <a:p>
            <a:endParaRPr lang="en-GB"/>
          </a:p>
        </p:txBody>
      </p:sp>
      <p:sp>
        <p:nvSpPr>
          <p:cNvPr id="16" name="Text 14"/>
          <p:cNvSpPr/>
          <p:nvPr/>
        </p:nvSpPr>
        <p:spPr>
          <a:xfrm>
            <a:off x="14384179" y="3888105"/>
            <a:ext cx="2048351" cy="259080"/>
          </a:xfrm>
          <a:prstGeom prst="rect">
            <a:avLst/>
          </a:prstGeom>
          <a:noFill/>
          <a:ln/>
        </p:spPr>
        <p:txBody>
          <a:bodyPr wrap="square" lIns="25400" tIns="25400" rIns="25400" bIns="25400" rtlCol="0" anchor="ctr">
            <a:normAutofit fontScale="92500" lnSpcReduction="20000"/>
          </a:bodyPr>
          <a:lstStyle/>
          <a:p>
            <a:pPr marL="0" indent="0" algn="ctr">
              <a:buNone/>
            </a:pPr>
            <a:r>
              <a:rPr lang="en-US" sz="1575" b="1" kern="0" spc="95" dirty="0">
                <a:solidFill>
                  <a:srgbClr val="2F6F75"/>
                </a:solidFill>
                <a:latin typeface="Courier New" pitchFamily="34" charset="0"/>
                <a:ea typeface="Courier New" pitchFamily="34" charset="-122"/>
                <a:cs typeface="Courier New" pitchFamily="34" charset="-120"/>
              </a:rPr>
              <a:t>NDCG@10</a:t>
            </a:r>
            <a:endParaRPr lang="en-US" sz="1575" dirty="0"/>
          </a:p>
        </p:txBody>
      </p:sp>
      <p:sp>
        <p:nvSpPr>
          <p:cNvPr id="17" name="Shape 15"/>
          <p:cNvSpPr/>
          <p:nvPr/>
        </p:nvSpPr>
        <p:spPr>
          <a:xfrm>
            <a:off x="9576197" y="4943475"/>
            <a:ext cx="2673191" cy="9525"/>
          </a:xfrm>
          <a:prstGeom prst="rect">
            <a:avLst/>
          </a:prstGeom>
          <a:solidFill>
            <a:srgbClr val="E6E2DA"/>
          </a:solidFill>
          <a:ln/>
        </p:spPr>
        <p:txBody>
          <a:bodyPr/>
          <a:lstStyle/>
          <a:p>
            <a:endParaRPr lang="en-GB"/>
          </a:p>
        </p:txBody>
      </p:sp>
      <p:sp>
        <p:nvSpPr>
          <p:cNvPr id="18" name="Text 16"/>
          <p:cNvSpPr/>
          <p:nvPr/>
        </p:nvSpPr>
        <p:spPr>
          <a:xfrm>
            <a:off x="9747647" y="4448175"/>
            <a:ext cx="2410487" cy="361950"/>
          </a:xfrm>
          <a:prstGeom prst="rect">
            <a:avLst/>
          </a:prstGeom>
          <a:noFill/>
          <a:ln/>
        </p:spPr>
        <p:txBody>
          <a:bodyPr wrap="square" lIns="25400" tIns="25400" rIns="25400" bIns="25400" rtlCol="0" anchor="ctr">
            <a:normAutofit fontScale="92500" lnSpcReduction="10000"/>
          </a:bodyPr>
          <a:lstStyle/>
          <a:p>
            <a:pPr marL="0" indent="0" algn="l">
              <a:buNone/>
            </a:pPr>
            <a:r>
              <a:rPr lang="en-US" sz="2325" dirty="0">
                <a:solidFill>
                  <a:srgbClr val="3A372F"/>
                </a:solidFill>
                <a:latin typeface="Arial" pitchFamily="34" charset="0"/>
                <a:ea typeface="Arial" pitchFamily="34" charset="-122"/>
                <a:cs typeface="Arial" pitchFamily="34" charset="-120"/>
              </a:rPr>
              <a:t>User-CF</a:t>
            </a:r>
            <a:endParaRPr lang="en-US" sz="2325" dirty="0"/>
          </a:p>
        </p:txBody>
      </p:sp>
      <p:sp>
        <p:nvSpPr>
          <p:cNvPr id="19" name="Shape 17"/>
          <p:cNvSpPr/>
          <p:nvPr/>
        </p:nvSpPr>
        <p:spPr>
          <a:xfrm>
            <a:off x="12249388" y="4943475"/>
            <a:ext cx="2001441" cy="9525"/>
          </a:xfrm>
          <a:prstGeom prst="rect">
            <a:avLst/>
          </a:prstGeom>
          <a:solidFill>
            <a:srgbClr val="E6E2DA"/>
          </a:solidFill>
          <a:ln/>
        </p:spPr>
        <p:txBody>
          <a:bodyPr/>
          <a:lstStyle/>
          <a:p>
            <a:endParaRPr lang="en-GB"/>
          </a:p>
        </p:txBody>
      </p:sp>
      <p:sp>
        <p:nvSpPr>
          <p:cNvPr id="20" name="Text 18"/>
          <p:cNvSpPr/>
          <p:nvPr/>
        </p:nvSpPr>
        <p:spPr>
          <a:xfrm>
            <a:off x="12382738" y="4448175"/>
            <a:ext cx="1734741"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0.946</a:t>
            </a:r>
            <a:endParaRPr lang="en-US" sz="2325" dirty="0"/>
          </a:p>
        </p:txBody>
      </p:sp>
      <p:sp>
        <p:nvSpPr>
          <p:cNvPr id="21" name="Shape 19"/>
          <p:cNvSpPr/>
          <p:nvPr/>
        </p:nvSpPr>
        <p:spPr>
          <a:xfrm>
            <a:off x="14250829" y="4943475"/>
            <a:ext cx="2315051" cy="9525"/>
          </a:xfrm>
          <a:prstGeom prst="rect">
            <a:avLst/>
          </a:prstGeom>
          <a:solidFill>
            <a:srgbClr val="E6E2DA"/>
          </a:solidFill>
          <a:ln/>
        </p:spPr>
        <p:txBody>
          <a:bodyPr/>
          <a:lstStyle/>
          <a:p>
            <a:endParaRPr lang="en-GB"/>
          </a:p>
        </p:txBody>
      </p:sp>
      <p:sp>
        <p:nvSpPr>
          <p:cNvPr id="22" name="Text 20"/>
          <p:cNvSpPr/>
          <p:nvPr/>
        </p:nvSpPr>
        <p:spPr>
          <a:xfrm>
            <a:off x="14384179" y="4448175"/>
            <a:ext cx="2048351" cy="36195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0.009</a:t>
            </a:r>
            <a:endParaRPr lang="en-US" sz="2325" dirty="0"/>
          </a:p>
        </p:txBody>
      </p:sp>
      <p:sp>
        <p:nvSpPr>
          <p:cNvPr id="23" name="Shape 21"/>
          <p:cNvSpPr/>
          <p:nvPr/>
        </p:nvSpPr>
        <p:spPr>
          <a:xfrm>
            <a:off x="9576197" y="5629275"/>
            <a:ext cx="2673191" cy="9525"/>
          </a:xfrm>
          <a:prstGeom prst="rect">
            <a:avLst/>
          </a:prstGeom>
          <a:solidFill>
            <a:srgbClr val="E6E2DA"/>
          </a:solidFill>
          <a:ln/>
        </p:spPr>
        <p:txBody>
          <a:bodyPr/>
          <a:lstStyle/>
          <a:p>
            <a:endParaRPr lang="en-GB"/>
          </a:p>
        </p:txBody>
      </p:sp>
      <p:sp>
        <p:nvSpPr>
          <p:cNvPr id="24" name="Text 22"/>
          <p:cNvSpPr/>
          <p:nvPr/>
        </p:nvSpPr>
        <p:spPr>
          <a:xfrm>
            <a:off x="9747647" y="5122545"/>
            <a:ext cx="2410487" cy="373380"/>
          </a:xfrm>
          <a:prstGeom prst="rect">
            <a:avLst/>
          </a:prstGeom>
          <a:noFill/>
          <a:ln/>
        </p:spPr>
        <p:txBody>
          <a:bodyPr wrap="square" lIns="25400" tIns="25400" rIns="25400" bIns="25400" rtlCol="0" anchor="ctr">
            <a:normAutofit lnSpcReduction="10000"/>
          </a:bodyPr>
          <a:lstStyle/>
          <a:p>
            <a:pPr marL="0" indent="0" algn="l">
              <a:buNone/>
            </a:pPr>
            <a:r>
              <a:rPr lang="en-US" sz="2325" b="1" dirty="0">
                <a:solidFill>
                  <a:srgbClr val="1A1A17"/>
                </a:solidFill>
                <a:latin typeface="Arial" pitchFamily="34" charset="0"/>
                <a:ea typeface="Arial" pitchFamily="34" charset="-122"/>
                <a:cs typeface="Arial" pitchFamily="34" charset="-120"/>
              </a:rPr>
              <a:t>Item-CF</a:t>
            </a:r>
            <a:endParaRPr lang="en-US" sz="2325" dirty="0"/>
          </a:p>
        </p:txBody>
      </p:sp>
      <p:sp>
        <p:nvSpPr>
          <p:cNvPr id="25" name="Shape 23"/>
          <p:cNvSpPr/>
          <p:nvPr/>
        </p:nvSpPr>
        <p:spPr>
          <a:xfrm>
            <a:off x="12249388" y="5629275"/>
            <a:ext cx="2001441" cy="9525"/>
          </a:xfrm>
          <a:prstGeom prst="rect">
            <a:avLst/>
          </a:prstGeom>
          <a:solidFill>
            <a:srgbClr val="E6E2DA"/>
          </a:solidFill>
          <a:ln/>
        </p:spPr>
        <p:txBody>
          <a:bodyPr/>
          <a:lstStyle/>
          <a:p>
            <a:endParaRPr lang="en-GB"/>
          </a:p>
        </p:txBody>
      </p:sp>
      <p:sp>
        <p:nvSpPr>
          <p:cNvPr id="26" name="Text 24"/>
          <p:cNvSpPr/>
          <p:nvPr/>
        </p:nvSpPr>
        <p:spPr>
          <a:xfrm>
            <a:off x="12382738" y="5122545"/>
            <a:ext cx="1734741" cy="373380"/>
          </a:xfrm>
          <a:prstGeom prst="rect">
            <a:avLst/>
          </a:prstGeom>
          <a:noFill/>
          <a:ln/>
        </p:spPr>
        <p:txBody>
          <a:bodyPr wrap="square" lIns="25400" tIns="25400" rIns="25400" bIns="25400" rtlCol="0" anchor="ctr">
            <a:normAutofit lnSpcReduction="10000"/>
          </a:bodyPr>
          <a:lstStyle/>
          <a:p>
            <a:pPr marL="0" indent="0" algn="ctr">
              <a:buNone/>
            </a:pPr>
            <a:r>
              <a:rPr lang="en-US" sz="2325" b="1" dirty="0">
                <a:solidFill>
                  <a:srgbClr val="2F6F75"/>
                </a:solidFill>
                <a:latin typeface="Arial" pitchFamily="34" charset="0"/>
                <a:ea typeface="Arial" pitchFamily="34" charset="-122"/>
                <a:cs typeface="Arial" pitchFamily="34" charset="-120"/>
              </a:rPr>
              <a:t>0.883</a:t>
            </a:r>
            <a:endParaRPr lang="en-US" sz="2325" dirty="0"/>
          </a:p>
        </p:txBody>
      </p:sp>
      <p:sp>
        <p:nvSpPr>
          <p:cNvPr id="27" name="Shape 25"/>
          <p:cNvSpPr/>
          <p:nvPr/>
        </p:nvSpPr>
        <p:spPr>
          <a:xfrm>
            <a:off x="14250829" y="5629275"/>
            <a:ext cx="2315051" cy="9525"/>
          </a:xfrm>
          <a:prstGeom prst="rect">
            <a:avLst/>
          </a:prstGeom>
          <a:solidFill>
            <a:srgbClr val="E6E2DA"/>
          </a:solidFill>
          <a:ln/>
        </p:spPr>
        <p:txBody>
          <a:bodyPr/>
          <a:lstStyle/>
          <a:p>
            <a:endParaRPr lang="en-GB"/>
          </a:p>
        </p:txBody>
      </p:sp>
      <p:sp>
        <p:nvSpPr>
          <p:cNvPr id="28" name="Text 26"/>
          <p:cNvSpPr/>
          <p:nvPr/>
        </p:nvSpPr>
        <p:spPr>
          <a:xfrm>
            <a:off x="14384179" y="5122545"/>
            <a:ext cx="2048351" cy="373380"/>
          </a:xfrm>
          <a:prstGeom prst="rect">
            <a:avLst/>
          </a:prstGeom>
          <a:noFill/>
          <a:ln/>
        </p:spPr>
        <p:txBody>
          <a:bodyPr wrap="square" lIns="25400" tIns="25400" rIns="25400" bIns="25400" rtlCol="0" anchor="ctr">
            <a:normAutofit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0.026</a:t>
            </a:r>
            <a:endParaRPr lang="en-US" sz="2325" dirty="0"/>
          </a:p>
        </p:txBody>
      </p:sp>
      <p:sp>
        <p:nvSpPr>
          <p:cNvPr id="29" name="Shape 27"/>
          <p:cNvSpPr/>
          <p:nvPr/>
        </p:nvSpPr>
        <p:spPr>
          <a:xfrm>
            <a:off x="9576197" y="6299835"/>
            <a:ext cx="2673191" cy="9525"/>
          </a:xfrm>
          <a:prstGeom prst="rect">
            <a:avLst/>
          </a:prstGeom>
          <a:solidFill>
            <a:srgbClr val="E6E2DA"/>
          </a:solidFill>
          <a:ln/>
        </p:spPr>
        <p:txBody>
          <a:bodyPr/>
          <a:lstStyle/>
          <a:p>
            <a:endParaRPr lang="en-GB"/>
          </a:p>
        </p:txBody>
      </p:sp>
      <p:sp>
        <p:nvSpPr>
          <p:cNvPr id="30" name="Text 28"/>
          <p:cNvSpPr/>
          <p:nvPr/>
        </p:nvSpPr>
        <p:spPr>
          <a:xfrm>
            <a:off x="9747647" y="5808345"/>
            <a:ext cx="2410487" cy="358140"/>
          </a:xfrm>
          <a:prstGeom prst="rect">
            <a:avLst/>
          </a:prstGeom>
          <a:noFill/>
          <a:ln/>
        </p:spPr>
        <p:txBody>
          <a:bodyPr wrap="square" lIns="25400" tIns="25400" rIns="25400" bIns="25400" rtlCol="0" anchor="ctr">
            <a:normAutofit fontScale="92500" lnSpcReduction="10000"/>
          </a:bodyPr>
          <a:lstStyle/>
          <a:p>
            <a:pPr marL="0" indent="0" algn="l">
              <a:buNone/>
            </a:pPr>
            <a:r>
              <a:rPr lang="en-US" sz="2325" dirty="0">
                <a:solidFill>
                  <a:srgbClr val="3A372F"/>
                </a:solidFill>
                <a:latin typeface="Arial" pitchFamily="34" charset="0"/>
                <a:ea typeface="Arial" pitchFamily="34" charset="-122"/>
                <a:cs typeface="Arial" pitchFamily="34" charset="-120"/>
              </a:rPr>
              <a:t>Content</a:t>
            </a:r>
            <a:endParaRPr lang="en-US" sz="2325" dirty="0"/>
          </a:p>
        </p:txBody>
      </p:sp>
      <p:sp>
        <p:nvSpPr>
          <p:cNvPr id="31" name="Shape 29"/>
          <p:cNvSpPr/>
          <p:nvPr/>
        </p:nvSpPr>
        <p:spPr>
          <a:xfrm>
            <a:off x="12249388" y="6299835"/>
            <a:ext cx="2001441" cy="9525"/>
          </a:xfrm>
          <a:prstGeom prst="rect">
            <a:avLst/>
          </a:prstGeom>
          <a:solidFill>
            <a:srgbClr val="E6E2DA"/>
          </a:solidFill>
          <a:ln/>
        </p:spPr>
        <p:txBody>
          <a:bodyPr/>
          <a:lstStyle/>
          <a:p>
            <a:endParaRPr lang="en-GB"/>
          </a:p>
        </p:txBody>
      </p:sp>
      <p:sp>
        <p:nvSpPr>
          <p:cNvPr id="32" name="Text 30"/>
          <p:cNvSpPr/>
          <p:nvPr/>
        </p:nvSpPr>
        <p:spPr>
          <a:xfrm>
            <a:off x="12382738" y="5808345"/>
            <a:ext cx="1734741" cy="35814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9A968D"/>
                </a:solidFill>
                <a:latin typeface="Arial" pitchFamily="34" charset="0"/>
                <a:ea typeface="Arial" pitchFamily="34" charset="-122"/>
                <a:cs typeface="Arial" pitchFamily="34" charset="-120"/>
              </a:rPr>
              <a:t>—</a:t>
            </a:r>
            <a:endParaRPr lang="en-US" sz="2325" dirty="0"/>
          </a:p>
        </p:txBody>
      </p:sp>
      <p:sp>
        <p:nvSpPr>
          <p:cNvPr id="33" name="Shape 31"/>
          <p:cNvSpPr/>
          <p:nvPr/>
        </p:nvSpPr>
        <p:spPr>
          <a:xfrm>
            <a:off x="14250829" y="6299835"/>
            <a:ext cx="2315051" cy="9525"/>
          </a:xfrm>
          <a:prstGeom prst="rect">
            <a:avLst/>
          </a:prstGeom>
          <a:solidFill>
            <a:srgbClr val="E6E2DA"/>
          </a:solidFill>
          <a:ln/>
        </p:spPr>
        <p:txBody>
          <a:bodyPr/>
          <a:lstStyle/>
          <a:p>
            <a:endParaRPr lang="en-GB"/>
          </a:p>
        </p:txBody>
      </p:sp>
      <p:sp>
        <p:nvSpPr>
          <p:cNvPr id="34" name="Text 32"/>
          <p:cNvSpPr/>
          <p:nvPr/>
        </p:nvSpPr>
        <p:spPr>
          <a:xfrm>
            <a:off x="14384179" y="5808345"/>
            <a:ext cx="2048351" cy="358140"/>
          </a:xfrm>
          <a:prstGeom prst="rect">
            <a:avLst/>
          </a:prstGeom>
          <a:noFill/>
          <a:ln/>
        </p:spPr>
        <p:txBody>
          <a:bodyPr wrap="square" lIns="25400" tIns="25400" rIns="25400" bIns="25400" rtlCol="0" anchor="ctr">
            <a:normAutofit fontScale="92500"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0.008</a:t>
            </a:r>
            <a:endParaRPr lang="en-US" sz="2325" dirty="0"/>
          </a:p>
        </p:txBody>
      </p:sp>
      <p:sp>
        <p:nvSpPr>
          <p:cNvPr id="35" name="Text 33"/>
          <p:cNvSpPr/>
          <p:nvPr/>
        </p:nvSpPr>
        <p:spPr>
          <a:xfrm>
            <a:off x="9747647" y="6478905"/>
            <a:ext cx="2410487" cy="377190"/>
          </a:xfrm>
          <a:prstGeom prst="rect">
            <a:avLst/>
          </a:prstGeom>
          <a:noFill/>
          <a:ln/>
        </p:spPr>
        <p:txBody>
          <a:bodyPr wrap="square" lIns="25400" tIns="25400" rIns="25400" bIns="25400" rtlCol="0" anchor="ctr">
            <a:normAutofit lnSpcReduction="10000"/>
          </a:bodyPr>
          <a:lstStyle/>
          <a:p>
            <a:pPr marL="0" indent="0" algn="l">
              <a:buNone/>
            </a:pPr>
            <a:r>
              <a:rPr lang="en-US" sz="2325" b="1" dirty="0">
                <a:solidFill>
                  <a:srgbClr val="1A1A17"/>
                </a:solidFill>
                <a:latin typeface="Arial" pitchFamily="34" charset="0"/>
                <a:ea typeface="Arial" pitchFamily="34" charset="-122"/>
                <a:cs typeface="Arial" pitchFamily="34" charset="-120"/>
              </a:rPr>
              <a:t>SVD</a:t>
            </a:r>
            <a:endParaRPr lang="en-US" sz="2325" dirty="0"/>
          </a:p>
        </p:txBody>
      </p:sp>
      <p:sp>
        <p:nvSpPr>
          <p:cNvPr id="36" name="Text 34"/>
          <p:cNvSpPr/>
          <p:nvPr/>
        </p:nvSpPr>
        <p:spPr>
          <a:xfrm>
            <a:off x="12382738" y="6478905"/>
            <a:ext cx="1734741" cy="377190"/>
          </a:xfrm>
          <a:prstGeom prst="rect">
            <a:avLst/>
          </a:prstGeom>
          <a:noFill/>
          <a:ln/>
        </p:spPr>
        <p:txBody>
          <a:bodyPr wrap="square" lIns="25400" tIns="25400" rIns="25400" bIns="25400" rtlCol="0" anchor="ctr">
            <a:normAutofit lnSpcReduction="10000"/>
          </a:bodyPr>
          <a:lstStyle/>
          <a:p>
            <a:pPr marL="0" indent="0" algn="ctr">
              <a:buNone/>
            </a:pPr>
            <a:r>
              <a:rPr lang="en-US" sz="2325" dirty="0">
                <a:solidFill>
                  <a:srgbClr val="3A372F"/>
                </a:solidFill>
                <a:latin typeface="Arial" pitchFamily="34" charset="0"/>
                <a:ea typeface="Arial" pitchFamily="34" charset="-122"/>
                <a:cs typeface="Arial" pitchFamily="34" charset="-120"/>
              </a:rPr>
              <a:t>0.950</a:t>
            </a:r>
            <a:endParaRPr lang="en-US" sz="2325" dirty="0"/>
          </a:p>
        </p:txBody>
      </p:sp>
      <p:sp>
        <p:nvSpPr>
          <p:cNvPr id="37" name="Text 35"/>
          <p:cNvSpPr/>
          <p:nvPr/>
        </p:nvSpPr>
        <p:spPr>
          <a:xfrm>
            <a:off x="14384179" y="6478905"/>
            <a:ext cx="2048351" cy="377190"/>
          </a:xfrm>
          <a:prstGeom prst="rect">
            <a:avLst/>
          </a:prstGeom>
          <a:noFill/>
          <a:ln/>
        </p:spPr>
        <p:txBody>
          <a:bodyPr wrap="square" lIns="25400" tIns="25400" rIns="25400" bIns="25400" rtlCol="0" anchor="ctr">
            <a:normAutofit lnSpcReduction="10000"/>
          </a:bodyPr>
          <a:lstStyle/>
          <a:p>
            <a:pPr marL="0" indent="0" algn="ctr">
              <a:buNone/>
            </a:pPr>
            <a:r>
              <a:rPr lang="en-US" sz="2325" b="1" dirty="0">
                <a:solidFill>
                  <a:srgbClr val="2F6F75"/>
                </a:solidFill>
                <a:latin typeface="Arial" pitchFamily="34" charset="0"/>
                <a:ea typeface="Arial" pitchFamily="34" charset="-122"/>
                <a:cs typeface="Arial" pitchFamily="34" charset="-120"/>
              </a:rPr>
              <a:t>0.083</a:t>
            </a:r>
            <a:endParaRPr lang="en-US" sz="23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800100"/>
            <a:ext cx="176022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ALL SIX, ALL METRICS</a:t>
            </a:r>
            <a:endParaRPr lang="en-US" sz="1650" dirty="0"/>
          </a:p>
        </p:txBody>
      </p:sp>
      <p:sp>
        <p:nvSpPr>
          <p:cNvPr id="3" name="Text 1"/>
          <p:cNvSpPr/>
          <p:nvPr/>
        </p:nvSpPr>
        <p:spPr>
          <a:xfrm>
            <a:off x="1143000" y="1245870"/>
            <a:ext cx="17602200" cy="61817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350" kern="0" spc="-43" dirty="0">
                <a:solidFill>
                  <a:srgbClr val="1A1A17"/>
                </a:solidFill>
                <a:latin typeface="Georgia" pitchFamily="34" charset="0"/>
                <a:ea typeface="Georgia" pitchFamily="34" charset="-122"/>
                <a:cs typeface="Georgia" pitchFamily="34" charset="-120"/>
              </a:rPr>
              <a:t>The whole picture</a:t>
            </a:r>
            <a:endParaRPr lang="en-US" sz="4350" dirty="0"/>
          </a:p>
        </p:txBody>
      </p:sp>
      <p:sp>
        <p:nvSpPr>
          <p:cNvPr id="4" name="Shape 2"/>
          <p:cNvSpPr/>
          <p:nvPr/>
        </p:nvSpPr>
        <p:spPr>
          <a:xfrm>
            <a:off x="1143000" y="2187892"/>
            <a:ext cx="16002000" cy="4450080"/>
          </a:xfrm>
          <a:prstGeom prst="roundRect">
            <a:avLst>
              <a:gd name="adj" fmla="val 856"/>
            </a:avLst>
          </a:prstGeom>
          <a:solidFill>
            <a:srgbClr val="FFFFFF"/>
          </a:solidFill>
          <a:ln w="7620">
            <a:solidFill>
              <a:srgbClr val="E6E2DA"/>
            </a:solidFill>
            <a:prstDash val="solid"/>
          </a:ln>
        </p:spPr>
        <p:txBody>
          <a:bodyPr/>
          <a:lstStyle/>
          <a:p>
            <a:endParaRPr lang="en-GB"/>
          </a:p>
        </p:txBody>
      </p:sp>
      <p:sp>
        <p:nvSpPr>
          <p:cNvPr id="5" name="Shape 3"/>
          <p:cNvSpPr/>
          <p:nvPr/>
        </p:nvSpPr>
        <p:spPr>
          <a:xfrm>
            <a:off x="1493520" y="2847023"/>
            <a:ext cx="3347680" cy="15240"/>
          </a:xfrm>
          <a:prstGeom prst="rect">
            <a:avLst/>
          </a:prstGeom>
          <a:solidFill>
            <a:srgbClr val="2F6F75"/>
          </a:solidFill>
          <a:ln/>
        </p:spPr>
        <p:txBody>
          <a:bodyPr/>
          <a:lstStyle/>
          <a:p>
            <a:endParaRPr lang="en-GB"/>
          </a:p>
        </p:txBody>
      </p:sp>
      <p:sp>
        <p:nvSpPr>
          <p:cNvPr id="6" name="Text 4"/>
          <p:cNvSpPr/>
          <p:nvPr/>
        </p:nvSpPr>
        <p:spPr>
          <a:xfrm>
            <a:off x="1626870" y="2481263"/>
            <a:ext cx="3181411" cy="251460"/>
          </a:xfrm>
          <a:prstGeom prst="rect">
            <a:avLst/>
          </a:prstGeom>
          <a:noFill/>
          <a:ln/>
        </p:spPr>
        <p:txBody>
          <a:bodyPr wrap="square" lIns="25400" tIns="25400" rIns="25400" bIns="25400" rtlCol="0" anchor="ctr">
            <a:normAutofit fontScale="92500" lnSpcReduction="10000"/>
          </a:bodyPr>
          <a:lstStyle/>
          <a:p>
            <a:pPr marL="0" indent="0" algn="l">
              <a:buNone/>
            </a:pPr>
            <a:r>
              <a:rPr lang="en-US" sz="1500" b="1" kern="0" spc="60" dirty="0">
                <a:solidFill>
                  <a:srgbClr val="2F6F75"/>
                </a:solidFill>
                <a:latin typeface="Courier New" pitchFamily="34" charset="0"/>
                <a:ea typeface="Courier New" pitchFamily="34" charset="-122"/>
                <a:cs typeface="Courier New" pitchFamily="34" charset="-120"/>
              </a:rPr>
              <a:t>METHOD</a:t>
            </a:r>
            <a:endParaRPr lang="en-US" sz="1500" dirty="0"/>
          </a:p>
        </p:txBody>
      </p:sp>
      <p:sp>
        <p:nvSpPr>
          <p:cNvPr id="7" name="Shape 5"/>
          <p:cNvSpPr/>
          <p:nvPr/>
        </p:nvSpPr>
        <p:spPr>
          <a:xfrm>
            <a:off x="4841200" y="2847023"/>
            <a:ext cx="1930122" cy="15240"/>
          </a:xfrm>
          <a:prstGeom prst="rect">
            <a:avLst/>
          </a:prstGeom>
          <a:solidFill>
            <a:srgbClr val="2F6F75"/>
          </a:solidFill>
          <a:ln/>
        </p:spPr>
        <p:txBody>
          <a:bodyPr/>
          <a:lstStyle/>
          <a:p>
            <a:endParaRPr lang="en-GB"/>
          </a:p>
        </p:txBody>
      </p:sp>
      <p:sp>
        <p:nvSpPr>
          <p:cNvPr id="8" name="Text 6"/>
          <p:cNvSpPr/>
          <p:nvPr/>
        </p:nvSpPr>
        <p:spPr>
          <a:xfrm>
            <a:off x="4936450" y="2481263"/>
            <a:ext cx="1739622"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PREC@10</a:t>
            </a:r>
            <a:endParaRPr lang="en-US" sz="1500" dirty="0"/>
          </a:p>
        </p:txBody>
      </p:sp>
      <p:sp>
        <p:nvSpPr>
          <p:cNvPr id="9" name="Shape 7"/>
          <p:cNvSpPr/>
          <p:nvPr/>
        </p:nvSpPr>
        <p:spPr>
          <a:xfrm>
            <a:off x="6771323" y="2847023"/>
            <a:ext cx="1930122" cy="15240"/>
          </a:xfrm>
          <a:prstGeom prst="rect">
            <a:avLst/>
          </a:prstGeom>
          <a:solidFill>
            <a:srgbClr val="2F6F75"/>
          </a:solidFill>
          <a:ln/>
        </p:spPr>
        <p:txBody>
          <a:bodyPr/>
          <a:lstStyle/>
          <a:p>
            <a:endParaRPr lang="en-GB"/>
          </a:p>
        </p:txBody>
      </p:sp>
      <p:sp>
        <p:nvSpPr>
          <p:cNvPr id="10" name="Text 8"/>
          <p:cNvSpPr/>
          <p:nvPr/>
        </p:nvSpPr>
        <p:spPr>
          <a:xfrm>
            <a:off x="6866573" y="2481263"/>
            <a:ext cx="1739622"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NDCG@10</a:t>
            </a:r>
            <a:endParaRPr lang="en-US" sz="1500" dirty="0"/>
          </a:p>
        </p:txBody>
      </p:sp>
      <p:sp>
        <p:nvSpPr>
          <p:cNvPr id="11" name="Shape 9"/>
          <p:cNvSpPr/>
          <p:nvPr/>
        </p:nvSpPr>
        <p:spPr>
          <a:xfrm>
            <a:off x="8701445" y="2847023"/>
            <a:ext cx="1672471" cy="15240"/>
          </a:xfrm>
          <a:prstGeom prst="rect">
            <a:avLst/>
          </a:prstGeom>
          <a:solidFill>
            <a:srgbClr val="2F6F75"/>
          </a:solidFill>
          <a:ln/>
        </p:spPr>
        <p:txBody>
          <a:bodyPr/>
          <a:lstStyle/>
          <a:p>
            <a:endParaRPr lang="en-GB"/>
          </a:p>
        </p:txBody>
      </p:sp>
      <p:sp>
        <p:nvSpPr>
          <p:cNvPr id="12" name="Text 10"/>
          <p:cNvSpPr/>
          <p:nvPr/>
        </p:nvSpPr>
        <p:spPr>
          <a:xfrm>
            <a:off x="8796695" y="2481263"/>
            <a:ext cx="1481971"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RMSE</a:t>
            </a:r>
            <a:endParaRPr lang="en-US" sz="1500" dirty="0"/>
          </a:p>
        </p:txBody>
      </p:sp>
      <p:sp>
        <p:nvSpPr>
          <p:cNvPr id="13" name="Shape 11"/>
          <p:cNvSpPr/>
          <p:nvPr/>
        </p:nvSpPr>
        <p:spPr>
          <a:xfrm>
            <a:off x="10373916" y="2847023"/>
            <a:ext cx="2140148" cy="15240"/>
          </a:xfrm>
          <a:prstGeom prst="rect">
            <a:avLst/>
          </a:prstGeom>
          <a:solidFill>
            <a:srgbClr val="2F6F75"/>
          </a:solidFill>
          <a:ln/>
        </p:spPr>
        <p:txBody>
          <a:bodyPr/>
          <a:lstStyle/>
          <a:p>
            <a:endParaRPr lang="en-GB"/>
          </a:p>
        </p:txBody>
      </p:sp>
      <p:sp>
        <p:nvSpPr>
          <p:cNvPr id="14" name="Text 12"/>
          <p:cNvSpPr/>
          <p:nvPr/>
        </p:nvSpPr>
        <p:spPr>
          <a:xfrm>
            <a:off x="10469166" y="2481263"/>
            <a:ext cx="1949648"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COVERAGE</a:t>
            </a:r>
            <a:endParaRPr lang="en-US" sz="1500" dirty="0"/>
          </a:p>
        </p:txBody>
      </p:sp>
      <p:sp>
        <p:nvSpPr>
          <p:cNvPr id="15" name="Shape 13"/>
          <p:cNvSpPr/>
          <p:nvPr/>
        </p:nvSpPr>
        <p:spPr>
          <a:xfrm>
            <a:off x="12514064" y="2847023"/>
            <a:ext cx="1930122" cy="15240"/>
          </a:xfrm>
          <a:prstGeom prst="rect">
            <a:avLst/>
          </a:prstGeom>
          <a:solidFill>
            <a:srgbClr val="2F6F75"/>
          </a:solidFill>
          <a:ln/>
        </p:spPr>
        <p:txBody>
          <a:bodyPr/>
          <a:lstStyle/>
          <a:p>
            <a:endParaRPr lang="en-GB"/>
          </a:p>
        </p:txBody>
      </p:sp>
      <p:sp>
        <p:nvSpPr>
          <p:cNvPr id="16" name="Text 14"/>
          <p:cNvSpPr/>
          <p:nvPr/>
        </p:nvSpPr>
        <p:spPr>
          <a:xfrm>
            <a:off x="12609314" y="2481263"/>
            <a:ext cx="1739622"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NOVELTY</a:t>
            </a:r>
            <a:endParaRPr lang="en-US" sz="1500" dirty="0"/>
          </a:p>
        </p:txBody>
      </p:sp>
      <p:sp>
        <p:nvSpPr>
          <p:cNvPr id="17" name="Shape 15"/>
          <p:cNvSpPr/>
          <p:nvPr/>
        </p:nvSpPr>
        <p:spPr>
          <a:xfrm>
            <a:off x="14444187" y="2847023"/>
            <a:ext cx="2350294" cy="15240"/>
          </a:xfrm>
          <a:prstGeom prst="rect">
            <a:avLst/>
          </a:prstGeom>
          <a:solidFill>
            <a:srgbClr val="2F6F75"/>
          </a:solidFill>
          <a:ln/>
        </p:spPr>
        <p:txBody>
          <a:bodyPr/>
          <a:lstStyle/>
          <a:p>
            <a:endParaRPr lang="en-GB"/>
          </a:p>
        </p:txBody>
      </p:sp>
      <p:sp>
        <p:nvSpPr>
          <p:cNvPr id="18" name="Text 16"/>
          <p:cNvSpPr/>
          <p:nvPr/>
        </p:nvSpPr>
        <p:spPr>
          <a:xfrm>
            <a:off x="14539437" y="2481263"/>
            <a:ext cx="2159794" cy="251460"/>
          </a:xfrm>
          <a:prstGeom prst="rect">
            <a:avLst/>
          </a:prstGeom>
          <a:noFill/>
          <a:ln/>
        </p:spPr>
        <p:txBody>
          <a:bodyPr wrap="square" lIns="25400" tIns="25400" rIns="25400" bIns="25400" rtlCol="0" anchor="ctr">
            <a:normAutofit fontScale="92500" lnSpcReduction="10000"/>
          </a:bodyPr>
          <a:lstStyle/>
          <a:p>
            <a:pPr marL="0" indent="0" algn="ctr">
              <a:buNone/>
            </a:pPr>
            <a:r>
              <a:rPr lang="en-US" sz="1500" b="1" kern="0" spc="60" dirty="0">
                <a:solidFill>
                  <a:srgbClr val="2F6F75"/>
                </a:solidFill>
                <a:latin typeface="Courier New" pitchFamily="34" charset="0"/>
                <a:ea typeface="Courier New" pitchFamily="34" charset="-122"/>
                <a:cs typeface="Courier New" pitchFamily="34" charset="-120"/>
              </a:rPr>
              <a:t>DIVERSITY</a:t>
            </a:r>
            <a:endParaRPr lang="en-US" sz="1500" dirty="0"/>
          </a:p>
        </p:txBody>
      </p:sp>
      <p:sp>
        <p:nvSpPr>
          <p:cNvPr id="19" name="Shape 17"/>
          <p:cNvSpPr/>
          <p:nvPr/>
        </p:nvSpPr>
        <p:spPr>
          <a:xfrm>
            <a:off x="1493520" y="3456623"/>
            <a:ext cx="3347680" cy="9525"/>
          </a:xfrm>
          <a:prstGeom prst="rect">
            <a:avLst/>
          </a:prstGeom>
          <a:solidFill>
            <a:srgbClr val="EEEAE2"/>
          </a:solidFill>
          <a:ln/>
        </p:spPr>
        <p:txBody>
          <a:bodyPr/>
          <a:lstStyle/>
          <a:p>
            <a:endParaRPr lang="en-GB"/>
          </a:p>
        </p:txBody>
      </p:sp>
      <p:sp>
        <p:nvSpPr>
          <p:cNvPr id="20" name="Text 18"/>
          <p:cNvSpPr/>
          <p:nvPr/>
        </p:nvSpPr>
        <p:spPr>
          <a:xfrm>
            <a:off x="1626870" y="3005138"/>
            <a:ext cx="3181411" cy="346710"/>
          </a:xfrm>
          <a:prstGeom prst="rect">
            <a:avLst/>
          </a:prstGeom>
          <a:noFill/>
          <a:ln/>
        </p:spPr>
        <p:txBody>
          <a:bodyPr wrap="square" lIns="25400" tIns="25400" rIns="25400" bIns="25400" rtlCol="0" anchor="ctr">
            <a:normAutofit fontScale="92500" lnSpcReduction="10000"/>
          </a:bodyPr>
          <a:lstStyle/>
          <a:p>
            <a:pPr marL="0" indent="0" algn="l">
              <a:buNone/>
            </a:pPr>
            <a:r>
              <a:rPr lang="en-US" sz="2175" dirty="0">
                <a:solidFill>
                  <a:srgbClr val="3A372F"/>
                </a:solidFill>
                <a:latin typeface="Arial" pitchFamily="34" charset="0"/>
                <a:ea typeface="Arial" pitchFamily="34" charset="-122"/>
                <a:cs typeface="Arial" pitchFamily="34" charset="-120"/>
              </a:rPr>
              <a:t>Popularity</a:t>
            </a:r>
            <a:endParaRPr lang="en-US" sz="2175" dirty="0"/>
          </a:p>
        </p:txBody>
      </p:sp>
      <p:sp>
        <p:nvSpPr>
          <p:cNvPr id="21" name="Shape 19"/>
          <p:cNvSpPr/>
          <p:nvPr/>
        </p:nvSpPr>
        <p:spPr>
          <a:xfrm>
            <a:off x="4841200" y="3456623"/>
            <a:ext cx="1930122" cy="9525"/>
          </a:xfrm>
          <a:prstGeom prst="rect">
            <a:avLst/>
          </a:prstGeom>
          <a:solidFill>
            <a:srgbClr val="EEEAE2"/>
          </a:solidFill>
          <a:ln/>
        </p:spPr>
        <p:txBody>
          <a:bodyPr/>
          <a:lstStyle/>
          <a:p>
            <a:endParaRPr lang="en-GB"/>
          </a:p>
        </p:txBody>
      </p:sp>
      <p:sp>
        <p:nvSpPr>
          <p:cNvPr id="22" name="Text 20"/>
          <p:cNvSpPr/>
          <p:nvPr/>
        </p:nvSpPr>
        <p:spPr>
          <a:xfrm>
            <a:off x="4936450" y="3005138"/>
            <a:ext cx="1739622"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0.055</a:t>
            </a:r>
            <a:endParaRPr lang="en-US" sz="2175" dirty="0"/>
          </a:p>
        </p:txBody>
      </p:sp>
      <p:sp>
        <p:nvSpPr>
          <p:cNvPr id="23" name="Shape 21"/>
          <p:cNvSpPr/>
          <p:nvPr/>
        </p:nvSpPr>
        <p:spPr>
          <a:xfrm>
            <a:off x="6771323" y="3456623"/>
            <a:ext cx="1930122" cy="9525"/>
          </a:xfrm>
          <a:prstGeom prst="rect">
            <a:avLst/>
          </a:prstGeom>
          <a:solidFill>
            <a:srgbClr val="EEEAE2"/>
          </a:solidFill>
          <a:ln/>
        </p:spPr>
        <p:txBody>
          <a:bodyPr/>
          <a:lstStyle/>
          <a:p>
            <a:endParaRPr lang="en-GB"/>
          </a:p>
        </p:txBody>
      </p:sp>
      <p:sp>
        <p:nvSpPr>
          <p:cNvPr id="24" name="Text 22"/>
          <p:cNvSpPr/>
          <p:nvPr/>
        </p:nvSpPr>
        <p:spPr>
          <a:xfrm>
            <a:off x="6866573" y="3005138"/>
            <a:ext cx="1739622"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0.073</a:t>
            </a:r>
            <a:endParaRPr lang="en-US" sz="2175" dirty="0"/>
          </a:p>
        </p:txBody>
      </p:sp>
      <p:sp>
        <p:nvSpPr>
          <p:cNvPr id="25" name="Shape 23"/>
          <p:cNvSpPr/>
          <p:nvPr/>
        </p:nvSpPr>
        <p:spPr>
          <a:xfrm>
            <a:off x="8701445" y="3456623"/>
            <a:ext cx="1672471" cy="9525"/>
          </a:xfrm>
          <a:prstGeom prst="rect">
            <a:avLst/>
          </a:prstGeom>
          <a:solidFill>
            <a:srgbClr val="EEEAE2"/>
          </a:solidFill>
          <a:ln/>
        </p:spPr>
        <p:txBody>
          <a:bodyPr/>
          <a:lstStyle/>
          <a:p>
            <a:endParaRPr lang="en-GB"/>
          </a:p>
        </p:txBody>
      </p:sp>
      <p:sp>
        <p:nvSpPr>
          <p:cNvPr id="26" name="Text 24"/>
          <p:cNvSpPr/>
          <p:nvPr/>
        </p:nvSpPr>
        <p:spPr>
          <a:xfrm>
            <a:off x="8796695" y="3005138"/>
            <a:ext cx="1481971"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9A968D"/>
                </a:solidFill>
                <a:latin typeface="Arial" pitchFamily="34" charset="0"/>
                <a:ea typeface="Arial" pitchFamily="34" charset="-122"/>
                <a:cs typeface="Arial" pitchFamily="34" charset="-120"/>
              </a:rPr>
              <a:t>—</a:t>
            </a:r>
            <a:endParaRPr lang="en-US" sz="2175" dirty="0"/>
          </a:p>
        </p:txBody>
      </p:sp>
      <p:sp>
        <p:nvSpPr>
          <p:cNvPr id="27" name="Shape 25"/>
          <p:cNvSpPr/>
          <p:nvPr/>
        </p:nvSpPr>
        <p:spPr>
          <a:xfrm>
            <a:off x="10373916" y="3456623"/>
            <a:ext cx="2140148" cy="9525"/>
          </a:xfrm>
          <a:prstGeom prst="rect">
            <a:avLst/>
          </a:prstGeom>
          <a:solidFill>
            <a:srgbClr val="EEEAE2"/>
          </a:solidFill>
          <a:ln/>
        </p:spPr>
        <p:txBody>
          <a:bodyPr/>
          <a:lstStyle/>
          <a:p>
            <a:endParaRPr lang="en-GB"/>
          </a:p>
        </p:txBody>
      </p:sp>
      <p:sp>
        <p:nvSpPr>
          <p:cNvPr id="28" name="Text 26"/>
          <p:cNvSpPr/>
          <p:nvPr/>
        </p:nvSpPr>
        <p:spPr>
          <a:xfrm>
            <a:off x="10469166" y="3005138"/>
            <a:ext cx="1949648"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0.012</a:t>
            </a:r>
            <a:endParaRPr lang="en-US" sz="2175" dirty="0"/>
          </a:p>
        </p:txBody>
      </p:sp>
      <p:sp>
        <p:nvSpPr>
          <p:cNvPr id="29" name="Shape 27"/>
          <p:cNvSpPr/>
          <p:nvPr/>
        </p:nvSpPr>
        <p:spPr>
          <a:xfrm>
            <a:off x="12514064" y="3456623"/>
            <a:ext cx="1930122" cy="9525"/>
          </a:xfrm>
          <a:prstGeom prst="rect">
            <a:avLst/>
          </a:prstGeom>
          <a:solidFill>
            <a:srgbClr val="EEEAE2"/>
          </a:solidFill>
          <a:ln/>
        </p:spPr>
        <p:txBody>
          <a:bodyPr/>
          <a:lstStyle/>
          <a:p>
            <a:endParaRPr lang="en-GB"/>
          </a:p>
        </p:txBody>
      </p:sp>
      <p:sp>
        <p:nvSpPr>
          <p:cNvPr id="30" name="Text 28"/>
          <p:cNvSpPr/>
          <p:nvPr/>
        </p:nvSpPr>
        <p:spPr>
          <a:xfrm>
            <a:off x="12609314" y="3005138"/>
            <a:ext cx="1739622"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8.6</a:t>
            </a:r>
            <a:endParaRPr lang="en-US" sz="2175" dirty="0"/>
          </a:p>
        </p:txBody>
      </p:sp>
      <p:sp>
        <p:nvSpPr>
          <p:cNvPr id="31" name="Shape 29"/>
          <p:cNvSpPr/>
          <p:nvPr/>
        </p:nvSpPr>
        <p:spPr>
          <a:xfrm>
            <a:off x="14444187" y="3456623"/>
            <a:ext cx="2350294" cy="9525"/>
          </a:xfrm>
          <a:prstGeom prst="rect">
            <a:avLst/>
          </a:prstGeom>
          <a:solidFill>
            <a:srgbClr val="EEEAE2"/>
          </a:solidFill>
          <a:ln/>
        </p:spPr>
        <p:txBody>
          <a:bodyPr/>
          <a:lstStyle/>
          <a:p>
            <a:endParaRPr lang="en-GB"/>
          </a:p>
        </p:txBody>
      </p:sp>
      <p:sp>
        <p:nvSpPr>
          <p:cNvPr id="32" name="Text 30"/>
          <p:cNvSpPr/>
          <p:nvPr/>
        </p:nvSpPr>
        <p:spPr>
          <a:xfrm>
            <a:off x="14539437" y="3005138"/>
            <a:ext cx="2159794" cy="34671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0.96</a:t>
            </a:r>
            <a:endParaRPr lang="en-US" sz="2175" dirty="0"/>
          </a:p>
        </p:txBody>
      </p:sp>
      <p:sp>
        <p:nvSpPr>
          <p:cNvPr id="33" name="Shape 31"/>
          <p:cNvSpPr/>
          <p:nvPr/>
        </p:nvSpPr>
        <p:spPr>
          <a:xfrm>
            <a:off x="1493520" y="4054793"/>
            <a:ext cx="3347680" cy="9525"/>
          </a:xfrm>
          <a:prstGeom prst="rect">
            <a:avLst/>
          </a:prstGeom>
          <a:solidFill>
            <a:srgbClr val="EEEAE2"/>
          </a:solidFill>
          <a:ln/>
        </p:spPr>
        <p:txBody>
          <a:bodyPr/>
          <a:lstStyle/>
          <a:p>
            <a:endParaRPr lang="en-GB"/>
          </a:p>
        </p:txBody>
      </p:sp>
      <p:sp>
        <p:nvSpPr>
          <p:cNvPr id="34" name="Text 32"/>
          <p:cNvSpPr/>
          <p:nvPr/>
        </p:nvSpPr>
        <p:spPr>
          <a:xfrm>
            <a:off x="1626870" y="3607118"/>
            <a:ext cx="3181411" cy="342900"/>
          </a:xfrm>
          <a:prstGeom prst="rect">
            <a:avLst/>
          </a:prstGeom>
          <a:noFill/>
          <a:ln/>
        </p:spPr>
        <p:txBody>
          <a:bodyPr wrap="square" lIns="25400" tIns="25400" rIns="25400" bIns="25400" rtlCol="0" anchor="ctr">
            <a:normAutofit fontScale="92500" lnSpcReduction="10000"/>
          </a:bodyPr>
          <a:lstStyle/>
          <a:p>
            <a:pPr marL="0" indent="0" algn="l">
              <a:buNone/>
            </a:pPr>
            <a:r>
              <a:rPr lang="en-US" sz="2175" dirty="0">
                <a:solidFill>
                  <a:srgbClr val="3A372F"/>
                </a:solidFill>
                <a:latin typeface="Arial" pitchFamily="34" charset="0"/>
                <a:ea typeface="Arial" pitchFamily="34" charset="-122"/>
                <a:cs typeface="Arial" pitchFamily="34" charset="-120"/>
              </a:rPr>
              <a:t>Bayesian Avg</a:t>
            </a:r>
            <a:endParaRPr lang="en-US" sz="2175" dirty="0"/>
          </a:p>
        </p:txBody>
      </p:sp>
      <p:sp>
        <p:nvSpPr>
          <p:cNvPr id="35" name="Shape 33"/>
          <p:cNvSpPr/>
          <p:nvPr/>
        </p:nvSpPr>
        <p:spPr>
          <a:xfrm>
            <a:off x="4841200" y="4054793"/>
            <a:ext cx="1930122" cy="9525"/>
          </a:xfrm>
          <a:prstGeom prst="rect">
            <a:avLst/>
          </a:prstGeom>
          <a:solidFill>
            <a:srgbClr val="EEEAE2"/>
          </a:solidFill>
          <a:ln/>
        </p:spPr>
        <p:txBody>
          <a:bodyPr/>
          <a:lstStyle/>
          <a:p>
            <a:endParaRPr lang="en-GB"/>
          </a:p>
        </p:txBody>
      </p:sp>
      <p:sp>
        <p:nvSpPr>
          <p:cNvPr id="36" name="Text 34"/>
          <p:cNvSpPr/>
          <p:nvPr/>
        </p:nvSpPr>
        <p:spPr>
          <a:xfrm>
            <a:off x="4936450" y="360711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0.052</a:t>
            </a:r>
            <a:endParaRPr lang="en-US" sz="2175" dirty="0"/>
          </a:p>
        </p:txBody>
      </p:sp>
      <p:sp>
        <p:nvSpPr>
          <p:cNvPr id="37" name="Shape 35"/>
          <p:cNvSpPr/>
          <p:nvPr/>
        </p:nvSpPr>
        <p:spPr>
          <a:xfrm>
            <a:off x="6771323" y="4054793"/>
            <a:ext cx="1930122" cy="9525"/>
          </a:xfrm>
          <a:prstGeom prst="rect">
            <a:avLst/>
          </a:prstGeom>
          <a:solidFill>
            <a:srgbClr val="EEEAE2"/>
          </a:solidFill>
          <a:ln/>
        </p:spPr>
        <p:txBody>
          <a:bodyPr/>
          <a:lstStyle/>
          <a:p>
            <a:endParaRPr lang="en-GB"/>
          </a:p>
        </p:txBody>
      </p:sp>
      <p:sp>
        <p:nvSpPr>
          <p:cNvPr id="38" name="Text 36"/>
          <p:cNvSpPr/>
          <p:nvPr/>
        </p:nvSpPr>
        <p:spPr>
          <a:xfrm>
            <a:off x="6866573" y="360711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0.065</a:t>
            </a:r>
            <a:endParaRPr lang="en-US" sz="2175" dirty="0"/>
          </a:p>
        </p:txBody>
      </p:sp>
      <p:sp>
        <p:nvSpPr>
          <p:cNvPr id="39" name="Shape 37"/>
          <p:cNvSpPr/>
          <p:nvPr/>
        </p:nvSpPr>
        <p:spPr>
          <a:xfrm>
            <a:off x="8701445" y="4054793"/>
            <a:ext cx="1672471" cy="9525"/>
          </a:xfrm>
          <a:prstGeom prst="rect">
            <a:avLst/>
          </a:prstGeom>
          <a:solidFill>
            <a:srgbClr val="EEEAE2"/>
          </a:solidFill>
          <a:ln/>
        </p:spPr>
        <p:txBody>
          <a:bodyPr/>
          <a:lstStyle/>
          <a:p>
            <a:endParaRPr lang="en-GB"/>
          </a:p>
        </p:txBody>
      </p:sp>
      <p:sp>
        <p:nvSpPr>
          <p:cNvPr id="40" name="Text 38"/>
          <p:cNvSpPr/>
          <p:nvPr/>
        </p:nvSpPr>
        <p:spPr>
          <a:xfrm>
            <a:off x="8796695" y="3607118"/>
            <a:ext cx="1481971"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9A968D"/>
                </a:solidFill>
                <a:latin typeface="Arial" pitchFamily="34" charset="0"/>
                <a:ea typeface="Arial" pitchFamily="34" charset="-122"/>
                <a:cs typeface="Arial" pitchFamily="34" charset="-120"/>
              </a:rPr>
              <a:t>—</a:t>
            </a:r>
            <a:endParaRPr lang="en-US" sz="2175" dirty="0"/>
          </a:p>
        </p:txBody>
      </p:sp>
      <p:sp>
        <p:nvSpPr>
          <p:cNvPr id="41" name="Shape 39"/>
          <p:cNvSpPr/>
          <p:nvPr/>
        </p:nvSpPr>
        <p:spPr>
          <a:xfrm>
            <a:off x="10373916" y="4054793"/>
            <a:ext cx="2140148" cy="9525"/>
          </a:xfrm>
          <a:prstGeom prst="rect">
            <a:avLst/>
          </a:prstGeom>
          <a:solidFill>
            <a:srgbClr val="EEEAE2"/>
          </a:solidFill>
          <a:ln/>
        </p:spPr>
        <p:txBody>
          <a:bodyPr/>
          <a:lstStyle/>
          <a:p>
            <a:endParaRPr lang="en-GB"/>
          </a:p>
        </p:txBody>
      </p:sp>
      <p:sp>
        <p:nvSpPr>
          <p:cNvPr id="42" name="Text 40"/>
          <p:cNvSpPr/>
          <p:nvPr/>
        </p:nvSpPr>
        <p:spPr>
          <a:xfrm>
            <a:off x="10469166" y="3607118"/>
            <a:ext cx="1949648"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0.008</a:t>
            </a:r>
            <a:endParaRPr lang="en-US" sz="2175" dirty="0"/>
          </a:p>
        </p:txBody>
      </p:sp>
      <p:sp>
        <p:nvSpPr>
          <p:cNvPr id="43" name="Shape 41"/>
          <p:cNvSpPr/>
          <p:nvPr/>
        </p:nvSpPr>
        <p:spPr>
          <a:xfrm>
            <a:off x="12514064" y="4054793"/>
            <a:ext cx="1930122" cy="9525"/>
          </a:xfrm>
          <a:prstGeom prst="rect">
            <a:avLst/>
          </a:prstGeom>
          <a:solidFill>
            <a:srgbClr val="EEEAE2"/>
          </a:solidFill>
          <a:ln/>
        </p:spPr>
        <p:txBody>
          <a:bodyPr/>
          <a:lstStyle/>
          <a:p>
            <a:endParaRPr lang="en-GB"/>
          </a:p>
        </p:txBody>
      </p:sp>
      <p:sp>
        <p:nvSpPr>
          <p:cNvPr id="44" name="Text 42"/>
          <p:cNvSpPr/>
          <p:nvPr/>
        </p:nvSpPr>
        <p:spPr>
          <a:xfrm>
            <a:off x="12609314" y="360711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9.0</a:t>
            </a:r>
            <a:endParaRPr lang="en-US" sz="2175" dirty="0"/>
          </a:p>
        </p:txBody>
      </p:sp>
      <p:sp>
        <p:nvSpPr>
          <p:cNvPr id="45" name="Shape 43"/>
          <p:cNvSpPr/>
          <p:nvPr/>
        </p:nvSpPr>
        <p:spPr>
          <a:xfrm>
            <a:off x="14444187" y="4054793"/>
            <a:ext cx="2350294" cy="9525"/>
          </a:xfrm>
          <a:prstGeom prst="rect">
            <a:avLst/>
          </a:prstGeom>
          <a:solidFill>
            <a:srgbClr val="EEEAE2"/>
          </a:solidFill>
          <a:ln/>
        </p:spPr>
        <p:txBody>
          <a:bodyPr/>
          <a:lstStyle/>
          <a:p>
            <a:endParaRPr lang="en-GB"/>
          </a:p>
        </p:txBody>
      </p:sp>
      <p:sp>
        <p:nvSpPr>
          <p:cNvPr id="46" name="Text 44"/>
          <p:cNvSpPr/>
          <p:nvPr/>
        </p:nvSpPr>
        <p:spPr>
          <a:xfrm>
            <a:off x="14539437" y="3607118"/>
            <a:ext cx="2159794"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0.95</a:t>
            </a:r>
            <a:endParaRPr lang="en-US" sz="2175" dirty="0"/>
          </a:p>
        </p:txBody>
      </p:sp>
      <p:sp>
        <p:nvSpPr>
          <p:cNvPr id="47" name="Shape 45"/>
          <p:cNvSpPr/>
          <p:nvPr/>
        </p:nvSpPr>
        <p:spPr>
          <a:xfrm>
            <a:off x="1493520" y="4652962"/>
            <a:ext cx="3347680" cy="9525"/>
          </a:xfrm>
          <a:prstGeom prst="rect">
            <a:avLst/>
          </a:prstGeom>
          <a:solidFill>
            <a:srgbClr val="EEEAE2"/>
          </a:solidFill>
          <a:ln/>
        </p:spPr>
        <p:txBody>
          <a:bodyPr/>
          <a:lstStyle/>
          <a:p>
            <a:endParaRPr lang="en-GB"/>
          </a:p>
        </p:txBody>
      </p:sp>
      <p:sp>
        <p:nvSpPr>
          <p:cNvPr id="48" name="Text 46"/>
          <p:cNvSpPr/>
          <p:nvPr/>
        </p:nvSpPr>
        <p:spPr>
          <a:xfrm>
            <a:off x="1626870" y="4205288"/>
            <a:ext cx="3181411" cy="342900"/>
          </a:xfrm>
          <a:prstGeom prst="rect">
            <a:avLst/>
          </a:prstGeom>
          <a:noFill/>
          <a:ln/>
        </p:spPr>
        <p:txBody>
          <a:bodyPr wrap="square" lIns="25400" tIns="25400" rIns="25400" bIns="25400" rtlCol="0" anchor="ctr">
            <a:normAutofit fontScale="92500" lnSpcReduction="10000"/>
          </a:bodyPr>
          <a:lstStyle/>
          <a:p>
            <a:pPr marL="0" indent="0" algn="l">
              <a:buNone/>
            </a:pPr>
            <a:r>
              <a:rPr lang="en-US" sz="2175" dirty="0">
                <a:solidFill>
                  <a:srgbClr val="3A372F"/>
                </a:solidFill>
                <a:latin typeface="Arial" pitchFamily="34" charset="0"/>
                <a:ea typeface="Arial" pitchFamily="34" charset="-122"/>
                <a:cs typeface="Arial" pitchFamily="34" charset="-120"/>
              </a:rPr>
              <a:t>User-CF</a:t>
            </a:r>
            <a:endParaRPr lang="en-US" sz="2175" dirty="0"/>
          </a:p>
        </p:txBody>
      </p:sp>
      <p:sp>
        <p:nvSpPr>
          <p:cNvPr id="49" name="Shape 47"/>
          <p:cNvSpPr/>
          <p:nvPr/>
        </p:nvSpPr>
        <p:spPr>
          <a:xfrm>
            <a:off x="4841200" y="4652962"/>
            <a:ext cx="1930122" cy="9525"/>
          </a:xfrm>
          <a:prstGeom prst="rect">
            <a:avLst/>
          </a:prstGeom>
          <a:solidFill>
            <a:srgbClr val="EEEAE2"/>
          </a:solidFill>
          <a:ln/>
        </p:spPr>
        <p:txBody>
          <a:bodyPr/>
          <a:lstStyle/>
          <a:p>
            <a:endParaRPr lang="en-GB"/>
          </a:p>
        </p:txBody>
      </p:sp>
      <p:sp>
        <p:nvSpPr>
          <p:cNvPr id="50" name="Text 48"/>
          <p:cNvSpPr/>
          <p:nvPr/>
        </p:nvSpPr>
        <p:spPr>
          <a:xfrm>
            <a:off x="4936450" y="420528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0.009</a:t>
            </a:r>
            <a:endParaRPr lang="en-US" sz="2175" dirty="0"/>
          </a:p>
        </p:txBody>
      </p:sp>
      <p:sp>
        <p:nvSpPr>
          <p:cNvPr id="51" name="Shape 49"/>
          <p:cNvSpPr/>
          <p:nvPr/>
        </p:nvSpPr>
        <p:spPr>
          <a:xfrm>
            <a:off x="6771323" y="4652962"/>
            <a:ext cx="1930122" cy="9525"/>
          </a:xfrm>
          <a:prstGeom prst="rect">
            <a:avLst/>
          </a:prstGeom>
          <a:solidFill>
            <a:srgbClr val="EEEAE2"/>
          </a:solidFill>
          <a:ln/>
        </p:spPr>
        <p:txBody>
          <a:bodyPr/>
          <a:lstStyle/>
          <a:p>
            <a:endParaRPr lang="en-GB"/>
          </a:p>
        </p:txBody>
      </p:sp>
      <p:sp>
        <p:nvSpPr>
          <p:cNvPr id="52" name="Text 50"/>
          <p:cNvSpPr/>
          <p:nvPr/>
        </p:nvSpPr>
        <p:spPr>
          <a:xfrm>
            <a:off x="6866573" y="420528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0.009</a:t>
            </a:r>
            <a:endParaRPr lang="en-US" sz="2175" dirty="0"/>
          </a:p>
        </p:txBody>
      </p:sp>
      <p:sp>
        <p:nvSpPr>
          <p:cNvPr id="53" name="Shape 51"/>
          <p:cNvSpPr/>
          <p:nvPr/>
        </p:nvSpPr>
        <p:spPr>
          <a:xfrm>
            <a:off x="8701445" y="4652962"/>
            <a:ext cx="1672471" cy="9525"/>
          </a:xfrm>
          <a:prstGeom prst="rect">
            <a:avLst/>
          </a:prstGeom>
          <a:solidFill>
            <a:srgbClr val="EEEAE2"/>
          </a:solidFill>
          <a:ln/>
        </p:spPr>
        <p:txBody>
          <a:bodyPr/>
          <a:lstStyle/>
          <a:p>
            <a:endParaRPr lang="en-GB"/>
          </a:p>
        </p:txBody>
      </p:sp>
      <p:sp>
        <p:nvSpPr>
          <p:cNvPr id="54" name="Text 52"/>
          <p:cNvSpPr/>
          <p:nvPr/>
        </p:nvSpPr>
        <p:spPr>
          <a:xfrm>
            <a:off x="8796695" y="4205288"/>
            <a:ext cx="1481971"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0.946</a:t>
            </a:r>
            <a:endParaRPr lang="en-US" sz="2175" dirty="0"/>
          </a:p>
        </p:txBody>
      </p:sp>
      <p:sp>
        <p:nvSpPr>
          <p:cNvPr id="55" name="Shape 53"/>
          <p:cNvSpPr/>
          <p:nvPr/>
        </p:nvSpPr>
        <p:spPr>
          <a:xfrm>
            <a:off x="10373916" y="4652962"/>
            <a:ext cx="2140148" cy="9525"/>
          </a:xfrm>
          <a:prstGeom prst="rect">
            <a:avLst/>
          </a:prstGeom>
          <a:solidFill>
            <a:srgbClr val="EEEAE2"/>
          </a:solidFill>
          <a:ln/>
        </p:spPr>
        <p:txBody>
          <a:bodyPr/>
          <a:lstStyle/>
          <a:p>
            <a:endParaRPr lang="en-GB"/>
          </a:p>
        </p:txBody>
      </p:sp>
      <p:sp>
        <p:nvSpPr>
          <p:cNvPr id="56" name="Text 54"/>
          <p:cNvSpPr/>
          <p:nvPr/>
        </p:nvSpPr>
        <p:spPr>
          <a:xfrm>
            <a:off x="10469166" y="4205288"/>
            <a:ext cx="1949648"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0.095</a:t>
            </a:r>
            <a:endParaRPr lang="en-US" sz="2175" dirty="0"/>
          </a:p>
        </p:txBody>
      </p:sp>
      <p:sp>
        <p:nvSpPr>
          <p:cNvPr id="57" name="Shape 55"/>
          <p:cNvSpPr/>
          <p:nvPr/>
        </p:nvSpPr>
        <p:spPr>
          <a:xfrm>
            <a:off x="12514064" y="4652962"/>
            <a:ext cx="1930122" cy="9525"/>
          </a:xfrm>
          <a:prstGeom prst="rect">
            <a:avLst/>
          </a:prstGeom>
          <a:solidFill>
            <a:srgbClr val="EEEAE2"/>
          </a:solidFill>
          <a:ln/>
        </p:spPr>
        <p:txBody>
          <a:bodyPr/>
          <a:lstStyle/>
          <a:p>
            <a:endParaRPr lang="en-GB"/>
          </a:p>
        </p:txBody>
      </p:sp>
      <p:sp>
        <p:nvSpPr>
          <p:cNvPr id="58" name="Text 56"/>
          <p:cNvSpPr/>
          <p:nvPr/>
        </p:nvSpPr>
        <p:spPr>
          <a:xfrm>
            <a:off x="12609314" y="4205288"/>
            <a:ext cx="1739622"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11.1</a:t>
            </a:r>
            <a:endParaRPr lang="en-US" sz="2175" dirty="0"/>
          </a:p>
        </p:txBody>
      </p:sp>
      <p:sp>
        <p:nvSpPr>
          <p:cNvPr id="59" name="Shape 57"/>
          <p:cNvSpPr/>
          <p:nvPr/>
        </p:nvSpPr>
        <p:spPr>
          <a:xfrm>
            <a:off x="14444187" y="4652962"/>
            <a:ext cx="2350294" cy="9525"/>
          </a:xfrm>
          <a:prstGeom prst="rect">
            <a:avLst/>
          </a:prstGeom>
          <a:solidFill>
            <a:srgbClr val="EEEAE2"/>
          </a:solidFill>
          <a:ln/>
        </p:spPr>
        <p:txBody>
          <a:bodyPr/>
          <a:lstStyle/>
          <a:p>
            <a:endParaRPr lang="en-GB"/>
          </a:p>
        </p:txBody>
      </p:sp>
      <p:sp>
        <p:nvSpPr>
          <p:cNvPr id="60" name="Text 58"/>
          <p:cNvSpPr/>
          <p:nvPr/>
        </p:nvSpPr>
        <p:spPr>
          <a:xfrm>
            <a:off x="14539437" y="4205288"/>
            <a:ext cx="2159794" cy="342900"/>
          </a:xfrm>
          <a:prstGeom prst="rect">
            <a:avLst/>
          </a:prstGeom>
          <a:noFill/>
          <a:ln/>
        </p:spPr>
        <p:txBody>
          <a:bodyPr wrap="square" lIns="25400" tIns="25400" rIns="25400" bIns="25400" rtlCol="0" anchor="ctr">
            <a:normAutofit fontScale="92500"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0.92</a:t>
            </a:r>
            <a:endParaRPr lang="en-US" sz="2175" dirty="0"/>
          </a:p>
        </p:txBody>
      </p:sp>
      <p:sp>
        <p:nvSpPr>
          <p:cNvPr id="61" name="Shape 59"/>
          <p:cNvSpPr/>
          <p:nvPr/>
        </p:nvSpPr>
        <p:spPr>
          <a:xfrm>
            <a:off x="1493520" y="5266373"/>
            <a:ext cx="3347680" cy="9525"/>
          </a:xfrm>
          <a:prstGeom prst="rect">
            <a:avLst/>
          </a:prstGeom>
          <a:solidFill>
            <a:srgbClr val="EEEAE2"/>
          </a:solidFill>
          <a:ln/>
        </p:spPr>
        <p:txBody>
          <a:bodyPr/>
          <a:lstStyle/>
          <a:p>
            <a:endParaRPr lang="en-GB"/>
          </a:p>
        </p:txBody>
      </p:sp>
      <p:sp>
        <p:nvSpPr>
          <p:cNvPr id="62" name="Text 60"/>
          <p:cNvSpPr/>
          <p:nvPr/>
        </p:nvSpPr>
        <p:spPr>
          <a:xfrm>
            <a:off x="1626870" y="4803458"/>
            <a:ext cx="3181411" cy="358140"/>
          </a:xfrm>
          <a:prstGeom prst="rect">
            <a:avLst/>
          </a:prstGeom>
          <a:noFill/>
          <a:ln/>
        </p:spPr>
        <p:txBody>
          <a:bodyPr wrap="square" lIns="25400" tIns="25400" rIns="25400" bIns="25400" rtlCol="0" anchor="ctr">
            <a:normAutofit lnSpcReduction="10000"/>
          </a:bodyPr>
          <a:lstStyle/>
          <a:p>
            <a:pPr marL="0" indent="0" algn="l">
              <a:buNone/>
            </a:pPr>
            <a:r>
              <a:rPr lang="en-US" sz="2175" dirty="0">
                <a:solidFill>
                  <a:srgbClr val="3A372F"/>
                </a:solidFill>
                <a:latin typeface="Arial" pitchFamily="34" charset="0"/>
                <a:ea typeface="Arial" pitchFamily="34" charset="-122"/>
                <a:cs typeface="Arial" pitchFamily="34" charset="-120"/>
              </a:rPr>
              <a:t>Item-CF</a:t>
            </a:r>
            <a:endParaRPr lang="en-US" sz="2175" dirty="0"/>
          </a:p>
        </p:txBody>
      </p:sp>
      <p:sp>
        <p:nvSpPr>
          <p:cNvPr id="63" name="Shape 61"/>
          <p:cNvSpPr/>
          <p:nvPr/>
        </p:nvSpPr>
        <p:spPr>
          <a:xfrm>
            <a:off x="4841200" y="5266373"/>
            <a:ext cx="1930122" cy="9525"/>
          </a:xfrm>
          <a:prstGeom prst="rect">
            <a:avLst/>
          </a:prstGeom>
          <a:solidFill>
            <a:srgbClr val="EEEAE2"/>
          </a:solidFill>
          <a:ln/>
        </p:spPr>
        <p:txBody>
          <a:bodyPr/>
          <a:lstStyle/>
          <a:p>
            <a:endParaRPr lang="en-GB"/>
          </a:p>
        </p:txBody>
      </p:sp>
      <p:sp>
        <p:nvSpPr>
          <p:cNvPr id="64" name="Text 62"/>
          <p:cNvSpPr/>
          <p:nvPr/>
        </p:nvSpPr>
        <p:spPr>
          <a:xfrm>
            <a:off x="4936450" y="480345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0.026</a:t>
            </a:r>
            <a:endParaRPr lang="en-US" sz="2175" dirty="0"/>
          </a:p>
        </p:txBody>
      </p:sp>
      <p:sp>
        <p:nvSpPr>
          <p:cNvPr id="65" name="Shape 63"/>
          <p:cNvSpPr/>
          <p:nvPr/>
        </p:nvSpPr>
        <p:spPr>
          <a:xfrm>
            <a:off x="6771323" y="5266373"/>
            <a:ext cx="1930122" cy="9525"/>
          </a:xfrm>
          <a:prstGeom prst="rect">
            <a:avLst/>
          </a:prstGeom>
          <a:solidFill>
            <a:srgbClr val="EEEAE2"/>
          </a:solidFill>
          <a:ln/>
        </p:spPr>
        <p:txBody>
          <a:bodyPr/>
          <a:lstStyle/>
          <a:p>
            <a:endParaRPr lang="en-GB"/>
          </a:p>
        </p:txBody>
      </p:sp>
      <p:sp>
        <p:nvSpPr>
          <p:cNvPr id="66" name="Text 64"/>
          <p:cNvSpPr/>
          <p:nvPr/>
        </p:nvSpPr>
        <p:spPr>
          <a:xfrm>
            <a:off x="6866573" y="480345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0.026</a:t>
            </a:r>
            <a:endParaRPr lang="en-US" sz="2175" dirty="0"/>
          </a:p>
        </p:txBody>
      </p:sp>
      <p:sp>
        <p:nvSpPr>
          <p:cNvPr id="67" name="Shape 65"/>
          <p:cNvSpPr/>
          <p:nvPr/>
        </p:nvSpPr>
        <p:spPr>
          <a:xfrm>
            <a:off x="8701445" y="5266373"/>
            <a:ext cx="1672471" cy="9525"/>
          </a:xfrm>
          <a:prstGeom prst="rect">
            <a:avLst/>
          </a:prstGeom>
          <a:solidFill>
            <a:srgbClr val="EEEAE2"/>
          </a:solidFill>
          <a:ln/>
        </p:spPr>
        <p:txBody>
          <a:bodyPr/>
          <a:lstStyle/>
          <a:p>
            <a:endParaRPr lang="en-GB"/>
          </a:p>
        </p:txBody>
      </p:sp>
      <p:sp>
        <p:nvSpPr>
          <p:cNvPr id="68" name="Text 66"/>
          <p:cNvSpPr/>
          <p:nvPr/>
        </p:nvSpPr>
        <p:spPr>
          <a:xfrm>
            <a:off x="8796695" y="4803458"/>
            <a:ext cx="1481971" cy="358140"/>
          </a:xfrm>
          <a:prstGeom prst="rect">
            <a:avLst/>
          </a:prstGeom>
          <a:noFill/>
          <a:ln/>
        </p:spPr>
        <p:txBody>
          <a:bodyPr wrap="square" lIns="25400" tIns="25400" rIns="25400" bIns="25400" rtlCol="0" anchor="ctr">
            <a:normAutofit lnSpcReduction="10000"/>
          </a:bodyPr>
          <a:lstStyle/>
          <a:p>
            <a:pPr marL="0" indent="0" algn="ctr">
              <a:buNone/>
            </a:pPr>
            <a:r>
              <a:rPr lang="en-US" sz="2175" b="1" dirty="0">
                <a:solidFill>
                  <a:srgbClr val="2F6F75"/>
                </a:solidFill>
                <a:latin typeface="Arial" pitchFamily="34" charset="0"/>
                <a:ea typeface="Arial" pitchFamily="34" charset="-122"/>
                <a:cs typeface="Arial" pitchFamily="34" charset="-120"/>
              </a:rPr>
              <a:t>0.883</a:t>
            </a:r>
            <a:endParaRPr lang="en-US" sz="2175" dirty="0"/>
          </a:p>
        </p:txBody>
      </p:sp>
      <p:sp>
        <p:nvSpPr>
          <p:cNvPr id="69" name="Shape 67"/>
          <p:cNvSpPr/>
          <p:nvPr/>
        </p:nvSpPr>
        <p:spPr>
          <a:xfrm>
            <a:off x="10373916" y="5266373"/>
            <a:ext cx="2140148" cy="9525"/>
          </a:xfrm>
          <a:prstGeom prst="rect">
            <a:avLst/>
          </a:prstGeom>
          <a:solidFill>
            <a:srgbClr val="EEEAE2"/>
          </a:solidFill>
          <a:ln/>
        </p:spPr>
        <p:txBody>
          <a:bodyPr/>
          <a:lstStyle/>
          <a:p>
            <a:endParaRPr lang="en-GB"/>
          </a:p>
        </p:txBody>
      </p:sp>
      <p:sp>
        <p:nvSpPr>
          <p:cNvPr id="70" name="Text 68"/>
          <p:cNvSpPr/>
          <p:nvPr/>
        </p:nvSpPr>
        <p:spPr>
          <a:xfrm>
            <a:off x="10469166" y="4803458"/>
            <a:ext cx="1949648"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0.115</a:t>
            </a:r>
            <a:endParaRPr lang="en-US" sz="2175" dirty="0"/>
          </a:p>
        </p:txBody>
      </p:sp>
      <p:sp>
        <p:nvSpPr>
          <p:cNvPr id="71" name="Shape 69"/>
          <p:cNvSpPr/>
          <p:nvPr/>
        </p:nvSpPr>
        <p:spPr>
          <a:xfrm>
            <a:off x="12514064" y="5266373"/>
            <a:ext cx="1930122" cy="9525"/>
          </a:xfrm>
          <a:prstGeom prst="rect">
            <a:avLst/>
          </a:prstGeom>
          <a:solidFill>
            <a:srgbClr val="EEEAE2"/>
          </a:solidFill>
          <a:ln/>
        </p:spPr>
        <p:txBody>
          <a:bodyPr/>
          <a:lstStyle/>
          <a:p>
            <a:endParaRPr lang="en-GB"/>
          </a:p>
        </p:txBody>
      </p:sp>
      <p:sp>
        <p:nvSpPr>
          <p:cNvPr id="72" name="Text 70"/>
          <p:cNvSpPr/>
          <p:nvPr/>
        </p:nvSpPr>
        <p:spPr>
          <a:xfrm>
            <a:off x="12609314" y="480345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11.0</a:t>
            </a:r>
            <a:endParaRPr lang="en-US" sz="2175" dirty="0"/>
          </a:p>
        </p:txBody>
      </p:sp>
      <p:sp>
        <p:nvSpPr>
          <p:cNvPr id="73" name="Shape 71"/>
          <p:cNvSpPr/>
          <p:nvPr/>
        </p:nvSpPr>
        <p:spPr>
          <a:xfrm>
            <a:off x="14444187" y="5266373"/>
            <a:ext cx="2350294" cy="9525"/>
          </a:xfrm>
          <a:prstGeom prst="rect">
            <a:avLst/>
          </a:prstGeom>
          <a:solidFill>
            <a:srgbClr val="EEEAE2"/>
          </a:solidFill>
          <a:ln/>
        </p:spPr>
        <p:txBody>
          <a:bodyPr/>
          <a:lstStyle/>
          <a:p>
            <a:endParaRPr lang="en-GB"/>
          </a:p>
        </p:txBody>
      </p:sp>
      <p:sp>
        <p:nvSpPr>
          <p:cNvPr id="74" name="Text 72"/>
          <p:cNvSpPr/>
          <p:nvPr/>
        </p:nvSpPr>
        <p:spPr>
          <a:xfrm>
            <a:off x="14539437" y="4803458"/>
            <a:ext cx="2159794"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0.90</a:t>
            </a:r>
            <a:endParaRPr lang="en-US" sz="2175" dirty="0"/>
          </a:p>
        </p:txBody>
      </p:sp>
      <p:sp>
        <p:nvSpPr>
          <p:cNvPr id="75" name="Shape 73"/>
          <p:cNvSpPr/>
          <p:nvPr/>
        </p:nvSpPr>
        <p:spPr>
          <a:xfrm>
            <a:off x="1493520" y="5879783"/>
            <a:ext cx="3347680" cy="9525"/>
          </a:xfrm>
          <a:prstGeom prst="rect">
            <a:avLst/>
          </a:prstGeom>
          <a:solidFill>
            <a:srgbClr val="EEEAE2"/>
          </a:solidFill>
          <a:ln/>
        </p:spPr>
        <p:txBody>
          <a:bodyPr/>
          <a:lstStyle/>
          <a:p>
            <a:endParaRPr lang="en-GB"/>
          </a:p>
        </p:txBody>
      </p:sp>
      <p:sp>
        <p:nvSpPr>
          <p:cNvPr id="76" name="Text 74"/>
          <p:cNvSpPr/>
          <p:nvPr/>
        </p:nvSpPr>
        <p:spPr>
          <a:xfrm>
            <a:off x="1626870" y="5416868"/>
            <a:ext cx="3181411" cy="358140"/>
          </a:xfrm>
          <a:prstGeom prst="rect">
            <a:avLst/>
          </a:prstGeom>
          <a:noFill/>
          <a:ln/>
        </p:spPr>
        <p:txBody>
          <a:bodyPr wrap="square" lIns="25400" tIns="25400" rIns="25400" bIns="25400" rtlCol="0" anchor="ctr">
            <a:normAutofit lnSpcReduction="10000"/>
          </a:bodyPr>
          <a:lstStyle/>
          <a:p>
            <a:pPr marL="0" indent="0" algn="l">
              <a:buNone/>
            </a:pPr>
            <a:r>
              <a:rPr lang="en-US" sz="2175" dirty="0">
                <a:solidFill>
                  <a:srgbClr val="3A372F"/>
                </a:solidFill>
                <a:latin typeface="Arial" pitchFamily="34" charset="0"/>
                <a:ea typeface="Arial" pitchFamily="34" charset="-122"/>
                <a:cs typeface="Arial" pitchFamily="34" charset="-120"/>
              </a:rPr>
              <a:t>Content</a:t>
            </a:r>
            <a:endParaRPr lang="en-US" sz="2175" dirty="0"/>
          </a:p>
        </p:txBody>
      </p:sp>
      <p:sp>
        <p:nvSpPr>
          <p:cNvPr id="77" name="Shape 75"/>
          <p:cNvSpPr/>
          <p:nvPr/>
        </p:nvSpPr>
        <p:spPr>
          <a:xfrm>
            <a:off x="4841200" y="5879783"/>
            <a:ext cx="1930122" cy="9525"/>
          </a:xfrm>
          <a:prstGeom prst="rect">
            <a:avLst/>
          </a:prstGeom>
          <a:solidFill>
            <a:srgbClr val="EEEAE2"/>
          </a:solidFill>
          <a:ln/>
        </p:spPr>
        <p:txBody>
          <a:bodyPr/>
          <a:lstStyle/>
          <a:p>
            <a:endParaRPr lang="en-GB"/>
          </a:p>
        </p:txBody>
      </p:sp>
      <p:sp>
        <p:nvSpPr>
          <p:cNvPr id="78" name="Text 76"/>
          <p:cNvSpPr/>
          <p:nvPr/>
        </p:nvSpPr>
        <p:spPr>
          <a:xfrm>
            <a:off x="4936450" y="541686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0.007</a:t>
            </a:r>
            <a:endParaRPr lang="en-US" sz="2175" dirty="0"/>
          </a:p>
        </p:txBody>
      </p:sp>
      <p:sp>
        <p:nvSpPr>
          <p:cNvPr id="79" name="Shape 77"/>
          <p:cNvSpPr/>
          <p:nvPr/>
        </p:nvSpPr>
        <p:spPr>
          <a:xfrm>
            <a:off x="6771323" y="5879783"/>
            <a:ext cx="1930122" cy="9525"/>
          </a:xfrm>
          <a:prstGeom prst="rect">
            <a:avLst/>
          </a:prstGeom>
          <a:solidFill>
            <a:srgbClr val="EEEAE2"/>
          </a:solidFill>
          <a:ln/>
        </p:spPr>
        <p:txBody>
          <a:bodyPr/>
          <a:lstStyle/>
          <a:p>
            <a:endParaRPr lang="en-GB"/>
          </a:p>
        </p:txBody>
      </p:sp>
      <p:sp>
        <p:nvSpPr>
          <p:cNvPr id="80" name="Text 78"/>
          <p:cNvSpPr/>
          <p:nvPr/>
        </p:nvSpPr>
        <p:spPr>
          <a:xfrm>
            <a:off x="6866573" y="541686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0.008</a:t>
            </a:r>
            <a:endParaRPr lang="en-US" sz="2175" dirty="0"/>
          </a:p>
        </p:txBody>
      </p:sp>
      <p:sp>
        <p:nvSpPr>
          <p:cNvPr id="81" name="Shape 79"/>
          <p:cNvSpPr/>
          <p:nvPr/>
        </p:nvSpPr>
        <p:spPr>
          <a:xfrm>
            <a:off x="8701445" y="5879783"/>
            <a:ext cx="1672471" cy="9525"/>
          </a:xfrm>
          <a:prstGeom prst="rect">
            <a:avLst/>
          </a:prstGeom>
          <a:solidFill>
            <a:srgbClr val="EEEAE2"/>
          </a:solidFill>
          <a:ln/>
        </p:spPr>
        <p:txBody>
          <a:bodyPr/>
          <a:lstStyle/>
          <a:p>
            <a:endParaRPr lang="en-GB"/>
          </a:p>
        </p:txBody>
      </p:sp>
      <p:sp>
        <p:nvSpPr>
          <p:cNvPr id="82" name="Text 80"/>
          <p:cNvSpPr/>
          <p:nvPr/>
        </p:nvSpPr>
        <p:spPr>
          <a:xfrm>
            <a:off x="8796695" y="5416868"/>
            <a:ext cx="1481971"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9A968D"/>
                </a:solidFill>
                <a:latin typeface="Arial" pitchFamily="34" charset="0"/>
                <a:ea typeface="Arial" pitchFamily="34" charset="-122"/>
                <a:cs typeface="Arial" pitchFamily="34" charset="-120"/>
              </a:rPr>
              <a:t>—</a:t>
            </a:r>
            <a:endParaRPr lang="en-US" sz="2175" dirty="0"/>
          </a:p>
        </p:txBody>
      </p:sp>
      <p:sp>
        <p:nvSpPr>
          <p:cNvPr id="83" name="Shape 81"/>
          <p:cNvSpPr/>
          <p:nvPr/>
        </p:nvSpPr>
        <p:spPr>
          <a:xfrm>
            <a:off x="10373916" y="5879783"/>
            <a:ext cx="2140148" cy="9525"/>
          </a:xfrm>
          <a:prstGeom prst="rect">
            <a:avLst/>
          </a:prstGeom>
          <a:solidFill>
            <a:srgbClr val="EEEAE2"/>
          </a:solidFill>
          <a:ln/>
        </p:spPr>
        <p:txBody>
          <a:bodyPr/>
          <a:lstStyle/>
          <a:p>
            <a:endParaRPr lang="en-GB"/>
          </a:p>
        </p:txBody>
      </p:sp>
      <p:sp>
        <p:nvSpPr>
          <p:cNvPr id="84" name="Text 82"/>
          <p:cNvSpPr/>
          <p:nvPr/>
        </p:nvSpPr>
        <p:spPr>
          <a:xfrm>
            <a:off x="10469166" y="5416868"/>
            <a:ext cx="1949648" cy="358140"/>
          </a:xfrm>
          <a:prstGeom prst="rect">
            <a:avLst/>
          </a:prstGeom>
          <a:noFill/>
          <a:ln/>
        </p:spPr>
        <p:txBody>
          <a:bodyPr wrap="square" lIns="25400" tIns="25400" rIns="25400" bIns="25400" rtlCol="0" anchor="ctr">
            <a:normAutofit lnSpcReduction="10000"/>
          </a:bodyPr>
          <a:lstStyle/>
          <a:p>
            <a:pPr marL="0" indent="0" algn="ctr">
              <a:buNone/>
            </a:pPr>
            <a:r>
              <a:rPr lang="en-US" sz="2175" b="1" dirty="0">
                <a:solidFill>
                  <a:srgbClr val="2F6F75"/>
                </a:solidFill>
                <a:latin typeface="Arial" pitchFamily="34" charset="0"/>
                <a:ea typeface="Arial" pitchFamily="34" charset="-122"/>
                <a:cs typeface="Arial" pitchFamily="34" charset="-120"/>
              </a:rPr>
              <a:t>0.38</a:t>
            </a:r>
            <a:endParaRPr lang="en-US" sz="2175" dirty="0"/>
          </a:p>
        </p:txBody>
      </p:sp>
      <p:sp>
        <p:nvSpPr>
          <p:cNvPr id="85" name="Shape 83"/>
          <p:cNvSpPr/>
          <p:nvPr/>
        </p:nvSpPr>
        <p:spPr>
          <a:xfrm>
            <a:off x="12514064" y="5879783"/>
            <a:ext cx="1930122" cy="9525"/>
          </a:xfrm>
          <a:prstGeom prst="rect">
            <a:avLst/>
          </a:prstGeom>
          <a:solidFill>
            <a:srgbClr val="EEEAE2"/>
          </a:solidFill>
          <a:ln/>
        </p:spPr>
        <p:txBody>
          <a:bodyPr/>
          <a:lstStyle/>
          <a:p>
            <a:endParaRPr lang="en-GB"/>
          </a:p>
        </p:txBody>
      </p:sp>
      <p:sp>
        <p:nvSpPr>
          <p:cNvPr id="86" name="Text 84"/>
          <p:cNvSpPr/>
          <p:nvPr/>
        </p:nvSpPr>
        <p:spPr>
          <a:xfrm>
            <a:off x="12609314" y="5416868"/>
            <a:ext cx="1739622" cy="358140"/>
          </a:xfrm>
          <a:prstGeom prst="rect">
            <a:avLst/>
          </a:prstGeom>
          <a:noFill/>
          <a:ln/>
        </p:spPr>
        <p:txBody>
          <a:bodyPr wrap="square" lIns="25400" tIns="25400" rIns="25400" bIns="25400" rtlCol="0" anchor="ctr">
            <a:normAutofit lnSpcReduction="10000"/>
          </a:bodyPr>
          <a:lstStyle/>
          <a:p>
            <a:pPr marL="0" indent="0" algn="ctr">
              <a:buNone/>
            </a:pPr>
            <a:r>
              <a:rPr lang="en-US" sz="2175" b="1" dirty="0">
                <a:solidFill>
                  <a:srgbClr val="2F6F75"/>
                </a:solidFill>
                <a:latin typeface="Arial" pitchFamily="34" charset="0"/>
                <a:ea typeface="Arial" pitchFamily="34" charset="-122"/>
                <a:cs typeface="Arial" pitchFamily="34" charset="-120"/>
              </a:rPr>
              <a:t>14.6</a:t>
            </a:r>
            <a:endParaRPr lang="en-US" sz="2175" dirty="0"/>
          </a:p>
        </p:txBody>
      </p:sp>
      <p:sp>
        <p:nvSpPr>
          <p:cNvPr id="87" name="Shape 85"/>
          <p:cNvSpPr/>
          <p:nvPr/>
        </p:nvSpPr>
        <p:spPr>
          <a:xfrm>
            <a:off x="14444187" y="5879783"/>
            <a:ext cx="2350294" cy="9525"/>
          </a:xfrm>
          <a:prstGeom prst="rect">
            <a:avLst/>
          </a:prstGeom>
          <a:solidFill>
            <a:srgbClr val="EEEAE2"/>
          </a:solidFill>
          <a:ln/>
        </p:spPr>
        <p:txBody>
          <a:bodyPr/>
          <a:lstStyle/>
          <a:p>
            <a:endParaRPr lang="en-GB"/>
          </a:p>
        </p:txBody>
      </p:sp>
      <p:sp>
        <p:nvSpPr>
          <p:cNvPr id="88" name="Text 86"/>
          <p:cNvSpPr/>
          <p:nvPr/>
        </p:nvSpPr>
        <p:spPr>
          <a:xfrm>
            <a:off x="14539437" y="5416868"/>
            <a:ext cx="2159794" cy="35814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0.22</a:t>
            </a:r>
            <a:endParaRPr lang="en-US" sz="2175" dirty="0"/>
          </a:p>
        </p:txBody>
      </p:sp>
      <p:sp>
        <p:nvSpPr>
          <p:cNvPr id="89" name="Text 87"/>
          <p:cNvSpPr/>
          <p:nvPr/>
        </p:nvSpPr>
        <p:spPr>
          <a:xfrm>
            <a:off x="1626870" y="6030278"/>
            <a:ext cx="3181411" cy="361950"/>
          </a:xfrm>
          <a:prstGeom prst="rect">
            <a:avLst/>
          </a:prstGeom>
          <a:noFill/>
          <a:ln/>
        </p:spPr>
        <p:txBody>
          <a:bodyPr wrap="square" lIns="25400" tIns="25400" rIns="25400" bIns="25400" rtlCol="0" anchor="ctr">
            <a:normAutofit lnSpcReduction="10000"/>
          </a:bodyPr>
          <a:lstStyle/>
          <a:p>
            <a:pPr marL="0" indent="0" algn="l">
              <a:buNone/>
            </a:pPr>
            <a:r>
              <a:rPr lang="en-US" sz="2175" b="1" dirty="0">
                <a:solidFill>
                  <a:srgbClr val="1A1A17"/>
                </a:solidFill>
                <a:latin typeface="Arial" pitchFamily="34" charset="0"/>
                <a:ea typeface="Arial" pitchFamily="34" charset="-122"/>
                <a:cs typeface="Arial" pitchFamily="34" charset="-120"/>
              </a:rPr>
              <a:t>SVD</a:t>
            </a:r>
            <a:endParaRPr lang="en-US" sz="2175" dirty="0"/>
          </a:p>
        </p:txBody>
      </p:sp>
      <p:sp>
        <p:nvSpPr>
          <p:cNvPr id="90" name="Text 88"/>
          <p:cNvSpPr/>
          <p:nvPr/>
        </p:nvSpPr>
        <p:spPr>
          <a:xfrm>
            <a:off x="4936450" y="6030278"/>
            <a:ext cx="1739622" cy="361950"/>
          </a:xfrm>
          <a:prstGeom prst="rect">
            <a:avLst/>
          </a:prstGeom>
          <a:noFill/>
          <a:ln/>
        </p:spPr>
        <p:txBody>
          <a:bodyPr wrap="square" lIns="25400" tIns="25400" rIns="25400" bIns="25400" rtlCol="0" anchor="ctr">
            <a:normAutofit lnSpcReduction="10000"/>
          </a:bodyPr>
          <a:lstStyle/>
          <a:p>
            <a:pPr marL="0" indent="0" algn="ctr">
              <a:buNone/>
            </a:pPr>
            <a:r>
              <a:rPr lang="en-US" sz="2175" b="1" dirty="0">
                <a:solidFill>
                  <a:srgbClr val="2F6F75"/>
                </a:solidFill>
                <a:latin typeface="Arial" pitchFamily="34" charset="0"/>
                <a:ea typeface="Arial" pitchFamily="34" charset="-122"/>
                <a:cs typeface="Arial" pitchFamily="34" charset="-120"/>
              </a:rPr>
              <a:t>0.064</a:t>
            </a:r>
            <a:endParaRPr lang="en-US" sz="2175" dirty="0"/>
          </a:p>
        </p:txBody>
      </p:sp>
      <p:sp>
        <p:nvSpPr>
          <p:cNvPr id="91" name="Text 89"/>
          <p:cNvSpPr/>
          <p:nvPr/>
        </p:nvSpPr>
        <p:spPr>
          <a:xfrm>
            <a:off x="6866573" y="6030278"/>
            <a:ext cx="1739622" cy="361950"/>
          </a:xfrm>
          <a:prstGeom prst="rect">
            <a:avLst/>
          </a:prstGeom>
          <a:noFill/>
          <a:ln/>
        </p:spPr>
        <p:txBody>
          <a:bodyPr wrap="square" lIns="25400" tIns="25400" rIns="25400" bIns="25400" rtlCol="0" anchor="ctr">
            <a:normAutofit lnSpcReduction="10000"/>
          </a:bodyPr>
          <a:lstStyle/>
          <a:p>
            <a:pPr marL="0" indent="0" algn="ctr">
              <a:buNone/>
            </a:pPr>
            <a:r>
              <a:rPr lang="en-US" sz="2175" b="1" dirty="0">
                <a:solidFill>
                  <a:srgbClr val="2F6F75"/>
                </a:solidFill>
                <a:latin typeface="Arial" pitchFamily="34" charset="0"/>
                <a:ea typeface="Arial" pitchFamily="34" charset="-122"/>
                <a:cs typeface="Arial" pitchFamily="34" charset="-120"/>
              </a:rPr>
              <a:t>0.083</a:t>
            </a:r>
            <a:endParaRPr lang="en-US" sz="2175" dirty="0"/>
          </a:p>
        </p:txBody>
      </p:sp>
      <p:sp>
        <p:nvSpPr>
          <p:cNvPr id="92" name="Text 90"/>
          <p:cNvSpPr/>
          <p:nvPr/>
        </p:nvSpPr>
        <p:spPr>
          <a:xfrm>
            <a:off x="8796695" y="6030278"/>
            <a:ext cx="1481971" cy="36195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0.950</a:t>
            </a:r>
            <a:endParaRPr lang="en-US" sz="2175" dirty="0"/>
          </a:p>
        </p:txBody>
      </p:sp>
      <p:sp>
        <p:nvSpPr>
          <p:cNvPr id="93" name="Text 91"/>
          <p:cNvSpPr/>
          <p:nvPr/>
        </p:nvSpPr>
        <p:spPr>
          <a:xfrm>
            <a:off x="10469166" y="6030278"/>
            <a:ext cx="1949648" cy="36195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0.072</a:t>
            </a:r>
            <a:endParaRPr lang="en-US" sz="2175" dirty="0"/>
          </a:p>
        </p:txBody>
      </p:sp>
      <p:sp>
        <p:nvSpPr>
          <p:cNvPr id="94" name="Text 92"/>
          <p:cNvSpPr/>
          <p:nvPr/>
        </p:nvSpPr>
        <p:spPr>
          <a:xfrm>
            <a:off x="12609314" y="6030278"/>
            <a:ext cx="1739622" cy="36195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9.5</a:t>
            </a:r>
            <a:endParaRPr lang="en-US" sz="2175" dirty="0"/>
          </a:p>
        </p:txBody>
      </p:sp>
      <p:sp>
        <p:nvSpPr>
          <p:cNvPr id="95" name="Text 93"/>
          <p:cNvSpPr/>
          <p:nvPr/>
        </p:nvSpPr>
        <p:spPr>
          <a:xfrm>
            <a:off x="14539437" y="6030278"/>
            <a:ext cx="2159794" cy="361950"/>
          </a:xfrm>
          <a:prstGeom prst="rect">
            <a:avLst/>
          </a:prstGeom>
          <a:noFill/>
          <a:ln/>
        </p:spPr>
        <p:txBody>
          <a:bodyPr wrap="square" lIns="25400" tIns="25400" rIns="25400" bIns="25400" rtlCol="0" anchor="ctr">
            <a:normAutofit lnSpcReduction="10000"/>
          </a:bodyPr>
          <a:lstStyle/>
          <a:p>
            <a:pPr marL="0" indent="0" algn="ctr">
              <a:buNone/>
            </a:pPr>
            <a:r>
              <a:rPr lang="en-US" sz="2175" dirty="0">
                <a:solidFill>
                  <a:srgbClr val="3A372F"/>
                </a:solidFill>
                <a:latin typeface="Arial" pitchFamily="34" charset="0"/>
                <a:ea typeface="Arial" pitchFamily="34" charset="-122"/>
                <a:cs typeface="Arial" pitchFamily="34" charset="-120"/>
              </a:rPr>
              <a:t>0.94</a:t>
            </a:r>
            <a:endParaRPr lang="en-US" sz="2175" dirty="0"/>
          </a:p>
        </p:txBody>
      </p:sp>
      <p:sp>
        <p:nvSpPr>
          <p:cNvPr id="96" name="Shape 94"/>
          <p:cNvSpPr/>
          <p:nvPr/>
        </p:nvSpPr>
        <p:spPr>
          <a:xfrm>
            <a:off x="1143000" y="6923723"/>
            <a:ext cx="38100" cy="948690"/>
          </a:xfrm>
          <a:prstGeom prst="rect">
            <a:avLst/>
          </a:prstGeom>
          <a:solidFill>
            <a:srgbClr val="2F6F75"/>
          </a:solidFill>
          <a:ln/>
        </p:spPr>
        <p:txBody>
          <a:bodyPr/>
          <a:lstStyle/>
          <a:p>
            <a:endParaRPr lang="en-GB"/>
          </a:p>
        </p:txBody>
      </p:sp>
      <p:sp>
        <p:nvSpPr>
          <p:cNvPr id="97" name="Text 95"/>
          <p:cNvSpPr/>
          <p:nvPr/>
        </p:nvSpPr>
        <p:spPr>
          <a:xfrm>
            <a:off x="1428750" y="6980873"/>
            <a:ext cx="5385435" cy="533400"/>
          </a:xfrm>
          <a:prstGeom prst="rect">
            <a:avLst/>
          </a:prstGeom>
          <a:noFill/>
          <a:ln/>
        </p:spPr>
        <p:txBody>
          <a:bodyPr wrap="square" lIns="25400" tIns="25400" rIns="25400" bIns="25400" rtlCol="0" anchor="t">
            <a:normAutofit/>
          </a:bodyPr>
          <a:lstStyle/>
          <a:p>
            <a:pPr marL="0" indent="0" algn="l">
              <a:buNone/>
            </a:pPr>
            <a:r>
              <a:rPr lang="en-US" sz="2550" dirty="0">
                <a:solidFill>
                  <a:srgbClr val="1A1A17"/>
                </a:solidFill>
                <a:latin typeface="Georgia" pitchFamily="34" charset="0"/>
                <a:ea typeface="Georgia" pitchFamily="34" charset="-122"/>
                <a:cs typeface="Georgia" pitchFamily="34" charset="-120"/>
              </a:rPr>
              <a:t>SVD</a:t>
            </a:r>
            <a:endParaRPr lang="en-US" sz="2550" dirty="0"/>
          </a:p>
        </p:txBody>
      </p:sp>
      <p:sp>
        <p:nvSpPr>
          <p:cNvPr id="98" name="Text 96"/>
          <p:cNvSpPr/>
          <p:nvPr/>
        </p:nvSpPr>
        <p:spPr>
          <a:xfrm>
            <a:off x="1428750" y="7533323"/>
            <a:ext cx="5385435" cy="32004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55524C"/>
                </a:solidFill>
                <a:latin typeface="Arial" pitchFamily="34" charset="0"/>
                <a:ea typeface="Arial" pitchFamily="34" charset="-122"/>
                <a:cs typeface="Arial" pitchFamily="34" charset="-120"/>
              </a:rPr>
              <a:t>Ranks best.</a:t>
            </a:r>
            <a:endParaRPr lang="en-US" sz="2025" dirty="0"/>
          </a:p>
        </p:txBody>
      </p:sp>
      <p:sp>
        <p:nvSpPr>
          <p:cNvPr id="99" name="Shape 97"/>
          <p:cNvSpPr/>
          <p:nvPr/>
        </p:nvSpPr>
        <p:spPr>
          <a:xfrm>
            <a:off x="6553200" y="6923723"/>
            <a:ext cx="38100" cy="948690"/>
          </a:xfrm>
          <a:prstGeom prst="rect">
            <a:avLst/>
          </a:prstGeom>
          <a:solidFill>
            <a:srgbClr val="2F6F75"/>
          </a:solidFill>
          <a:ln/>
        </p:spPr>
        <p:txBody>
          <a:bodyPr/>
          <a:lstStyle/>
          <a:p>
            <a:endParaRPr lang="en-GB"/>
          </a:p>
        </p:txBody>
      </p:sp>
      <p:sp>
        <p:nvSpPr>
          <p:cNvPr id="100" name="Text 98"/>
          <p:cNvSpPr/>
          <p:nvPr/>
        </p:nvSpPr>
        <p:spPr>
          <a:xfrm>
            <a:off x="6838950" y="6980873"/>
            <a:ext cx="5385435" cy="533400"/>
          </a:xfrm>
          <a:prstGeom prst="rect">
            <a:avLst/>
          </a:prstGeom>
          <a:noFill/>
          <a:ln/>
        </p:spPr>
        <p:txBody>
          <a:bodyPr wrap="square" lIns="25400" tIns="25400" rIns="25400" bIns="25400" rtlCol="0" anchor="t">
            <a:normAutofit/>
          </a:bodyPr>
          <a:lstStyle/>
          <a:p>
            <a:pPr marL="0" indent="0" algn="l">
              <a:buNone/>
            </a:pPr>
            <a:r>
              <a:rPr lang="en-US" sz="2550" dirty="0">
                <a:solidFill>
                  <a:srgbClr val="1A1A17"/>
                </a:solidFill>
                <a:latin typeface="Georgia" pitchFamily="34" charset="0"/>
                <a:ea typeface="Georgia" pitchFamily="34" charset="-122"/>
                <a:cs typeface="Georgia" pitchFamily="34" charset="-120"/>
              </a:rPr>
              <a:t>Item-CF</a:t>
            </a:r>
            <a:endParaRPr lang="en-US" sz="2550" dirty="0"/>
          </a:p>
        </p:txBody>
      </p:sp>
      <p:sp>
        <p:nvSpPr>
          <p:cNvPr id="101" name="Text 99"/>
          <p:cNvSpPr/>
          <p:nvPr/>
        </p:nvSpPr>
        <p:spPr>
          <a:xfrm>
            <a:off x="6838950" y="7533323"/>
            <a:ext cx="5385435" cy="32004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55524C"/>
                </a:solidFill>
                <a:latin typeface="Arial" pitchFamily="34" charset="0"/>
                <a:ea typeface="Arial" pitchFamily="34" charset="-122"/>
                <a:cs typeface="Arial" pitchFamily="34" charset="-120"/>
              </a:rPr>
              <a:t>Predicts ratings best.</a:t>
            </a:r>
            <a:endParaRPr lang="en-US" sz="2025" dirty="0"/>
          </a:p>
        </p:txBody>
      </p:sp>
      <p:sp>
        <p:nvSpPr>
          <p:cNvPr id="102" name="Shape 100"/>
          <p:cNvSpPr/>
          <p:nvPr/>
        </p:nvSpPr>
        <p:spPr>
          <a:xfrm>
            <a:off x="11963400" y="6923723"/>
            <a:ext cx="38100" cy="948690"/>
          </a:xfrm>
          <a:prstGeom prst="rect">
            <a:avLst/>
          </a:prstGeom>
          <a:solidFill>
            <a:srgbClr val="2F6F75"/>
          </a:solidFill>
          <a:ln/>
        </p:spPr>
        <p:txBody>
          <a:bodyPr/>
          <a:lstStyle/>
          <a:p>
            <a:endParaRPr lang="en-GB"/>
          </a:p>
        </p:txBody>
      </p:sp>
      <p:sp>
        <p:nvSpPr>
          <p:cNvPr id="103" name="Text 101"/>
          <p:cNvSpPr/>
          <p:nvPr/>
        </p:nvSpPr>
        <p:spPr>
          <a:xfrm>
            <a:off x="12249150" y="6980873"/>
            <a:ext cx="5385435" cy="533400"/>
          </a:xfrm>
          <a:prstGeom prst="rect">
            <a:avLst/>
          </a:prstGeom>
          <a:noFill/>
          <a:ln/>
        </p:spPr>
        <p:txBody>
          <a:bodyPr wrap="square" lIns="25400" tIns="25400" rIns="25400" bIns="25400" rtlCol="0" anchor="t">
            <a:normAutofit/>
          </a:bodyPr>
          <a:lstStyle/>
          <a:p>
            <a:pPr marL="0" indent="0" algn="l">
              <a:buNone/>
            </a:pPr>
            <a:r>
              <a:rPr lang="en-US" sz="2550" dirty="0">
                <a:solidFill>
                  <a:srgbClr val="1A1A17"/>
                </a:solidFill>
                <a:latin typeface="Georgia" pitchFamily="34" charset="0"/>
                <a:ea typeface="Georgia" pitchFamily="34" charset="-122"/>
                <a:cs typeface="Georgia" pitchFamily="34" charset="-120"/>
              </a:rPr>
              <a:t>Content</a:t>
            </a:r>
            <a:endParaRPr lang="en-US" sz="2550" dirty="0"/>
          </a:p>
        </p:txBody>
      </p:sp>
      <p:sp>
        <p:nvSpPr>
          <p:cNvPr id="104" name="Text 102"/>
          <p:cNvSpPr/>
          <p:nvPr/>
        </p:nvSpPr>
        <p:spPr>
          <a:xfrm>
            <a:off x="12249150" y="7533323"/>
            <a:ext cx="5385435" cy="32004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55524C"/>
                </a:solidFill>
                <a:latin typeface="Arial" pitchFamily="34" charset="0"/>
                <a:ea typeface="Arial" pitchFamily="34" charset="-122"/>
                <a:cs typeface="Arial" pitchFamily="34" charset="-120"/>
              </a:rPr>
              <a:t>Explores the catalog furthest.</a:t>
            </a:r>
            <a:endParaRPr lang="en-US" sz="2025" dirty="0"/>
          </a:p>
        </p:txBody>
      </p:sp>
      <p:sp>
        <p:nvSpPr>
          <p:cNvPr id="106" name="Text 104"/>
          <p:cNvSpPr/>
          <p:nvPr/>
        </p:nvSpPr>
        <p:spPr>
          <a:xfrm>
            <a:off x="1143000" y="8120063"/>
            <a:ext cx="9781663" cy="41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55524C"/>
                </a:solidFill>
                <a:latin typeface="Arial" pitchFamily="34" charset="0"/>
                <a:ea typeface="Arial" pitchFamily="34" charset="-122"/>
                <a:cs typeface="Arial" pitchFamily="34" charset="-120"/>
              </a:rPr>
              <a:t>No row wins everything. "Which is the best model?" was the wrong question.</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0" y="7620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SCALABILITY</a:t>
            </a:r>
            <a:endParaRPr lang="en-US" sz="1650" dirty="0"/>
          </a:p>
        </p:txBody>
      </p:sp>
      <p:sp>
        <p:nvSpPr>
          <p:cNvPr id="3" name="Text 1"/>
          <p:cNvSpPr/>
          <p:nvPr/>
        </p:nvSpPr>
        <p:spPr>
          <a:xfrm>
            <a:off x="1333500" y="1188720"/>
            <a:ext cx="17183100"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42" dirty="0">
                <a:solidFill>
                  <a:srgbClr val="1A1A17"/>
                </a:solidFill>
                <a:latin typeface="Georgia" pitchFamily="34" charset="0"/>
                <a:ea typeface="Georgia" pitchFamily="34" charset="-122"/>
                <a:cs typeface="Georgia" pitchFamily="34" charset="-120"/>
              </a:rPr>
              <a:t>Scalability question</a:t>
            </a:r>
            <a:endParaRPr lang="en-US" sz="4200" dirty="0"/>
          </a:p>
        </p:txBody>
      </p:sp>
      <p:sp>
        <p:nvSpPr>
          <p:cNvPr id="7" name="Shape 5"/>
          <p:cNvSpPr/>
          <p:nvPr/>
        </p:nvSpPr>
        <p:spPr>
          <a:xfrm>
            <a:off x="1647621" y="2072640"/>
            <a:ext cx="5054561" cy="2362200"/>
          </a:xfrm>
          <a:prstGeom prst="roundRect">
            <a:avLst>
              <a:gd name="adj" fmla="val 1613"/>
            </a:avLst>
          </a:prstGeom>
          <a:solidFill>
            <a:srgbClr val="FFFFFF"/>
          </a:solidFill>
          <a:ln w="7620">
            <a:solidFill>
              <a:srgbClr val="E6E2DA"/>
            </a:solidFill>
            <a:prstDash val="solid"/>
          </a:ln>
        </p:spPr>
        <p:txBody>
          <a:bodyPr/>
          <a:lstStyle/>
          <a:p>
            <a:endParaRPr lang="en-GB"/>
          </a:p>
        </p:txBody>
      </p:sp>
      <p:sp>
        <p:nvSpPr>
          <p:cNvPr id="8" name="Text 6"/>
          <p:cNvSpPr/>
          <p:nvPr/>
        </p:nvSpPr>
        <p:spPr>
          <a:xfrm>
            <a:off x="1960041" y="2366010"/>
            <a:ext cx="4872692" cy="27432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2F6F75"/>
                </a:solidFill>
                <a:latin typeface="Courier New" pitchFamily="34" charset="0"/>
                <a:ea typeface="Courier New" pitchFamily="34" charset="-122"/>
                <a:cs typeface="Courier New" pitchFamily="34" charset="-120"/>
              </a:rPr>
              <a:t>WHAT CHANGES AT SCALE</a:t>
            </a:r>
            <a:endParaRPr lang="en-US" sz="1425" dirty="0"/>
          </a:p>
        </p:txBody>
      </p:sp>
      <p:sp>
        <p:nvSpPr>
          <p:cNvPr id="9" name="Text 7"/>
          <p:cNvSpPr/>
          <p:nvPr/>
        </p:nvSpPr>
        <p:spPr>
          <a:xfrm>
            <a:off x="1960041" y="2754630"/>
            <a:ext cx="4562612" cy="14249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72F"/>
                </a:solidFill>
                <a:latin typeface="Arial" pitchFamily="34" charset="0"/>
                <a:ea typeface="Arial" pitchFamily="34" charset="-122"/>
                <a:cs typeface="Arial" pitchFamily="34" charset="-120"/>
              </a:rPr>
              <a:t>Netflix or Spotify scale is a different problem. Fit time, latency, storage and retraining cost matter as much as NDCG, sometimes more.</a:t>
            </a:r>
            <a:endParaRPr lang="en-US" sz="1950" dirty="0"/>
          </a:p>
        </p:txBody>
      </p:sp>
      <p:sp>
        <p:nvSpPr>
          <p:cNvPr id="10" name="Shape 8"/>
          <p:cNvSpPr/>
          <p:nvPr/>
        </p:nvSpPr>
        <p:spPr>
          <a:xfrm>
            <a:off x="7881266" y="2072640"/>
            <a:ext cx="5054561" cy="2362200"/>
          </a:xfrm>
          <a:prstGeom prst="roundRect">
            <a:avLst>
              <a:gd name="adj" fmla="val 1613"/>
            </a:avLst>
          </a:prstGeom>
          <a:solidFill>
            <a:srgbClr val="FFFFFF"/>
          </a:solidFill>
          <a:ln w="7620">
            <a:solidFill>
              <a:srgbClr val="E6E2DA"/>
            </a:solidFill>
            <a:prstDash val="solid"/>
          </a:ln>
        </p:spPr>
        <p:txBody>
          <a:bodyPr/>
          <a:lstStyle/>
          <a:p>
            <a:endParaRPr lang="en-GB"/>
          </a:p>
        </p:txBody>
      </p:sp>
      <p:sp>
        <p:nvSpPr>
          <p:cNvPr id="11" name="Text 9"/>
          <p:cNvSpPr/>
          <p:nvPr/>
        </p:nvSpPr>
        <p:spPr>
          <a:xfrm>
            <a:off x="8193686" y="2366010"/>
            <a:ext cx="4872692" cy="27432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2F6F75"/>
                </a:solidFill>
                <a:latin typeface="Courier New" pitchFamily="34" charset="0"/>
                <a:ea typeface="Courier New" pitchFamily="34" charset="-122"/>
                <a:cs typeface="Courier New" pitchFamily="34" charset="-120"/>
              </a:rPr>
              <a:t>ON MY LAPTOP</a:t>
            </a:r>
            <a:endParaRPr lang="en-US" sz="1425" dirty="0"/>
          </a:p>
        </p:txBody>
      </p:sp>
      <p:sp>
        <p:nvSpPr>
          <p:cNvPr id="12" name="Text 10"/>
          <p:cNvSpPr/>
          <p:nvPr/>
        </p:nvSpPr>
        <p:spPr>
          <a:xfrm>
            <a:off x="8193686" y="2754630"/>
            <a:ext cx="4562612" cy="107823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72F"/>
                </a:solidFill>
                <a:latin typeface="Arial" pitchFamily="34" charset="0"/>
                <a:ea typeface="Arial" pitchFamily="34" charset="-122"/>
                <a:cs typeface="Arial" pitchFamily="34" charset="-120"/>
              </a:rPr>
              <a:t>MovieLens Small (~100k ratings): all six run in seconds to minutes. That hides the trade-offs.</a:t>
            </a:r>
            <a:endParaRPr lang="en-US" sz="1950" dirty="0"/>
          </a:p>
        </p:txBody>
      </p:sp>
      <p:sp>
        <p:nvSpPr>
          <p:cNvPr id="13" name="Text 11"/>
          <p:cNvSpPr/>
          <p:nvPr/>
        </p:nvSpPr>
        <p:spPr>
          <a:xfrm>
            <a:off x="1333500" y="4662434"/>
            <a:ext cx="17183100" cy="28956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2F6F75"/>
                </a:solidFill>
                <a:latin typeface="Courier New" pitchFamily="34" charset="0"/>
                <a:ea typeface="Courier New" pitchFamily="34" charset="-122"/>
                <a:cs typeface="Courier New" pitchFamily="34" charset="-120"/>
              </a:rPr>
              <a:t>AT PRODUCTION SCALE, I'D ALSO WEIGH</a:t>
            </a:r>
            <a:endParaRPr lang="en-US" sz="1500" dirty="0"/>
          </a:p>
        </p:txBody>
      </p:sp>
      <p:sp>
        <p:nvSpPr>
          <p:cNvPr id="14" name="Shape 12"/>
          <p:cNvSpPr/>
          <p:nvPr/>
        </p:nvSpPr>
        <p:spPr>
          <a:xfrm>
            <a:off x="1333500" y="5035212"/>
            <a:ext cx="15621000" cy="2792326"/>
          </a:xfrm>
          <a:prstGeom prst="roundRect">
            <a:avLst>
              <a:gd name="adj" fmla="val 1156"/>
            </a:avLst>
          </a:prstGeom>
          <a:solidFill>
            <a:srgbClr val="FFFFFF"/>
          </a:solidFill>
          <a:ln w="7620">
            <a:solidFill>
              <a:srgbClr val="E6E2DA"/>
            </a:solidFill>
            <a:prstDash val="solid"/>
          </a:ln>
        </p:spPr>
        <p:txBody>
          <a:bodyPr/>
          <a:lstStyle/>
          <a:p>
            <a:endParaRPr lang="en-GB" dirty="0"/>
          </a:p>
        </p:txBody>
      </p:sp>
      <p:sp>
        <p:nvSpPr>
          <p:cNvPr id="15" name="Shape 13"/>
          <p:cNvSpPr/>
          <p:nvPr/>
        </p:nvSpPr>
        <p:spPr>
          <a:xfrm>
            <a:off x="1684020" y="5564802"/>
            <a:ext cx="2328029" cy="15240"/>
          </a:xfrm>
          <a:prstGeom prst="rect">
            <a:avLst/>
          </a:prstGeom>
          <a:solidFill>
            <a:srgbClr val="2F6F75"/>
          </a:solidFill>
          <a:ln/>
        </p:spPr>
        <p:txBody>
          <a:bodyPr/>
          <a:lstStyle/>
          <a:p>
            <a:endParaRPr lang="en-GB"/>
          </a:p>
        </p:txBody>
      </p:sp>
      <p:sp>
        <p:nvSpPr>
          <p:cNvPr id="16" name="Text 14"/>
          <p:cNvSpPr/>
          <p:nvPr/>
        </p:nvSpPr>
        <p:spPr>
          <a:xfrm>
            <a:off x="1836420" y="5233332"/>
            <a:ext cx="2099429" cy="236220"/>
          </a:xfrm>
          <a:prstGeom prst="rect">
            <a:avLst/>
          </a:prstGeom>
          <a:noFill/>
          <a:ln/>
        </p:spPr>
        <p:txBody>
          <a:bodyPr wrap="none" lIns="25400" tIns="25400" rIns="25400" bIns="25400" rtlCol="0" anchor="ctr">
            <a:normAutofit fontScale="92500" lnSpcReduction="10000"/>
          </a:bodyPr>
          <a:lstStyle/>
          <a:p>
            <a:pPr marL="0" indent="0" algn="l">
              <a:buNone/>
            </a:pPr>
            <a:r>
              <a:rPr lang="en-US" sz="1425" b="1" kern="0" spc="71" dirty="0">
                <a:solidFill>
                  <a:srgbClr val="2F6F75"/>
                </a:solidFill>
                <a:latin typeface="Courier New" pitchFamily="34" charset="0"/>
                <a:ea typeface="Courier New" pitchFamily="34" charset="-122"/>
                <a:cs typeface="Courier New" pitchFamily="34" charset="-120"/>
              </a:rPr>
              <a:t>FACTOR</a:t>
            </a:r>
            <a:endParaRPr lang="en-US" sz="1425" dirty="0"/>
          </a:p>
        </p:txBody>
      </p:sp>
      <p:sp>
        <p:nvSpPr>
          <p:cNvPr id="17" name="Shape 15"/>
          <p:cNvSpPr/>
          <p:nvPr/>
        </p:nvSpPr>
        <p:spPr>
          <a:xfrm>
            <a:off x="4012049" y="5564802"/>
            <a:ext cx="12591931" cy="15240"/>
          </a:xfrm>
          <a:prstGeom prst="rect">
            <a:avLst/>
          </a:prstGeom>
          <a:solidFill>
            <a:srgbClr val="2F6F75"/>
          </a:solidFill>
          <a:ln/>
        </p:spPr>
        <p:txBody>
          <a:bodyPr/>
          <a:lstStyle/>
          <a:p>
            <a:endParaRPr lang="en-GB"/>
          </a:p>
        </p:txBody>
      </p:sp>
      <p:sp>
        <p:nvSpPr>
          <p:cNvPr id="18" name="Text 16"/>
          <p:cNvSpPr/>
          <p:nvPr/>
        </p:nvSpPr>
        <p:spPr>
          <a:xfrm>
            <a:off x="4164449" y="5233332"/>
            <a:ext cx="12664889" cy="236220"/>
          </a:xfrm>
          <a:prstGeom prst="rect">
            <a:avLst/>
          </a:prstGeom>
          <a:noFill/>
          <a:ln/>
        </p:spPr>
        <p:txBody>
          <a:bodyPr wrap="square" lIns="25400" tIns="25400" rIns="25400" bIns="25400" rtlCol="0" anchor="ctr">
            <a:normAutofit fontScale="92500" lnSpcReduction="10000"/>
          </a:bodyPr>
          <a:lstStyle/>
          <a:p>
            <a:pPr marL="0" indent="0" algn="l">
              <a:buNone/>
            </a:pPr>
            <a:r>
              <a:rPr lang="en-US" sz="1425" b="1" kern="0" spc="71" dirty="0">
                <a:solidFill>
                  <a:srgbClr val="2F6F75"/>
                </a:solidFill>
                <a:latin typeface="Courier New" pitchFamily="34" charset="0"/>
                <a:ea typeface="Courier New" pitchFamily="34" charset="-122"/>
                <a:cs typeface="Courier New" pitchFamily="34" charset="-120"/>
              </a:rPr>
              <a:t>WHY IT MATTERS</a:t>
            </a:r>
            <a:endParaRPr lang="en-US" sz="1425" dirty="0"/>
          </a:p>
        </p:txBody>
      </p:sp>
      <p:sp>
        <p:nvSpPr>
          <p:cNvPr id="19" name="Shape 17"/>
          <p:cNvSpPr/>
          <p:nvPr/>
        </p:nvSpPr>
        <p:spPr>
          <a:xfrm>
            <a:off x="1684020" y="6113442"/>
            <a:ext cx="2328029" cy="9525"/>
          </a:xfrm>
          <a:prstGeom prst="rect">
            <a:avLst/>
          </a:prstGeom>
          <a:solidFill>
            <a:srgbClr val="EEEAE2"/>
          </a:solidFill>
          <a:ln/>
        </p:spPr>
        <p:txBody>
          <a:bodyPr/>
          <a:lstStyle/>
          <a:p>
            <a:endParaRPr lang="en-GB"/>
          </a:p>
        </p:txBody>
      </p:sp>
      <p:sp>
        <p:nvSpPr>
          <p:cNvPr id="20" name="Text 18"/>
          <p:cNvSpPr/>
          <p:nvPr/>
        </p:nvSpPr>
        <p:spPr>
          <a:xfrm>
            <a:off x="1836420" y="5703867"/>
            <a:ext cx="2099429" cy="323850"/>
          </a:xfrm>
          <a:prstGeom prst="rect">
            <a:avLst/>
          </a:prstGeom>
          <a:noFill/>
          <a:ln/>
        </p:spPr>
        <p:txBody>
          <a:bodyPr wrap="none" lIns="25400" tIns="25400" rIns="25400" bIns="25400" rtlCol="0" anchor="ctr">
            <a:normAutofit lnSpcReduction="10000"/>
          </a:bodyPr>
          <a:lstStyle/>
          <a:p>
            <a:pPr marL="0" indent="0" algn="l">
              <a:buNone/>
            </a:pPr>
            <a:r>
              <a:rPr lang="en-US" sz="1950" b="1" dirty="0">
                <a:solidFill>
                  <a:srgbClr val="1A1A17"/>
                </a:solidFill>
                <a:latin typeface="Arial" pitchFamily="34" charset="0"/>
                <a:ea typeface="Arial" pitchFamily="34" charset="-122"/>
                <a:cs typeface="Arial" pitchFamily="34" charset="-120"/>
              </a:rPr>
              <a:t>Training time</a:t>
            </a:r>
            <a:endParaRPr lang="en-US" sz="1950" dirty="0"/>
          </a:p>
        </p:txBody>
      </p:sp>
      <p:sp>
        <p:nvSpPr>
          <p:cNvPr id="21" name="Shape 19"/>
          <p:cNvSpPr/>
          <p:nvPr/>
        </p:nvSpPr>
        <p:spPr>
          <a:xfrm>
            <a:off x="4012049" y="6113442"/>
            <a:ext cx="12591931" cy="9525"/>
          </a:xfrm>
          <a:prstGeom prst="rect">
            <a:avLst/>
          </a:prstGeom>
          <a:solidFill>
            <a:srgbClr val="EEEAE2"/>
          </a:solidFill>
          <a:ln/>
        </p:spPr>
        <p:txBody>
          <a:bodyPr/>
          <a:lstStyle/>
          <a:p>
            <a:endParaRPr lang="en-GB"/>
          </a:p>
        </p:txBody>
      </p:sp>
      <p:sp>
        <p:nvSpPr>
          <p:cNvPr id="22" name="Text 20"/>
          <p:cNvSpPr/>
          <p:nvPr/>
        </p:nvSpPr>
        <p:spPr>
          <a:xfrm>
            <a:off x="4164449" y="5703867"/>
            <a:ext cx="12664889" cy="323850"/>
          </a:xfrm>
          <a:prstGeom prst="rect">
            <a:avLst/>
          </a:prstGeom>
          <a:noFill/>
          <a:ln/>
        </p:spPr>
        <p:txBody>
          <a:bodyPr wrap="square" lIns="25400" tIns="25400" rIns="25400" bIns="25400" rtlCol="0" anchor="ctr">
            <a:normAutofit lnSpcReduction="10000"/>
          </a:bodyPr>
          <a:lstStyle/>
          <a:p>
            <a:pPr marL="0" indent="0" algn="l">
              <a:buNone/>
            </a:pPr>
            <a:r>
              <a:rPr lang="en-US" sz="1950" dirty="0">
                <a:solidFill>
                  <a:srgbClr val="3A372F"/>
                </a:solidFill>
                <a:latin typeface="Arial" pitchFamily="34" charset="0"/>
                <a:ea typeface="Arial" pitchFamily="34" charset="-122"/>
                <a:cs typeface="Arial" pitchFamily="34" charset="-120"/>
              </a:rPr>
              <a:t>Can the model retrain daily or weekly without blowing the budget?</a:t>
            </a:r>
            <a:endParaRPr lang="en-US" sz="1950" dirty="0"/>
          </a:p>
        </p:txBody>
      </p:sp>
      <p:sp>
        <p:nvSpPr>
          <p:cNvPr id="23" name="Shape 21"/>
          <p:cNvSpPr/>
          <p:nvPr/>
        </p:nvSpPr>
        <p:spPr>
          <a:xfrm>
            <a:off x="1684020" y="6650652"/>
            <a:ext cx="2328029" cy="9525"/>
          </a:xfrm>
          <a:prstGeom prst="rect">
            <a:avLst/>
          </a:prstGeom>
          <a:solidFill>
            <a:srgbClr val="EEEAE2"/>
          </a:solidFill>
          <a:ln/>
        </p:spPr>
        <p:txBody>
          <a:bodyPr/>
          <a:lstStyle/>
          <a:p>
            <a:endParaRPr lang="en-GB"/>
          </a:p>
        </p:txBody>
      </p:sp>
      <p:sp>
        <p:nvSpPr>
          <p:cNvPr id="24" name="Text 22"/>
          <p:cNvSpPr/>
          <p:nvPr/>
        </p:nvSpPr>
        <p:spPr>
          <a:xfrm>
            <a:off x="1836420" y="6244887"/>
            <a:ext cx="2099429" cy="320040"/>
          </a:xfrm>
          <a:prstGeom prst="rect">
            <a:avLst/>
          </a:prstGeom>
          <a:noFill/>
          <a:ln/>
        </p:spPr>
        <p:txBody>
          <a:bodyPr wrap="none" lIns="25400" tIns="25400" rIns="25400" bIns="25400" rtlCol="0" anchor="ctr">
            <a:normAutofit lnSpcReduction="10000"/>
          </a:bodyPr>
          <a:lstStyle/>
          <a:p>
            <a:pPr marL="0" indent="0" algn="l">
              <a:buNone/>
            </a:pPr>
            <a:r>
              <a:rPr lang="en-US" sz="1950" b="1" dirty="0">
                <a:solidFill>
                  <a:srgbClr val="1A1A17"/>
                </a:solidFill>
                <a:latin typeface="Arial" pitchFamily="34" charset="0"/>
                <a:ea typeface="Arial" pitchFamily="34" charset="-122"/>
                <a:cs typeface="Arial" pitchFamily="34" charset="-120"/>
              </a:rPr>
              <a:t>Latency</a:t>
            </a:r>
            <a:endParaRPr lang="en-US" sz="1950" dirty="0"/>
          </a:p>
        </p:txBody>
      </p:sp>
      <p:sp>
        <p:nvSpPr>
          <p:cNvPr id="25" name="Shape 23"/>
          <p:cNvSpPr/>
          <p:nvPr/>
        </p:nvSpPr>
        <p:spPr>
          <a:xfrm>
            <a:off x="4012049" y="6650652"/>
            <a:ext cx="12591931" cy="9525"/>
          </a:xfrm>
          <a:prstGeom prst="rect">
            <a:avLst/>
          </a:prstGeom>
          <a:solidFill>
            <a:srgbClr val="EEEAE2"/>
          </a:solidFill>
          <a:ln/>
        </p:spPr>
        <p:txBody>
          <a:bodyPr/>
          <a:lstStyle/>
          <a:p>
            <a:endParaRPr lang="en-GB"/>
          </a:p>
        </p:txBody>
      </p:sp>
      <p:sp>
        <p:nvSpPr>
          <p:cNvPr id="26" name="Text 24"/>
          <p:cNvSpPr/>
          <p:nvPr/>
        </p:nvSpPr>
        <p:spPr>
          <a:xfrm>
            <a:off x="4164449" y="6244887"/>
            <a:ext cx="12664889" cy="320040"/>
          </a:xfrm>
          <a:prstGeom prst="rect">
            <a:avLst/>
          </a:prstGeom>
          <a:noFill/>
          <a:ln/>
        </p:spPr>
        <p:txBody>
          <a:bodyPr wrap="square" lIns="25400" tIns="25400" rIns="25400" bIns="25400" rtlCol="0" anchor="ctr">
            <a:normAutofit lnSpcReduction="10000"/>
          </a:bodyPr>
          <a:lstStyle/>
          <a:p>
            <a:pPr marL="0" indent="0" algn="l">
              <a:buNone/>
            </a:pPr>
            <a:r>
              <a:rPr lang="en-US" sz="1950" dirty="0">
                <a:solidFill>
                  <a:srgbClr val="3A372F"/>
                </a:solidFill>
                <a:latin typeface="Arial" pitchFamily="34" charset="0"/>
                <a:ea typeface="Arial" pitchFamily="34" charset="-122"/>
                <a:cs typeface="Arial" pitchFamily="34" charset="-120"/>
              </a:rPr>
              <a:t>Recommendations must return in milliseconds, not minutes.</a:t>
            </a:r>
            <a:endParaRPr lang="en-US" sz="1950" dirty="0"/>
          </a:p>
        </p:txBody>
      </p:sp>
      <p:sp>
        <p:nvSpPr>
          <p:cNvPr id="27" name="Shape 25"/>
          <p:cNvSpPr/>
          <p:nvPr/>
        </p:nvSpPr>
        <p:spPr>
          <a:xfrm>
            <a:off x="1684020" y="7187862"/>
            <a:ext cx="2328029" cy="9525"/>
          </a:xfrm>
          <a:prstGeom prst="rect">
            <a:avLst/>
          </a:prstGeom>
          <a:solidFill>
            <a:srgbClr val="EEEAE2"/>
          </a:solidFill>
          <a:ln/>
        </p:spPr>
        <p:txBody>
          <a:bodyPr/>
          <a:lstStyle/>
          <a:p>
            <a:endParaRPr lang="en-GB"/>
          </a:p>
        </p:txBody>
      </p:sp>
      <p:sp>
        <p:nvSpPr>
          <p:cNvPr id="29" name="Shape 27"/>
          <p:cNvSpPr/>
          <p:nvPr/>
        </p:nvSpPr>
        <p:spPr>
          <a:xfrm>
            <a:off x="4012049" y="7187862"/>
            <a:ext cx="12591931" cy="9525"/>
          </a:xfrm>
          <a:prstGeom prst="rect">
            <a:avLst/>
          </a:prstGeom>
          <a:solidFill>
            <a:srgbClr val="EEEAE2"/>
          </a:solidFill>
          <a:ln/>
        </p:spPr>
        <p:txBody>
          <a:bodyPr/>
          <a:lstStyle/>
          <a:p>
            <a:endParaRPr lang="en-GB"/>
          </a:p>
        </p:txBody>
      </p:sp>
      <p:sp>
        <p:nvSpPr>
          <p:cNvPr id="32" name="Text 30"/>
          <p:cNvSpPr/>
          <p:nvPr/>
        </p:nvSpPr>
        <p:spPr>
          <a:xfrm>
            <a:off x="1836420" y="6789917"/>
            <a:ext cx="2099429" cy="320040"/>
          </a:xfrm>
          <a:prstGeom prst="rect">
            <a:avLst/>
          </a:prstGeom>
          <a:noFill/>
          <a:ln/>
        </p:spPr>
        <p:txBody>
          <a:bodyPr wrap="none" lIns="25400" tIns="25400" rIns="25400" bIns="25400" rtlCol="0" anchor="ctr">
            <a:normAutofit lnSpcReduction="10000"/>
          </a:bodyPr>
          <a:lstStyle/>
          <a:p>
            <a:pPr marL="0" indent="0" algn="l">
              <a:buNone/>
            </a:pPr>
            <a:r>
              <a:rPr lang="en-US" sz="1950" b="1" dirty="0">
                <a:solidFill>
                  <a:srgbClr val="1A1A17"/>
                </a:solidFill>
                <a:latin typeface="Arial" pitchFamily="34" charset="0"/>
                <a:ea typeface="Arial" pitchFamily="34" charset="-122"/>
                <a:cs typeface="Arial" pitchFamily="34" charset="-120"/>
              </a:rPr>
              <a:t>Cost</a:t>
            </a:r>
            <a:endParaRPr lang="en-US" sz="1950" dirty="0"/>
          </a:p>
        </p:txBody>
      </p:sp>
      <p:sp>
        <p:nvSpPr>
          <p:cNvPr id="34" name="Text 32"/>
          <p:cNvSpPr/>
          <p:nvPr/>
        </p:nvSpPr>
        <p:spPr>
          <a:xfrm>
            <a:off x="4164449" y="6789917"/>
            <a:ext cx="12664889" cy="320040"/>
          </a:xfrm>
          <a:prstGeom prst="rect">
            <a:avLst/>
          </a:prstGeom>
          <a:noFill/>
          <a:ln/>
        </p:spPr>
        <p:txBody>
          <a:bodyPr wrap="square" lIns="25400" tIns="25400" rIns="25400" bIns="25400" rtlCol="0" anchor="ctr">
            <a:normAutofit lnSpcReduction="10000"/>
          </a:bodyPr>
          <a:lstStyle/>
          <a:p>
            <a:pPr marL="0" indent="0" algn="l">
              <a:buNone/>
            </a:pPr>
            <a:r>
              <a:rPr lang="en-US" sz="1950" dirty="0">
                <a:solidFill>
                  <a:srgbClr val="3A372F"/>
                </a:solidFill>
                <a:latin typeface="Arial" pitchFamily="34" charset="0"/>
                <a:ea typeface="Arial" pitchFamily="34" charset="-122"/>
                <a:cs typeface="Arial" pitchFamily="34" charset="-120"/>
              </a:rPr>
              <a:t>Compute, caching, and engineering time all count.</a:t>
            </a:r>
            <a:endParaRPr lang="en-US" sz="1950" dirty="0"/>
          </a:p>
        </p:txBody>
      </p:sp>
      <p:sp>
        <p:nvSpPr>
          <p:cNvPr id="35" name="Text 33"/>
          <p:cNvSpPr/>
          <p:nvPr/>
        </p:nvSpPr>
        <p:spPr>
          <a:xfrm>
            <a:off x="1836420" y="7327127"/>
            <a:ext cx="2099429" cy="323850"/>
          </a:xfrm>
          <a:prstGeom prst="rect">
            <a:avLst/>
          </a:prstGeom>
          <a:noFill/>
          <a:ln/>
        </p:spPr>
        <p:txBody>
          <a:bodyPr wrap="none" lIns="25400" tIns="25400" rIns="25400" bIns="25400" rtlCol="0" anchor="ctr">
            <a:normAutofit lnSpcReduction="10000"/>
          </a:bodyPr>
          <a:lstStyle/>
          <a:p>
            <a:pPr marL="0" indent="0" algn="l">
              <a:buNone/>
            </a:pPr>
            <a:r>
              <a:rPr lang="en-US" sz="1950" b="1" dirty="0">
                <a:solidFill>
                  <a:srgbClr val="1A1A17"/>
                </a:solidFill>
                <a:latin typeface="Arial" pitchFamily="34" charset="0"/>
                <a:ea typeface="Arial" pitchFamily="34" charset="-122"/>
                <a:cs typeface="Arial" pitchFamily="34" charset="-120"/>
              </a:rPr>
              <a:t>Maintainability</a:t>
            </a:r>
            <a:endParaRPr lang="en-US" sz="1950" dirty="0"/>
          </a:p>
        </p:txBody>
      </p:sp>
      <p:sp>
        <p:nvSpPr>
          <p:cNvPr id="36" name="Text 34"/>
          <p:cNvSpPr/>
          <p:nvPr/>
        </p:nvSpPr>
        <p:spPr>
          <a:xfrm>
            <a:off x="4164449" y="7327127"/>
            <a:ext cx="12664889" cy="323850"/>
          </a:xfrm>
          <a:prstGeom prst="rect">
            <a:avLst/>
          </a:prstGeom>
          <a:noFill/>
          <a:ln/>
        </p:spPr>
        <p:txBody>
          <a:bodyPr wrap="square" lIns="25400" tIns="25400" rIns="25400" bIns="25400" rtlCol="0" anchor="ctr">
            <a:normAutofit lnSpcReduction="10000"/>
          </a:bodyPr>
          <a:lstStyle/>
          <a:p>
            <a:pPr marL="0" indent="0" algn="l">
              <a:buNone/>
            </a:pPr>
            <a:r>
              <a:rPr lang="en-US" sz="1950" dirty="0">
                <a:solidFill>
                  <a:srgbClr val="3A372F"/>
                </a:solidFill>
                <a:latin typeface="Arial" pitchFamily="34" charset="0"/>
                <a:ea typeface="Arial" pitchFamily="34" charset="-122"/>
                <a:cs typeface="Arial" pitchFamily="34" charset="-120"/>
              </a:rPr>
              <a:t>A simpler model that ships beats a slightly better one nobody can operate.</a:t>
            </a:r>
            <a:endParaRPr lang="en-US" sz="1950" dirty="0"/>
          </a:p>
        </p:txBody>
      </p:sp>
      <p:sp>
        <p:nvSpPr>
          <p:cNvPr id="37" name="Shape 35"/>
          <p:cNvSpPr/>
          <p:nvPr/>
        </p:nvSpPr>
        <p:spPr>
          <a:xfrm>
            <a:off x="1372552" y="8439150"/>
            <a:ext cx="15581948" cy="1470660"/>
          </a:xfrm>
          <a:prstGeom prst="roundRect">
            <a:avLst>
              <a:gd name="adj" fmla="val 2193"/>
            </a:avLst>
          </a:prstGeom>
          <a:solidFill>
            <a:srgbClr val="2F6F75"/>
          </a:solidFill>
          <a:ln/>
        </p:spPr>
        <p:txBody>
          <a:bodyPr/>
          <a:lstStyle/>
          <a:p>
            <a:endParaRPr lang="en-GB"/>
          </a:p>
        </p:txBody>
      </p:sp>
      <p:sp>
        <p:nvSpPr>
          <p:cNvPr id="38" name="Text 36"/>
          <p:cNvSpPr/>
          <p:nvPr/>
        </p:nvSpPr>
        <p:spPr>
          <a:xfrm>
            <a:off x="1752600" y="8647694"/>
            <a:ext cx="2053590" cy="323850"/>
          </a:xfrm>
          <a:prstGeom prst="rect">
            <a:avLst/>
          </a:prstGeom>
          <a:noFill/>
          <a:ln/>
        </p:spPr>
        <p:txBody>
          <a:bodyPr wrap="none" lIns="25400" tIns="25400" rIns="25400" bIns="25400" rtlCol="0" anchor="t">
            <a:normAutofit fontScale="92500" lnSpcReduction="20000"/>
          </a:bodyPr>
          <a:lstStyle/>
          <a:p>
            <a:pPr marL="0" indent="0" algn="l">
              <a:lnSpc>
                <a:spcPct val="150000"/>
              </a:lnSpc>
              <a:buNone/>
            </a:pPr>
            <a:r>
              <a:rPr lang="en-US" sz="1500" kern="0" spc="150" dirty="0">
                <a:solidFill>
                  <a:srgbClr val="BFE1E3"/>
                </a:solidFill>
                <a:latin typeface="Courier New" pitchFamily="34" charset="0"/>
                <a:ea typeface="Courier New" pitchFamily="34" charset="-122"/>
                <a:cs typeface="Courier New" pitchFamily="34" charset="-120"/>
              </a:rPr>
              <a:t>WHAT I LEARNED</a:t>
            </a:r>
            <a:endParaRPr lang="en-US" sz="1500" dirty="0"/>
          </a:p>
        </p:txBody>
      </p:sp>
      <p:sp>
        <p:nvSpPr>
          <p:cNvPr id="39" name="Text 37"/>
          <p:cNvSpPr/>
          <p:nvPr/>
        </p:nvSpPr>
        <p:spPr>
          <a:xfrm>
            <a:off x="3867150" y="8611598"/>
            <a:ext cx="13048298" cy="11658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FFFFFF"/>
                </a:solidFill>
                <a:latin typeface="Arial" pitchFamily="34" charset="0"/>
                <a:ea typeface="Arial" pitchFamily="34" charset="-122"/>
                <a:cs typeface="Arial" pitchFamily="34" charset="-120"/>
              </a:rPr>
              <a:t>The "best" offline algorithm is not automatically the most useful one. On a small dataset I could focus on metrics; in production I'd pick what is </a:t>
            </a:r>
            <a:r>
              <a:rPr lang="en-US" sz="2100" b="1" dirty="0">
                <a:solidFill>
                  <a:srgbClr val="FFFFFF"/>
                </a:solidFill>
                <a:latin typeface="Arial" pitchFamily="34" charset="0"/>
                <a:ea typeface="Arial" pitchFamily="34" charset="-122"/>
                <a:cs typeface="Arial" pitchFamily="34" charset="-120"/>
              </a:rPr>
              <a:t>accurate enough, fast enough, and cheap enough </a:t>
            </a:r>
            <a:r>
              <a:rPr lang="en-US" sz="2100" dirty="0">
                <a:solidFill>
                  <a:srgbClr val="FFFFFF"/>
                </a:solidFill>
                <a:latin typeface="Arial" pitchFamily="34" charset="0"/>
                <a:ea typeface="Arial" pitchFamily="34" charset="-122"/>
                <a:cs typeface="Arial" pitchFamily="34" charset="-120"/>
              </a:rPr>
              <a:t>to run every day, not just what wins the leaderboard.</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THE UNCOMFORTABLE RESULT</a:t>
            </a:r>
            <a:endParaRPr lang="en-US" sz="1650" dirty="0"/>
          </a:p>
        </p:txBody>
      </p:sp>
      <p:sp>
        <p:nvSpPr>
          <p:cNvPr id="3" name="Text 1"/>
          <p:cNvSpPr/>
          <p:nvPr/>
        </p:nvSpPr>
        <p:spPr>
          <a:xfrm>
            <a:off x="1333500" y="1360170"/>
            <a:ext cx="15893415" cy="1364694"/>
          </a:xfrm>
          <a:prstGeom prst="rect">
            <a:avLst/>
          </a:prstGeom>
          <a:noFill/>
          <a:ln/>
        </p:spPr>
        <p:txBody>
          <a:bodyPr wrap="square" lIns="25400" tIns="25400" rIns="25400" bIns="25400" rtlCol="0" anchor="t">
            <a:normAutofit fontScale="92500" lnSpcReduction="10000"/>
          </a:bodyPr>
          <a:lstStyle/>
          <a:p>
            <a:pPr marL="0" indent="0" algn="l">
              <a:lnSpc>
                <a:spcPct val="126000"/>
              </a:lnSpc>
              <a:buNone/>
            </a:pPr>
            <a:r>
              <a:rPr lang="en-US" sz="4050" kern="0" spc="-40" dirty="0">
                <a:solidFill>
                  <a:srgbClr val="1A1A17"/>
                </a:solidFill>
                <a:latin typeface="Georgia" pitchFamily="34" charset="0"/>
                <a:ea typeface="Georgia" pitchFamily="34" charset="-122"/>
                <a:cs typeface="Georgia" pitchFamily="34" charset="-120"/>
              </a:rPr>
              <a:t>The dumbest model, Popularity, which ignores who you are entirely, beats every personalised method on ranking </a:t>
            </a:r>
            <a:r>
              <a:rPr lang="en-US" sz="4050" i="1" kern="0" spc="-40" dirty="0">
                <a:solidFill>
                  <a:srgbClr val="2F6F75"/>
                </a:solidFill>
                <a:latin typeface="Georgia" pitchFamily="34" charset="0"/>
                <a:ea typeface="Georgia" pitchFamily="34" charset="-122"/>
                <a:cs typeface="Georgia" pitchFamily="34" charset="-120"/>
              </a:rPr>
              <a:t>except SVD.</a:t>
            </a:r>
            <a:endParaRPr lang="en-US" sz="4050" dirty="0"/>
          </a:p>
        </p:txBody>
      </p:sp>
      <p:sp>
        <p:nvSpPr>
          <p:cNvPr id="4" name="Shape 2"/>
          <p:cNvSpPr/>
          <p:nvPr/>
        </p:nvSpPr>
        <p:spPr>
          <a:xfrm>
            <a:off x="1333500" y="3182064"/>
            <a:ext cx="15621000" cy="1813560"/>
          </a:xfrm>
          <a:prstGeom prst="roundRect">
            <a:avLst>
              <a:gd name="adj" fmla="val 2101"/>
            </a:avLst>
          </a:prstGeom>
          <a:solidFill>
            <a:srgbClr val="FFFFFF"/>
          </a:solidFill>
          <a:ln w="7620">
            <a:solidFill>
              <a:srgbClr val="E6E2DA"/>
            </a:solidFill>
            <a:prstDash val="solid"/>
          </a:ln>
        </p:spPr>
        <p:txBody>
          <a:bodyPr/>
          <a:lstStyle/>
          <a:p>
            <a:endParaRPr lang="en-GB"/>
          </a:p>
        </p:txBody>
      </p:sp>
      <p:sp>
        <p:nvSpPr>
          <p:cNvPr id="5" name="Shape 3"/>
          <p:cNvSpPr/>
          <p:nvPr/>
        </p:nvSpPr>
        <p:spPr>
          <a:xfrm>
            <a:off x="1722120" y="3837384"/>
            <a:ext cx="2992636" cy="15240"/>
          </a:xfrm>
          <a:prstGeom prst="rect">
            <a:avLst/>
          </a:prstGeom>
          <a:solidFill>
            <a:srgbClr val="2F6F75"/>
          </a:solidFill>
          <a:ln/>
        </p:spPr>
        <p:txBody>
          <a:bodyPr/>
          <a:lstStyle/>
          <a:p>
            <a:endParaRPr lang="en-GB"/>
          </a:p>
        </p:txBody>
      </p:sp>
      <p:sp>
        <p:nvSpPr>
          <p:cNvPr id="6" name="Shape 4"/>
          <p:cNvSpPr/>
          <p:nvPr/>
        </p:nvSpPr>
        <p:spPr>
          <a:xfrm>
            <a:off x="4714756" y="3837384"/>
            <a:ext cx="3619738" cy="15240"/>
          </a:xfrm>
          <a:prstGeom prst="rect">
            <a:avLst/>
          </a:prstGeom>
          <a:solidFill>
            <a:srgbClr val="2F6F75"/>
          </a:solidFill>
          <a:ln/>
        </p:spPr>
        <p:txBody>
          <a:bodyPr/>
          <a:lstStyle/>
          <a:p>
            <a:endParaRPr lang="en-GB"/>
          </a:p>
        </p:txBody>
      </p:sp>
      <p:sp>
        <p:nvSpPr>
          <p:cNvPr id="7" name="Text 5"/>
          <p:cNvSpPr/>
          <p:nvPr/>
        </p:nvSpPr>
        <p:spPr>
          <a:xfrm>
            <a:off x="4812860" y="3437334"/>
            <a:ext cx="3423530" cy="266700"/>
          </a:xfrm>
          <a:prstGeom prst="rect">
            <a:avLst/>
          </a:prstGeom>
          <a:noFill/>
          <a:ln/>
        </p:spPr>
        <p:txBody>
          <a:bodyPr wrap="square" lIns="25400" tIns="25400" rIns="25400" bIns="25400" rtlCol="0" anchor="ctr">
            <a:normAutofit fontScale="92500" lnSpcReduction="10000"/>
          </a:bodyPr>
          <a:lstStyle/>
          <a:p>
            <a:pPr marL="0" indent="0" algn="ctr">
              <a:buNone/>
            </a:pPr>
            <a:r>
              <a:rPr lang="en-US" sz="1650" b="1" kern="0" spc="66" dirty="0">
                <a:solidFill>
                  <a:srgbClr val="2F6F75"/>
                </a:solidFill>
                <a:latin typeface="Courier New" pitchFamily="34" charset="0"/>
                <a:ea typeface="Courier New" pitchFamily="34" charset="-122"/>
                <a:cs typeface="Courier New" pitchFamily="34" charset="-120"/>
              </a:rPr>
              <a:t>POPULARITY</a:t>
            </a:r>
            <a:endParaRPr lang="en-US" sz="1650" dirty="0"/>
          </a:p>
        </p:txBody>
      </p:sp>
      <p:sp>
        <p:nvSpPr>
          <p:cNvPr id="8" name="Shape 6"/>
          <p:cNvSpPr/>
          <p:nvPr/>
        </p:nvSpPr>
        <p:spPr>
          <a:xfrm>
            <a:off x="8334494" y="3837384"/>
            <a:ext cx="2743676" cy="15240"/>
          </a:xfrm>
          <a:prstGeom prst="rect">
            <a:avLst/>
          </a:prstGeom>
          <a:solidFill>
            <a:srgbClr val="2F6F75"/>
          </a:solidFill>
          <a:ln/>
        </p:spPr>
        <p:txBody>
          <a:bodyPr/>
          <a:lstStyle/>
          <a:p>
            <a:endParaRPr lang="en-GB"/>
          </a:p>
        </p:txBody>
      </p:sp>
      <p:sp>
        <p:nvSpPr>
          <p:cNvPr id="9" name="Text 7"/>
          <p:cNvSpPr/>
          <p:nvPr/>
        </p:nvSpPr>
        <p:spPr>
          <a:xfrm>
            <a:off x="8445739" y="3437334"/>
            <a:ext cx="2521187" cy="266700"/>
          </a:xfrm>
          <a:prstGeom prst="rect">
            <a:avLst/>
          </a:prstGeom>
          <a:noFill/>
          <a:ln/>
        </p:spPr>
        <p:txBody>
          <a:bodyPr wrap="square" lIns="25400" tIns="25400" rIns="25400" bIns="25400" rtlCol="0" anchor="ctr">
            <a:normAutofit fontScale="92500" lnSpcReduction="10000"/>
          </a:bodyPr>
          <a:lstStyle/>
          <a:p>
            <a:pPr marL="0" indent="0" algn="ctr">
              <a:buNone/>
            </a:pPr>
            <a:r>
              <a:rPr lang="en-US" sz="1650" b="1" kern="0" spc="66" dirty="0">
                <a:solidFill>
                  <a:srgbClr val="2F6F75"/>
                </a:solidFill>
                <a:latin typeface="Courier New" pitchFamily="34" charset="0"/>
                <a:ea typeface="Courier New" pitchFamily="34" charset="-122"/>
                <a:cs typeface="Courier New" pitchFamily="34" charset="-120"/>
              </a:rPr>
              <a:t>USER-CF</a:t>
            </a:r>
            <a:endParaRPr lang="en-US" sz="1650" dirty="0"/>
          </a:p>
        </p:txBody>
      </p:sp>
      <p:sp>
        <p:nvSpPr>
          <p:cNvPr id="10" name="Shape 8"/>
          <p:cNvSpPr/>
          <p:nvPr/>
        </p:nvSpPr>
        <p:spPr>
          <a:xfrm>
            <a:off x="11078170" y="3837384"/>
            <a:ext cx="2743676" cy="15240"/>
          </a:xfrm>
          <a:prstGeom prst="rect">
            <a:avLst/>
          </a:prstGeom>
          <a:solidFill>
            <a:srgbClr val="2F6F75"/>
          </a:solidFill>
          <a:ln/>
        </p:spPr>
        <p:txBody>
          <a:bodyPr/>
          <a:lstStyle/>
          <a:p>
            <a:endParaRPr lang="en-GB"/>
          </a:p>
        </p:txBody>
      </p:sp>
      <p:sp>
        <p:nvSpPr>
          <p:cNvPr id="11" name="Text 9"/>
          <p:cNvSpPr/>
          <p:nvPr/>
        </p:nvSpPr>
        <p:spPr>
          <a:xfrm>
            <a:off x="11189415" y="3437334"/>
            <a:ext cx="2521187" cy="266700"/>
          </a:xfrm>
          <a:prstGeom prst="rect">
            <a:avLst/>
          </a:prstGeom>
          <a:noFill/>
          <a:ln/>
        </p:spPr>
        <p:txBody>
          <a:bodyPr wrap="square" lIns="25400" tIns="25400" rIns="25400" bIns="25400" rtlCol="0" anchor="ctr">
            <a:normAutofit fontScale="92500" lnSpcReduction="10000"/>
          </a:bodyPr>
          <a:lstStyle/>
          <a:p>
            <a:pPr marL="0" indent="0" algn="ctr">
              <a:buNone/>
            </a:pPr>
            <a:r>
              <a:rPr lang="en-US" sz="1650" b="1" kern="0" spc="66" dirty="0">
                <a:solidFill>
                  <a:srgbClr val="2F6F75"/>
                </a:solidFill>
                <a:latin typeface="Courier New" pitchFamily="34" charset="0"/>
                <a:ea typeface="Courier New" pitchFamily="34" charset="-122"/>
                <a:cs typeface="Courier New" pitchFamily="34" charset="-120"/>
              </a:rPr>
              <a:t>ITEM-CF</a:t>
            </a:r>
            <a:endParaRPr lang="en-US" sz="1650" dirty="0"/>
          </a:p>
        </p:txBody>
      </p:sp>
      <p:sp>
        <p:nvSpPr>
          <p:cNvPr id="12" name="Shape 10"/>
          <p:cNvSpPr/>
          <p:nvPr/>
        </p:nvSpPr>
        <p:spPr>
          <a:xfrm>
            <a:off x="13821847" y="3837384"/>
            <a:ext cx="2744033" cy="15240"/>
          </a:xfrm>
          <a:prstGeom prst="rect">
            <a:avLst/>
          </a:prstGeom>
          <a:solidFill>
            <a:srgbClr val="2F6F75"/>
          </a:solidFill>
          <a:ln/>
        </p:spPr>
        <p:txBody>
          <a:bodyPr/>
          <a:lstStyle/>
          <a:p>
            <a:endParaRPr lang="en-GB"/>
          </a:p>
        </p:txBody>
      </p:sp>
      <p:sp>
        <p:nvSpPr>
          <p:cNvPr id="13" name="Text 11"/>
          <p:cNvSpPr/>
          <p:nvPr/>
        </p:nvSpPr>
        <p:spPr>
          <a:xfrm>
            <a:off x="13933087" y="3437334"/>
            <a:ext cx="2521554" cy="266700"/>
          </a:xfrm>
          <a:prstGeom prst="rect">
            <a:avLst/>
          </a:prstGeom>
          <a:noFill/>
          <a:ln/>
        </p:spPr>
        <p:txBody>
          <a:bodyPr wrap="square" lIns="25400" tIns="25400" rIns="25400" bIns="25400" rtlCol="0" anchor="ctr">
            <a:normAutofit fontScale="92500" lnSpcReduction="10000"/>
          </a:bodyPr>
          <a:lstStyle/>
          <a:p>
            <a:pPr marL="0" indent="0" algn="ctr">
              <a:buNone/>
            </a:pPr>
            <a:r>
              <a:rPr lang="en-US" sz="1650" b="1" kern="0" spc="66" dirty="0">
                <a:solidFill>
                  <a:srgbClr val="2F6F75"/>
                </a:solidFill>
                <a:latin typeface="Courier New" pitchFamily="34" charset="0"/>
                <a:ea typeface="Courier New" pitchFamily="34" charset="-122"/>
                <a:cs typeface="Courier New" pitchFamily="34" charset="-120"/>
              </a:rPr>
              <a:t>CONTENT</a:t>
            </a:r>
            <a:endParaRPr lang="en-US" sz="1650" dirty="0"/>
          </a:p>
        </p:txBody>
      </p:sp>
      <p:sp>
        <p:nvSpPr>
          <p:cNvPr id="14" name="Text 12"/>
          <p:cNvSpPr/>
          <p:nvPr/>
        </p:nvSpPr>
        <p:spPr>
          <a:xfrm>
            <a:off x="1874520" y="4062174"/>
            <a:ext cx="2777615" cy="67818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1A1A17"/>
                </a:solidFill>
                <a:latin typeface="Courier New" pitchFamily="34" charset="0"/>
                <a:ea typeface="Courier New" pitchFamily="34" charset="-122"/>
                <a:cs typeface="Courier New" pitchFamily="34" charset="-120"/>
              </a:rPr>
              <a:t>NDCG@10</a:t>
            </a:r>
            <a:endParaRPr lang="en-US" sz="1800" dirty="0"/>
          </a:p>
        </p:txBody>
      </p:sp>
      <p:sp>
        <p:nvSpPr>
          <p:cNvPr id="15" name="Text 13"/>
          <p:cNvSpPr/>
          <p:nvPr/>
        </p:nvSpPr>
        <p:spPr>
          <a:xfrm>
            <a:off x="4812860" y="4062174"/>
            <a:ext cx="3423530" cy="678180"/>
          </a:xfrm>
          <a:prstGeom prst="rect">
            <a:avLst/>
          </a:prstGeom>
          <a:noFill/>
          <a:ln/>
        </p:spPr>
        <p:txBody>
          <a:bodyPr wrap="square" lIns="25400" tIns="25400" rIns="25400" bIns="25400" rtlCol="0" anchor="ctr">
            <a:normAutofit/>
          </a:bodyPr>
          <a:lstStyle/>
          <a:p>
            <a:pPr marL="0" indent="0" algn="ctr">
              <a:buNone/>
            </a:pPr>
            <a:r>
              <a:rPr lang="en-US" sz="3300" b="1" dirty="0">
                <a:solidFill>
                  <a:srgbClr val="2F6F75"/>
                </a:solidFill>
                <a:latin typeface="Georgia" pitchFamily="34" charset="0"/>
                <a:ea typeface="Georgia" pitchFamily="34" charset="-122"/>
                <a:cs typeface="Georgia" pitchFamily="34" charset="-120"/>
              </a:rPr>
              <a:t>0.073</a:t>
            </a:r>
            <a:endParaRPr lang="en-US" sz="3300" dirty="0"/>
          </a:p>
        </p:txBody>
      </p:sp>
      <p:sp>
        <p:nvSpPr>
          <p:cNvPr id="16" name="Text 14"/>
          <p:cNvSpPr/>
          <p:nvPr/>
        </p:nvSpPr>
        <p:spPr>
          <a:xfrm>
            <a:off x="8445739" y="4062174"/>
            <a:ext cx="2521187" cy="678180"/>
          </a:xfrm>
          <a:prstGeom prst="rect">
            <a:avLst/>
          </a:prstGeom>
          <a:noFill/>
          <a:ln/>
        </p:spPr>
        <p:txBody>
          <a:bodyPr wrap="square" lIns="25400" tIns="25400" rIns="25400" bIns="25400" rtlCol="0" anchor="ctr">
            <a:normAutofit/>
          </a:bodyPr>
          <a:lstStyle/>
          <a:p>
            <a:pPr marL="0" indent="0" algn="ctr">
              <a:buNone/>
            </a:pPr>
            <a:r>
              <a:rPr lang="en-US" sz="3300" dirty="0">
                <a:solidFill>
                  <a:srgbClr val="3A372F"/>
                </a:solidFill>
                <a:latin typeface="Georgia" pitchFamily="34" charset="0"/>
                <a:ea typeface="Georgia" pitchFamily="34" charset="-122"/>
                <a:cs typeface="Georgia" pitchFamily="34" charset="-120"/>
              </a:rPr>
              <a:t>0.009</a:t>
            </a:r>
            <a:endParaRPr lang="en-US" sz="3300" dirty="0"/>
          </a:p>
        </p:txBody>
      </p:sp>
      <p:sp>
        <p:nvSpPr>
          <p:cNvPr id="17" name="Text 15"/>
          <p:cNvSpPr/>
          <p:nvPr/>
        </p:nvSpPr>
        <p:spPr>
          <a:xfrm>
            <a:off x="11189415" y="4062174"/>
            <a:ext cx="2521187" cy="678180"/>
          </a:xfrm>
          <a:prstGeom prst="rect">
            <a:avLst/>
          </a:prstGeom>
          <a:noFill/>
          <a:ln/>
        </p:spPr>
        <p:txBody>
          <a:bodyPr wrap="square" lIns="25400" tIns="25400" rIns="25400" bIns="25400" rtlCol="0" anchor="ctr">
            <a:normAutofit/>
          </a:bodyPr>
          <a:lstStyle/>
          <a:p>
            <a:pPr marL="0" indent="0" algn="ctr">
              <a:buNone/>
            </a:pPr>
            <a:r>
              <a:rPr lang="en-US" sz="3300" dirty="0">
                <a:solidFill>
                  <a:srgbClr val="3A372F"/>
                </a:solidFill>
                <a:latin typeface="Georgia" pitchFamily="34" charset="0"/>
                <a:ea typeface="Georgia" pitchFamily="34" charset="-122"/>
                <a:cs typeface="Georgia" pitchFamily="34" charset="-120"/>
              </a:rPr>
              <a:t>0.026</a:t>
            </a:r>
            <a:endParaRPr lang="en-US" sz="3300" dirty="0"/>
          </a:p>
        </p:txBody>
      </p:sp>
      <p:sp>
        <p:nvSpPr>
          <p:cNvPr id="18" name="Text 16"/>
          <p:cNvSpPr/>
          <p:nvPr/>
        </p:nvSpPr>
        <p:spPr>
          <a:xfrm>
            <a:off x="13933087" y="4062174"/>
            <a:ext cx="2521554" cy="678180"/>
          </a:xfrm>
          <a:prstGeom prst="rect">
            <a:avLst/>
          </a:prstGeom>
          <a:noFill/>
          <a:ln/>
        </p:spPr>
        <p:txBody>
          <a:bodyPr wrap="square" lIns="25400" tIns="25400" rIns="25400" bIns="25400" rtlCol="0" anchor="ctr">
            <a:normAutofit/>
          </a:bodyPr>
          <a:lstStyle/>
          <a:p>
            <a:pPr marL="0" indent="0" algn="ctr">
              <a:buNone/>
            </a:pPr>
            <a:r>
              <a:rPr lang="en-US" sz="3300" dirty="0">
                <a:solidFill>
                  <a:srgbClr val="3A372F"/>
                </a:solidFill>
                <a:latin typeface="Georgia" pitchFamily="34" charset="0"/>
                <a:ea typeface="Georgia" pitchFamily="34" charset="-122"/>
                <a:cs typeface="Georgia" pitchFamily="34" charset="-120"/>
              </a:rPr>
              <a:t>0.008</a:t>
            </a:r>
            <a:endParaRPr lang="en-US" sz="3300" dirty="0"/>
          </a:p>
        </p:txBody>
      </p:sp>
      <p:sp>
        <p:nvSpPr>
          <p:cNvPr id="19" name="Shape 17"/>
          <p:cNvSpPr/>
          <p:nvPr/>
        </p:nvSpPr>
        <p:spPr>
          <a:xfrm>
            <a:off x="1333500" y="7268528"/>
            <a:ext cx="15621000" cy="2161223"/>
          </a:xfrm>
          <a:prstGeom prst="roundRect">
            <a:avLst>
              <a:gd name="adj" fmla="val 1763"/>
            </a:avLst>
          </a:prstGeom>
          <a:solidFill>
            <a:srgbClr val="2F6F75"/>
          </a:solidFill>
          <a:ln/>
        </p:spPr>
        <p:txBody>
          <a:bodyPr/>
          <a:lstStyle/>
          <a:p>
            <a:endParaRPr lang="en-GB"/>
          </a:p>
        </p:txBody>
      </p:sp>
      <p:sp>
        <p:nvSpPr>
          <p:cNvPr id="20" name="Text 18"/>
          <p:cNvSpPr/>
          <p:nvPr/>
        </p:nvSpPr>
        <p:spPr>
          <a:xfrm>
            <a:off x="1790700" y="7687628"/>
            <a:ext cx="1617726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THE TELL</a:t>
            </a:r>
            <a:endParaRPr lang="en-US" sz="1575" dirty="0"/>
          </a:p>
        </p:txBody>
      </p:sp>
      <p:sp>
        <p:nvSpPr>
          <p:cNvPr id="21" name="Text 19"/>
          <p:cNvSpPr/>
          <p:nvPr/>
        </p:nvSpPr>
        <p:spPr>
          <a:xfrm>
            <a:off x="1790700" y="8118157"/>
            <a:ext cx="14716125" cy="930593"/>
          </a:xfrm>
          <a:prstGeom prst="rect">
            <a:avLst/>
          </a:prstGeom>
          <a:noFill/>
          <a:ln/>
        </p:spPr>
        <p:txBody>
          <a:bodyPr wrap="square" lIns="25400" tIns="25400" rIns="25400" bIns="25400" rtlCol="0" anchor="t">
            <a:normAutofit fontScale="92500" lnSpcReduction="20000"/>
          </a:bodyPr>
          <a:lstStyle/>
          <a:p>
            <a:pPr marL="0" indent="0" algn="l">
              <a:lnSpc>
                <a:spcPct val="142000"/>
              </a:lnSpc>
              <a:buNone/>
            </a:pPr>
            <a:r>
              <a:rPr lang="en-US" sz="2475" dirty="0">
                <a:solidFill>
                  <a:srgbClr val="FFFFFF"/>
                </a:solidFill>
                <a:latin typeface="Arial" pitchFamily="34" charset="0"/>
                <a:ea typeface="Arial" pitchFamily="34" charset="-122"/>
                <a:cs typeface="Arial" pitchFamily="34" charset="-120"/>
              </a:rPr>
              <a:t>I spent weeks on personalisation and the baseline was already so good. Too good to be true, it felt like the data was trying to tell me something.</a:t>
            </a:r>
            <a:endParaRPr lang="en-US" sz="24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2F6F75"/>
        </a:solidFill>
        <a:effectLst/>
      </p:bgPr>
    </p:bg>
    <p:spTree>
      <p:nvGrpSpPr>
        <p:cNvPr id="1" name=""/>
        <p:cNvGrpSpPr/>
        <p:nvPr/>
      </p:nvGrpSpPr>
      <p:grpSpPr>
        <a:xfrm>
          <a:off x="0" y="0"/>
          <a:ext cx="0" cy="0"/>
          <a:chOff x="0" y="0"/>
          <a:chExt cx="0" cy="0"/>
        </a:xfrm>
      </p:grpSpPr>
      <p:sp>
        <p:nvSpPr>
          <p:cNvPr id="2" name="Text 0"/>
          <p:cNvSpPr/>
          <p:nvPr/>
        </p:nvSpPr>
        <p:spPr>
          <a:xfrm>
            <a:off x="1333500" y="3834051"/>
            <a:ext cx="17183100" cy="35814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BFE1E3"/>
                </a:solidFill>
                <a:latin typeface="Courier New" pitchFamily="34" charset="0"/>
                <a:ea typeface="Courier New" pitchFamily="34" charset="-122"/>
                <a:cs typeface="Courier New" pitchFamily="34" charset="-120"/>
              </a:rPr>
              <a:t>PART 3</a:t>
            </a:r>
            <a:endParaRPr lang="en-US" sz="1950" dirty="0"/>
          </a:p>
        </p:txBody>
      </p:sp>
      <p:sp>
        <p:nvSpPr>
          <p:cNvPr id="3" name="Text 1"/>
          <p:cNvSpPr/>
          <p:nvPr/>
        </p:nvSpPr>
        <p:spPr>
          <a:xfrm>
            <a:off x="1333500" y="4535091"/>
            <a:ext cx="17183100" cy="1068229"/>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7800" kern="0" spc="-117" dirty="0">
                <a:solidFill>
                  <a:srgbClr val="FFFFFF"/>
                </a:solidFill>
                <a:latin typeface="Georgia" pitchFamily="34" charset="0"/>
                <a:ea typeface="Georgia" pitchFamily="34" charset="-122"/>
                <a:cs typeface="Georgia" pitchFamily="34" charset="-120"/>
              </a:rPr>
              <a:t>Final remarks and prototype</a:t>
            </a:r>
            <a:endParaRPr lang="en-US" sz="7800" dirty="0"/>
          </a:p>
        </p:txBody>
      </p:sp>
      <p:sp>
        <p:nvSpPr>
          <p:cNvPr id="4" name="Text 2"/>
          <p:cNvSpPr/>
          <p:nvPr/>
        </p:nvSpPr>
        <p:spPr>
          <a:xfrm>
            <a:off x="1333500" y="5908120"/>
            <a:ext cx="12573000" cy="58293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300" i="1" dirty="0">
                <a:solidFill>
                  <a:srgbClr val="D6EBEC"/>
                </a:solidFill>
                <a:latin typeface="Georgia" pitchFamily="34" charset="0"/>
                <a:ea typeface="Georgia" pitchFamily="34" charset="-122"/>
                <a:cs typeface="Georgia" pitchFamily="34" charset="-120"/>
              </a:rPr>
              <a:t>The dirty secret I walked away with.</a:t>
            </a:r>
            <a:endParaRPr lang="en-US" sz="3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001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FINAL REMARKS</a:t>
            </a:r>
            <a:endParaRPr lang="en-US" sz="1650" dirty="0"/>
          </a:p>
        </p:txBody>
      </p:sp>
      <p:sp>
        <p:nvSpPr>
          <p:cNvPr id="3" name="Text 1"/>
          <p:cNvSpPr/>
          <p:nvPr/>
        </p:nvSpPr>
        <p:spPr>
          <a:xfrm>
            <a:off x="1333500" y="1245870"/>
            <a:ext cx="17183100" cy="61817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350" kern="0" spc="-43" dirty="0">
                <a:solidFill>
                  <a:srgbClr val="1A1A17"/>
                </a:solidFill>
                <a:latin typeface="Georgia" pitchFamily="34" charset="0"/>
                <a:ea typeface="Georgia" pitchFamily="34" charset="-122"/>
                <a:cs typeface="Georgia" pitchFamily="34" charset="-120"/>
              </a:rPr>
              <a:t>Offline evaluation is quietly rigged</a:t>
            </a:r>
            <a:endParaRPr lang="en-US" sz="4350" dirty="0"/>
          </a:p>
        </p:txBody>
      </p:sp>
      <p:sp>
        <p:nvSpPr>
          <p:cNvPr id="4" name="Text 2"/>
          <p:cNvSpPr/>
          <p:nvPr/>
        </p:nvSpPr>
        <p:spPr>
          <a:xfrm>
            <a:off x="1333500" y="2092642"/>
            <a:ext cx="16089630" cy="1331119"/>
          </a:xfrm>
          <a:prstGeom prst="rect">
            <a:avLst/>
          </a:prstGeom>
          <a:noFill/>
          <a:ln/>
        </p:spPr>
        <p:txBody>
          <a:bodyPr wrap="square" lIns="25400" tIns="25400" rIns="25400" bIns="25400" rtlCol="0" anchor="t">
            <a:normAutofit fontScale="92500"/>
          </a:bodyPr>
          <a:lstStyle/>
          <a:p>
            <a:pPr marL="0" indent="0" algn="l">
              <a:lnSpc>
                <a:spcPct val="146000"/>
              </a:lnSpc>
              <a:buNone/>
            </a:pPr>
            <a:r>
              <a:rPr lang="en-US" sz="2325" dirty="0">
                <a:solidFill>
                  <a:srgbClr val="3A372F"/>
                </a:solidFill>
                <a:latin typeface="Arial" pitchFamily="34" charset="0"/>
                <a:ea typeface="Arial" pitchFamily="34" charset="-122"/>
                <a:cs typeface="Arial" pitchFamily="34" charset="-120"/>
              </a:rPr>
              <a:t>Why is Popularity so hard to beat? Because my test set is built from what people already rated and people mostly rate popular films. Any metric from that history rewards popularity and punishes the niche discovery that makes recommendation worth doing.</a:t>
            </a:r>
            <a:endParaRPr lang="en-US" sz="2325" dirty="0"/>
          </a:p>
        </p:txBody>
      </p:sp>
      <p:sp>
        <p:nvSpPr>
          <p:cNvPr id="5" name="Shape 3"/>
          <p:cNvSpPr/>
          <p:nvPr/>
        </p:nvSpPr>
        <p:spPr>
          <a:xfrm>
            <a:off x="1333500" y="3766661"/>
            <a:ext cx="5041821" cy="2068830"/>
          </a:xfrm>
          <a:prstGeom prst="roundRect">
            <a:avLst>
              <a:gd name="adj" fmla="val 1842"/>
            </a:avLst>
          </a:prstGeom>
          <a:solidFill>
            <a:srgbClr val="FFFFFF"/>
          </a:solidFill>
          <a:ln w="7620">
            <a:solidFill>
              <a:srgbClr val="E6E2DA"/>
            </a:solidFill>
            <a:prstDash val="solid"/>
          </a:ln>
        </p:spPr>
        <p:txBody>
          <a:bodyPr/>
          <a:lstStyle/>
          <a:p>
            <a:endParaRPr lang="en-GB"/>
          </a:p>
        </p:txBody>
      </p:sp>
      <p:sp>
        <p:nvSpPr>
          <p:cNvPr id="6" name="Text 4"/>
          <p:cNvSpPr/>
          <p:nvPr/>
        </p:nvSpPr>
        <p:spPr>
          <a:xfrm>
            <a:off x="1645920" y="4098131"/>
            <a:ext cx="4858679" cy="563880"/>
          </a:xfrm>
          <a:prstGeom prst="rect">
            <a:avLst/>
          </a:prstGeom>
          <a:noFill/>
          <a:ln/>
        </p:spPr>
        <p:txBody>
          <a:bodyPr wrap="square" lIns="25400" tIns="25400" rIns="25400" bIns="25400" rtlCol="0" anchor="t">
            <a:normAutofit/>
          </a:bodyPr>
          <a:lstStyle/>
          <a:p>
            <a:pPr marL="0" indent="0" algn="l">
              <a:buNone/>
            </a:pPr>
            <a:r>
              <a:rPr lang="en-US" sz="2700" dirty="0">
                <a:solidFill>
                  <a:srgbClr val="1A1A17"/>
                </a:solidFill>
                <a:latin typeface="Georgia" pitchFamily="34" charset="0"/>
                <a:ea typeface="Georgia" pitchFamily="34" charset="-122"/>
                <a:cs typeface="Georgia" pitchFamily="34" charset="-120"/>
              </a:rPr>
              <a:t>Random split</a:t>
            </a:r>
            <a:endParaRPr lang="en-US" sz="2700" dirty="0"/>
          </a:p>
        </p:txBody>
      </p:sp>
      <p:sp>
        <p:nvSpPr>
          <p:cNvPr id="7" name="Text 5"/>
          <p:cNvSpPr/>
          <p:nvPr/>
        </p:nvSpPr>
        <p:spPr>
          <a:xfrm>
            <a:off x="1645920" y="4757261"/>
            <a:ext cx="4858679" cy="41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55524C"/>
                </a:solidFill>
                <a:latin typeface="Arial" pitchFamily="34" charset="0"/>
                <a:ea typeface="Arial" pitchFamily="34" charset="-122"/>
                <a:cs typeface="Arial" pitchFamily="34" charset="-120"/>
              </a:rPr>
              <a:t>Flattered me until I made it honest.</a:t>
            </a:r>
            <a:endParaRPr lang="en-US" sz="2100" dirty="0"/>
          </a:p>
        </p:txBody>
      </p:sp>
      <p:sp>
        <p:nvSpPr>
          <p:cNvPr id="8" name="Shape 6"/>
          <p:cNvSpPr/>
          <p:nvPr/>
        </p:nvSpPr>
        <p:spPr>
          <a:xfrm>
            <a:off x="6622971" y="3766661"/>
            <a:ext cx="5041940" cy="2068830"/>
          </a:xfrm>
          <a:prstGeom prst="roundRect">
            <a:avLst>
              <a:gd name="adj" fmla="val 1842"/>
            </a:avLst>
          </a:prstGeom>
          <a:solidFill>
            <a:srgbClr val="FFFFFF"/>
          </a:solidFill>
          <a:ln w="7620">
            <a:solidFill>
              <a:srgbClr val="E6E2DA"/>
            </a:solidFill>
            <a:prstDash val="solid"/>
          </a:ln>
        </p:spPr>
        <p:txBody>
          <a:bodyPr/>
          <a:lstStyle/>
          <a:p>
            <a:endParaRPr lang="en-GB"/>
          </a:p>
        </p:txBody>
      </p:sp>
      <p:sp>
        <p:nvSpPr>
          <p:cNvPr id="9" name="Text 7"/>
          <p:cNvSpPr/>
          <p:nvPr/>
        </p:nvSpPr>
        <p:spPr>
          <a:xfrm>
            <a:off x="6935391" y="4098131"/>
            <a:ext cx="4858810" cy="563880"/>
          </a:xfrm>
          <a:prstGeom prst="rect">
            <a:avLst/>
          </a:prstGeom>
          <a:noFill/>
          <a:ln/>
        </p:spPr>
        <p:txBody>
          <a:bodyPr wrap="square" lIns="25400" tIns="25400" rIns="25400" bIns="25400" rtlCol="0" anchor="t">
            <a:normAutofit/>
          </a:bodyPr>
          <a:lstStyle/>
          <a:p>
            <a:pPr marL="0" indent="0" algn="l">
              <a:buNone/>
            </a:pPr>
            <a:r>
              <a:rPr lang="en-US" sz="2700" dirty="0">
                <a:solidFill>
                  <a:srgbClr val="1A1A17"/>
                </a:solidFill>
                <a:latin typeface="Georgia" pitchFamily="34" charset="0"/>
                <a:ea typeface="Georgia" pitchFamily="34" charset="-122"/>
                <a:cs typeface="Georgia" pitchFamily="34" charset="-120"/>
              </a:rPr>
              <a:t>RMSE</a:t>
            </a:r>
            <a:endParaRPr lang="en-US" sz="2700" dirty="0"/>
          </a:p>
        </p:txBody>
      </p:sp>
      <p:sp>
        <p:nvSpPr>
          <p:cNvPr id="10" name="Text 8"/>
          <p:cNvSpPr/>
          <p:nvPr/>
        </p:nvSpPr>
        <p:spPr>
          <a:xfrm>
            <a:off x="6935391" y="4757261"/>
            <a:ext cx="4549613" cy="7848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55524C"/>
                </a:solidFill>
                <a:latin typeface="Arial" pitchFamily="34" charset="0"/>
                <a:ea typeface="Arial" pitchFamily="34" charset="-122"/>
                <a:cs typeface="Arial" pitchFamily="34" charset="-120"/>
              </a:rPr>
              <a:t>Would have crowned the wrong model.</a:t>
            </a:r>
            <a:endParaRPr lang="en-US" sz="2100" dirty="0"/>
          </a:p>
        </p:txBody>
      </p:sp>
      <p:sp>
        <p:nvSpPr>
          <p:cNvPr id="11" name="Shape 9"/>
          <p:cNvSpPr/>
          <p:nvPr/>
        </p:nvSpPr>
        <p:spPr>
          <a:xfrm>
            <a:off x="11912560" y="3766661"/>
            <a:ext cx="5041940" cy="2068830"/>
          </a:xfrm>
          <a:prstGeom prst="roundRect">
            <a:avLst>
              <a:gd name="adj" fmla="val 1842"/>
            </a:avLst>
          </a:prstGeom>
          <a:solidFill>
            <a:srgbClr val="FFFFFF"/>
          </a:solidFill>
          <a:ln w="7620">
            <a:solidFill>
              <a:srgbClr val="E6E2DA"/>
            </a:solidFill>
            <a:prstDash val="solid"/>
          </a:ln>
        </p:spPr>
        <p:txBody>
          <a:bodyPr/>
          <a:lstStyle/>
          <a:p>
            <a:endParaRPr lang="en-GB"/>
          </a:p>
        </p:txBody>
      </p:sp>
      <p:sp>
        <p:nvSpPr>
          <p:cNvPr id="12" name="Text 10"/>
          <p:cNvSpPr/>
          <p:nvPr/>
        </p:nvSpPr>
        <p:spPr>
          <a:xfrm>
            <a:off x="12224981" y="4098131"/>
            <a:ext cx="4858810" cy="563880"/>
          </a:xfrm>
          <a:prstGeom prst="rect">
            <a:avLst/>
          </a:prstGeom>
          <a:noFill/>
          <a:ln/>
        </p:spPr>
        <p:txBody>
          <a:bodyPr wrap="square" lIns="25400" tIns="25400" rIns="25400" bIns="25400" rtlCol="0" anchor="t">
            <a:normAutofit/>
          </a:bodyPr>
          <a:lstStyle/>
          <a:p>
            <a:pPr marL="0" indent="0" algn="l">
              <a:buNone/>
            </a:pPr>
            <a:r>
              <a:rPr lang="en-US" sz="2700" dirty="0">
                <a:solidFill>
                  <a:srgbClr val="1A1A17"/>
                </a:solidFill>
                <a:latin typeface="Georgia" pitchFamily="34" charset="0"/>
                <a:ea typeface="Georgia" pitchFamily="34" charset="-122"/>
                <a:cs typeface="Georgia" pitchFamily="34" charset="-120"/>
              </a:rPr>
              <a:t>Offline accuracy</a:t>
            </a:r>
            <a:endParaRPr lang="en-US" sz="2700" dirty="0"/>
          </a:p>
        </p:txBody>
      </p:sp>
      <p:sp>
        <p:nvSpPr>
          <p:cNvPr id="13" name="Text 11"/>
          <p:cNvSpPr/>
          <p:nvPr/>
        </p:nvSpPr>
        <p:spPr>
          <a:xfrm>
            <a:off x="12224981" y="4757261"/>
            <a:ext cx="4549613" cy="7848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55524C"/>
                </a:solidFill>
                <a:latin typeface="Arial" pitchFamily="34" charset="0"/>
                <a:ea typeface="Arial" pitchFamily="34" charset="-122"/>
                <a:cs typeface="Arial" pitchFamily="34" charset="-120"/>
              </a:rPr>
              <a:t>Structurally favours the head over the tail.</a:t>
            </a:r>
            <a:endParaRPr lang="en-US" sz="2100" dirty="0"/>
          </a:p>
        </p:txBody>
      </p:sp>
      <p:sp>
        <p:nvSpPr>
          <p:cNvPr id="14" name="Shape 12"/>
          <p:cNvSpPr/>
          <p:nvPr/>
        </p:nvSpPr>
        <p:spPr>
          <a:xfrm>
            <a:off x="1333441" y="7390686"/>
            <a:ext cx="15621000" cy="2096214"/>
          </a:xfrm>
          <a:prstGeom prst="roundRect">
            <a:avLst>
              <a:gd name="adj" fmla="val 1818"/>
            </a:avLst>
          </a:prstGeom>
          <a:solidFill>
            <a:srgbClr val="2F6F75"/>
          </a:solidFill>
          <a:ln/>
        </p:spPr>
        <p:txBody>
          <a:bodyPr/>
          <a:lstStyle/>
          <a:p>
            <a:endParaRPr lang="en-GB"/>
          </a:p>
        </p:txBody>
      </p:sp>
      <p:sp>
        <p:nvSpPr>
          <p:cNvPr id="15" name="Text 13"/>
          <p:cNvSpPr/>
          <p:nvPr/>
        </p:nvSpPr>
        <p:spPr>
          <a:xfrm>
            <a:off x="1570042" y="7790736"/>
            <a:ext cx="1617726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BFE1E3"/>
                </a:solidFill>
                <a:latin typeface="Courier New" pitchFamily="34" charset="0"/>
                <a:ea typeface="Courier New" pitchFamily="34" charset="-122"/>
                <a:cs typeface="Courier New" pitchFamily="34" charset="-120"/>
              </a:rPr>
              <a:t>WHAT I TAKE FROM IT</a:t>
            </a:r>
            <a:endParaRPr lang="en-US" sz="1575" dirty="0"/>
          </a:p>
        </p:txBody>
      </p:sp>
      <p:sp>
        <p:nvSpPr>
          <p:cNvPr id="16" name="Text 14"/>
          <p:cNvSpPr/>
          <p:nvPr/>
        </p:nvSpPr>
        <p:spPr>
          <a:xfrm>
            <a:off x="1570042" y="8219004"/>
            <a:ext cx="15147798" cy="903684"/>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FFFFFF"/>
                </a:solidFill>
                <a:latin typeface="Arial" pitchFamily="34" charset="0"/>
                <a:ea typeface="Arial" pitchFamily="34" charset="-122"/>
                <a:cs typeface="Arial" pitchFamily="34" charset="-120"/>
              </a:rPr>
              <a:t>Popularity isn't really good, the scoreboard is biased toward it. I only saw this because I built the evaluation myself, and I'd now trust a live A/B test over my own results table.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333500" y="85725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WHERE I'D GO NEXT</a:t>
            </a:r>
            <a:endParaRPr lang="en-US" sz="1650" dirty="0"/>
          </a:p>
        </p:txBody>
      </p:sp>
      <p:sp>
        <p:nvSpPr>
          <p:cNvPr id="3" name="Text 1"/>
          <p:cNvSpPr/>
          <p:nvPr/>
        </p:nvSpPr>
        <p:spPr>
          <a:xfrm>
            <a:off x="1333500" y="1322070"/>
            <a:ext cx="17183100" cy="66401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kern="0" spc="-46" dirty="0">
                <a:solidFill>
                  <a:srgbClr val="1A1A17"/>
                </a:solidFill>
                <a:latin typeface="Georgia" pitchFamily="34" charset="0"/>
                <a:ea typeface="Georgia" pitchFamily="34" charset="-122"/>
                <a:cs typeface="Georgia" pitchFamily="34" charset="-120"/>
              </a:rPr>
              <a:t>What I'd build next</a:t>
            </a:r>
            <a:endParaRPr lang="en-US" sz="4650" dirty="0"/>
          </a:p>
        </p:txBody>
      </p:sp>
      <p:sp>
        <p:nvSpPr>
          <p:cNvPr id="4" name="Shape 2"/>
          <p:cNvSpPr/>
          <p:nvPr/>
        </p:nvSpPr>
        <p:spPr>
          <a:xfrm>
            <a:off x="1333500" y="2481382"/>
            <a:ext cx="5016461" cy="6948368"/>
          </a:xfrm>
          <a:prstGeom prst="roundRect">
            <a:avLst>
              <a:gd name="adj" fmla="val 759"/>
            </a:avLst>
          </a:prstGeom>
          <a:solidFill>
            <a:srgbClr val="FFFFFF"/>
          </a:solidFill>
          <a:ln w="7620">
            <a:solidFill>
              <a:srgbClr val="E6E2DA"/>
            </a:solidFill>
            <a:prstDash val="solid"/>
          </a:ln>
        </p:spPr>
        <p:txBody>
          <a:bodyPr/>
          <a:lstStyle/>
          <a:p>
            <a:endParaRPr lang="en-GB"/>
          </a:p>
        </p:txBody>
      </p:sp>
      <p:sp>
        <p:nvSpPr>
          <p:cNvPr id="5" name="Text 3"/>
          <p:cNvSpPr/>
          <p:nvPr/>
        </p:nvSpPr>
        <p:spPr>
          <a:xfrm>
            <a:off x="1722120" y="2946202"/>
            <a:ext cx="4663142"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722120" y="3449122"/>
            <a:ext cx="4663142" cy="49911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dirty="0">
                <a:solidFill>
                  <a:srgbClr val="1A1A17"/>
                </a:solidFill>
                <a:latin typeface="Georgia" pitchFamily="34" charset="0"/>
                <a:ea typeface="Georgia" pitchFamily="34" charset="-122"/>
                <a:cs typeface="Georgia" pitchFamily="34" charset="-120"/>
              </a:rPr>
              <a:t>A hybrid</a:t>
            </a:r>
            <a:endParaRPr lang="en-US" sz="3300" dirty="0"/>
          </a:p>
        </p:txBody>
      </p:sp>
      <p:sp>
        <p:nvSpPr>
          <p:cNvPr id="7" name="Text 5"/>
          <p:cNvSpPr/>
          <p:nvPr/>
        </p:nvSpPr>
        <p:spPr>
          <a:xfrm>
            <a:off x="1722120" y="4157782"/>
            <a:ext cx="4366397" cy="1706880"/>
          </a:xfrm>
          <a:prstGeom prst="rect">
            <a:avLst/>
          </a:prstGeom>
          <a:noFill/>
          <a:ln/>
        </p:spPr>
        <p:txBody>
          <a:bodyPr wrap="square" lIns="25400" tIns="25400" rIns="25400" bIns="25400" rtlCol="0" anchor="t">
            <a:normAutofit fontScale="92500" lnSpcReduction="20000"/>
          </a:bodyPr>
          <a:lstStyle/>
          <a:p>
            <a:pPr marL="0" indent="0" algn="l">
              <a:lnSpc>
                <a:spcPct val="146000"/>
              </a:lnSpc>
              <a:buNone/>
            </a:pPr>
            <a:r>
              <a:rPr lang="en-US" sz="2250" dirty="0">
                <a:solidFill>
                  <a:srgbClr val="3A372F"/>
                </a:solidFill>
                <a:latin typeface="Arial" pitchFamily="34" charset="0"/>
                <a:ea typeface="Arial" pitchFamily="34" charset="-122"/>
                <a:cs typeface="Arial" pitchFamily="34" charset="-120"/>
              </a:rPr>
              <a:t>Content for cold-start users; CF and SVD once they've rated enough, because I've now felt where each one fails.</a:t>
            </a:r>
            <a:endParaRPr lang="en-US" sz="2250" dirty="0"/>
          </a:p>
        </p:txBody>
      </p:sp>
      <p:sp>
        <p:nvSpPr>
          <p:cNvPr id="8" name="Shape 6"/>
          <p:cNvSpPr/>
          <p:nvPr/>
        </p:nvSpPr>
        <p:spPr>
          <a:xfrm>
            <a:off x="6635711" y="2481382"/>
            <a:ext cx="5016461" cy="6948368"/>
          </a:xfrm>
          <a:prstGeom prst="roundRect">
            <a:avLst>
              <a:gd name="adj" fmla="val 759"/>
            </a:avLst>
          </a:prstGeom>
          <a:solidFill>
            <a:srgbClr val="FFFFFF"/>
          </a:solidFill>
          <a:ln w="7620">
            <a:solidFill>
              <a:srgbClr val="E6E2DA"/>
            </a:solidFill>
            <a:prstDash val="solid"/>
          </a:ln>
        </p:spPr>
        <p:txBody>
          <a:bodyPr/>
          <a:lstStyle/>
          <a:p>
            <a:endParaRPr lang="en-GB"/>
          </a:p>
        </p:txBody>
      </p:sp>
      <p:sp>
        <p:nvSpPr>
          <p:cNvPr id="9" name="Text 7"/>
          <p:cNvSpPr/>
          <p:nvPr/>
        </p:nvSpPr>
        <p:spPr>
          <a:xfrm>
            <a:off x="7024331" y="2946202"/>
            <a:ext cx="4663142"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7024331" y="3449122"/>
            <a:ext cx="4663142" cy="49911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dirty="0">
                <a:solidFill>
                  <a:srgbClr val="1A1A17"/>
                </a:solidFill>
                <a:latin typeface="Georgia" pitchFamily="34" charset="0"/>
                <a:ea typeface="Georgia" pitchFamily="34" charset="-122"/>
                <a:cs typeface="Georgia" pitchFamily="34" charset="-120"/>
              </a:rPr>
              <a:t>Online evaluation</a:t>
            </a:r>
            <a:endParaRPr lang="en-US" sz="3300" dirty="0"/>
          </a:p>
        </p:txBody>
      </p:sp>
      <p:sp>
        <p:nvSpPr>
          <p:cNvPr id="11" name="Text 9"/>
          <p:cNvSpPr/>
          <p:nvPr/>
        </p:nvSpPr>
        <p:spPr>
          <a:xfrm>
            <a:off x="7024331" y="4157782"/>
            <a:ext cx="4366397" cy="872490"/>
          </a:xfrm>
          <a:prstGeom prst="rect">
            <a:avLst/>
          </a:prstGeom>
          <a:noFill/>
          <a:ln/>
        </p:spPr>
        <p:txBody>
          <a:bodyPr wrap="square" lIns="25400" tIns="25400" rIns="25400" bIns="25400" rtlCol="0" anchor="t">
            <a:normAutofit fontScale="92500" lnSpcReduction="20000"/>
          </a:bodyPr>
          <a:lstStyle/>
          <a:p>
            <a:pPr marL="0" indent="0" algn="l">
              <a:lnSpc>
                <a:spcPct val="146000"/>
              </a:lnSpc>
              <a:buNone/>
            </a:pPr>
            <a:r>
              <a:rPr lang="en-US" sz="2250" dirty="0">
                <a:solidFill>
                  <a:srgbClr val="3A372F"/>
                </a:solidFill>
                <a:latin typeface="Arial" pitchFamily="34" charset="0"/>
                <a:ea typeface="Arial" pitchFamily="34" charset="-122"/>
                <a:cs typeface="Arial" pitchFamily="34" charset="-120"/>
              </a:rPr>
              <a:t>Because I no longer believe my offline table.</a:t>
            </a:r>
            <a:endParaRPr lang="en-US" sz="2250" dirty="0"/>
          </a:p>
        </p:txBody>
      </p:sp>
      <p:sp>
        <p:nvSpPr>
          <p:cNvPr id="12" name="Shape 10"/>
          <p:cNvSpPr/>
          <p:nvPr/>
        </p:nvSpPr>
        <p:spPr>
          <a:xfrm>
            <a:off x="11937921" y="2481382"/>
            <a:ext cx="5016461" cy="6948368"/>
          </a:xfrm>
          <a:prstGeom prst="roundRect">
            <a:avLst>
              <a:gd name="adj" fmla="val 759"/>
            </a:avLst>
          </a:prstGeom>
          <a:solidFill>
            <a:srgbClr val="FFFFFF"/>
          </a:solidFill>
          <a:ln w="7620">
            <a:solidFill>
              <a:srgbClr val="E6E2DA"/>
            </a:solidFill>
            <a:prstDash val="solid"/>
          </a:ln>
        </p:spPr>
        <p:txBody>
          <a:bodyPr/>
          <a:lstStyle/>
          <a:p>
            <a:endParaRPr lang="en-GB"/>
          </a:p>
        </p:txBody>
      </p:sp>
      <p:sp>
        <p:nvSpPr>
          <p:cNvPr id="13" name="Text 11"/>
          <p:cNvSpPr/>
          <p:nvPr/>
        </p:nvSpPr>
        <p:spPr>
          <a:xfrm>
            <a:off x="12326541" y="2946202"/>
            <a:ext cx="4663142"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2326541" y="3449122"/>
            <a:ext cx="4663142" cy="49911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dirty="0">
                <a:solidFill>
                  <a:srgbClr val="1A1A17"/>
                </a:solidFill>
                <a:latin typeface="Georgia" pitchFamily="34" charset="0"/>
                <a:ea typeface="Georgia" pitchFamily="34" charset="-122"/>
                <a:cs typeface="Georgia" pitchFamily="34" charset="-120"/>
              </a:rPr>
              <a:t>Serendipity</a:t>
            </a:r>
            <a:endParaRPr lang="en-US" sz="3300" dirty="0"/>
          </a:p>
        </p:txBody>
      </p:sp>
      <p:sp>
        <p:nvSpPr>
          <p:cNvPr id="15" name="Text 13"/>
          <p:cNvSpPr/>
          <p:nvPr/>
        </p:nvSpPr>
        <p:spPr>
          <a:xfrm>
            <a:off x="12326541" y="4157782"/>
            <a:ext cx="4366397" cy="2375366"/>
          </a:xfrm>
          <a:prstGeom prst="rect">
            <a:avLst/>
          </a:prstGeom>
          <a:noFill/>
          <a:ln/>
        </p:spPr>
        <p:txBody>
          <a:bodyPr wrap="square" lIns="25400" tIns="25400" rIns="25400" bIns="25400" rtlCol="0" anchor="t">
            <a:normAutofit/>
          </a:bodyPr>
          <a:lstStyle/>
          <a:p>
            <a:r>
              <a:rPr lang="en-GB" sz="2100" dirty="0">
                <a:solidFill>
                  <a:srgbClr val="3A372F"/>
                </a:solidFill>
                <a:latin typeface="Arial" pitchFamily="34" charset="0"/>
                <a:cs typeface="Arial" pitchFamily="34" charset="-120"/>
              </a:rPr>
              <a:t>I measured novelty and diversity, but the recommendation I actually wanted is serendipitous: surprising and right at the same time. None of my numbers capture that.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0" y="838200"/>
            <a:ext cx="17183100" cy="312420"/>
          </a:xfrm>
          <a:prstGeom prst="rect">
            <a:avLst/>
          </a:prstGeom>
          <a:noFill/>
          <a:ln/>
        </p:spPr>
        <p:txBody>
          <a:bodyPr wrap="square" lIns="25400" tIns="25400" rIns="25400" bIns="25400" rtlCol="0" anchor="t">
            <a:normAutofit/>
          </a:bodyPr>
          <a:lstStyle/>
          <a:p>
            <a:pPr marL="0" indent="0" algn="l">
              <a:buNone/>
            </a:pPr>
            <a:r>
              <a:rPr lang="en-US" sz="1650" kern="0" spc="297" dirty="0">
                <a:solidFill>
                  <a:srgbClr val="2F6F75"/>
                </a:solidFill>
                <a:latin typeface="Courier New" pitchFamily="34" charset="0"/>
                <a:ea typeface="Courier New" pitchFamily="34" charset="-122"/>
                <a:cs typeface="Courier New" pitchFamily="34" charset="-120"/>
              </a:rPr>
              <a:t>THE PROTOTYPE</a:t>
            </a:r>
            <a:endParaRPr lang="en-US" sz="1650" dirty="0"/>
          </a:p>
        </p:txBody>
      </p:sp>
      <p:sp>
        <p:nvSpPr>
          <p:cNvPr id="3" name="Text 1"/>
          <p:cNvSpPr/>
          <p:nvPr/>
        </p:nvSpPr>
        <p:spPr>
          <a:xfrm>
            <a:off x="1333500" y="1303020"/>
            <a:ext cx="17183100" cy="67818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kern="0" spc="-48" dirty="0">
                <a:solidFill>
                  <a:srgbClr val="1A1A17"/>
                </a:solidFill>
                <a:latin typeface="Georgia" pitchFamily="34" charset="0"/>
                <a:ea typeface="Georgia" pitchFamily="34" charset="-122"/>
                <a:cs typeface="Georgia" pitchFamily="34" charset="-120"/>
              </a:rPr>
              <a:t>A live app</a:t>
            </a:r>
            <a:endParaRPr lang="en-US" sz="4800" dirty="0"/>
          </a:p>
        </p:txBody>
      </p:sp>
      <p:sp>
        <p:nvSpPr>
          <p:cNvPr id="4" name="Text 2"/>
          <p:cNvSpPr/>
          <p:nvPr/>
        </p:nvSpPr>
        <p:spPr>
          <a:xfrm>
            <a:off x="1333500" y="2007620"/>
            <a:ext cx="15716250" cy="798195"/>
          </a:xfrm>
          <a:prstGeom prst="rect">
            <a:avLst/>
          </a:prstGeom>
          <a:noFill/>
          <a:ln/>
        </p:spPr>
        <p:txBody>
          <a:bodyPr wrap="square" lIns="25400" tIns="25400" rIns="25400" bIns="25400" rtlCol="0" anchor="t">
            <a:normAutofit/>
          </a:bodyPr>
          <a:lstStyle/>
          <a:p>
            <a:pPr>
              <a:lnSpc>
                <a:spcPct val="146000"/>
              </a:lnSpc>
            </a:pPr>
            <a:r>
              <a:rPr lang="en-US" sz="2250" dirty="0">
                <a:solidFill>
                  <a:srgbClr val="55524C"/>
                </a:solidFill>
                <a:latin typeface="Arial" pitchFamily="34" charset="0"/>
                <a:ea typeface="Arial" pitchFamily="34" charset="-122"/>
                <a:cs typeface="Arial" pitchFamily="34" charset="-120"/>
              </a:rPr>
              <a:t>A </a:t>
            </a:r>
            <a:r>
              <a:rPr lang="en-US" sz="2250" dirty="0" err="1">
                <a:solidFill>
                  <a:srgbClr val="55524C"/>
                </a:solidFill>
                <a:latin typeface="Arial" pitchFamily="34" charset="0"/>
                <a:ea typeface="Arial" pitchFamily="34" charset="-122"/>
                <a:cs typeface="Arial" pitchFamily="34" charset="-120"/>
              </a:rPr>
              <a:t>FastAPI</a:t>
            </a:r>
            <a:r>
              <a:rPr lang="en-US" sz="2250" dirty="0">
                <a:solidFill>
                  <a:srgbClr val="55524C"/>
                </a:solidFill>
                <a:latin typeface="Arial" pitchFamily="34" charset="0"/>
                <a:ea typeface="Arial" pitchFamily="34" charset="-122"/>
                <a:cs typeface="Arial" pitchFamily="34" charset="-120"/>
              </a:rPr>
              <a:t> and Unicorn UI. </a:t>
            </a:r>
            <a:r>
              <a:rPr lang="en-GB" sz="2200" dirty="0">
                <a:solidFill>
                  <a:srgbClr val="55524C"/>
                </a:solidFill>
                <a:latin typeface="Arial" pitchFamily="34" charset="0"/>
                <a:cs typeface="Arial" pitchFamily="34" charset="-120"/>
              </a:rPr>
              <a:t>Excluded seen movies, otherwise lists fill with already-watched films.</a:t>
            </a:r>
          </a:p>
          <a:p>
            <a:pPr marL="0" indent="0" algn="l">
              <a:lnSpc>
                <a:spcPct val="146000"/>
              </a:lnSpc>
              <a:buNone/>
            </a:pPr>
            <a:endParaRPr lang="en-US" sz="2250" dirty="0"/>
          </a:p>
        </p:txBody>
      </p:sp>
      <p:sp>
        <p:nvSpPr>
          <p:cNvPr id="5" name="Shape 3"/>
          <p:cNvSpPr/>
          <p:nvPr/>
        </p:nvSpPr>
        <p:spPr>
          <a:xfrm>
            <a:off x="1333500" y="2912745"/>
            <a:ext cx="7686675" cy="2616518"/>
          </a:xfrm>
          <a:prstGeom prst="roundRect">
            <a:avLst>
              <a:gd name="adj" fmla="val 1456"/>
            </a:avLst>
          </a:prstGeom>
          <a:solidFill>
            <a:srgbClr val="FFFFFF"/>
          </a:solidFill>
          <a:ln w="7620">
            <a:solidFill>
              <a:srgbClr val="E6E2DA"/>
            </a:solidFill>
            <a:prstDash val="solid"/>
          </a:ln>
        </p:spPr>
        <p:txBody>
          <a:bodyPr/>
          <a:lstStyle/>
          <a:p>
            <a:endParaRPr lang="en-GB"/>
          </a:p>
        </p:txBody>
      </p:sp>
      <p:sp>
        <p:nvSpPr>
          <p:cNvPr id="6" name="Text 4"/>
          <p:cNvSpPr/>
          <p:nvPr/>
        </p:nvSpPr>
        <p:spPr>
          <a:xfrm>
            <a:off x="1722120" y="3430905"/>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01</a:t>
            </a:r>
            <a:endParaRPr lang="en-US" sz="1650" dirty="0"/>
          </a:p>
        </p:txBody>
      </p:sp>
      <p:sp>
        <p:nvSpPr>
          <p:cNvPr id="7" name="Text 5"/>
          <p:cNvSpPr/>
          <p:nvPr/>
        </p:nvSpPr>
        <p:spPr>
          <a:xfrm>
            <a:off x="2125980" y="3263265"/>
            <a:ext cx="2432352" cy="586740"/>
          </a:xfrm>
          <a:prstGeom prst="rect">
            <a:avLst/>
          </a:prstGeom>
          <a:noFill/>
          <a:ln/>
        </p:spPr>
        <p:txBody>
          <a:bodyPr wrap="square" lIns="25400" tIns="25400" rIns="25400" bIns="25400" rtlCol="0" anchor="t">
            <a:normAutofit/>
          </a:bodyPr>
          <a:lstStyle/>
          <a:p>
            <a:pPr marL="0" indent="0" algn="l">
              <a:buNone/>
            </a:pPr>
            <a:r>
              <a:rPr lang="en-US" sz="2850" dirty="0">
                <a:solidFill>
                  <a:srgbClr val="1A1A17"/>
                </a:solidFill>
                <a:latin typeface="Georgia" pitchFamily="34" charset="0"/>
                <a:ea typeface="Georgia" pitchFamily="34" charset="-122"/>
                <a:cs typeface="Georgia" pitchFamily="34" charset="-120"/>
              </a:rPr>
              <a:t>One interface</a:t>
            </a:r>
            <a:endParaRPr lang="en-US" sz="2850" dirty="0"/>
          </a:p>
        </p:txBody>
      </p:sp>
      <p:sp>
        <p:nvSpPr>
          <p:cNvPr id="8" name="Text 6"/>
          <p:cNvSpPr/>
          <p:nvPr/>
        </p:nvSpPr>
        <p:spPr>
          <a:xfrm>
            <a:off x="1514837" y="3807594"/>
            <a:ext cx="7571651" cy="1778819"/>
          </a:xfrm>
          <a:prstGeom prst="rect">
            <a:avLst/>
          </a:prstGeom>
          <a:noFill/>
          <a:ln/>
        </p:spPr>
        <p:txBody>
          <a:bodyPr wrap="square" lIns="25400" tIns="25400" rIns="25400" bIns="25400" rtlCol="0" anchor="t">
            <a:normAutofit fontScale="85000" lnSpcReduction="10000"/>
          </a:bodyPr>
          <a:lstStyle/>
          <a:p>
            <a:pPr marL="0" indent="0" algn="l">
              <a:lnSpc>
                <a:spcPct val="142000"/>
              </a:lnSpc>
              <a:buNone/>
            </a:pPr>
            <a:r>
              <a:rPr lang="en-US" sz="1800" dirty="0">
                <a:solidFill>
                  <a:srgbClr val="2F6F75"/>
                </a:solidFill>
                <a:latin typeface="Courier New" pitchFamily="34" charset="0"/>
                <a:ea typeface="Courier New" pitchFamily="34" charset="-122"/>
                <a:cs typeface="Courier New" pitchFamily="34" charset="-120"/>
              </a:rPr>
              <a:t>model.recommend(user, n): </a:t>
            </a:r>
            <a:r>
              <a:rPr lang="en-US" sz="2100" dirty="0">
                <a:solidFill>
                  <a:srgbClr val="3A372F"/>
                </a:solidFill>
                <a:latin typeface="Arial" pitchFamily="34" charset="0"/>
                <a:ea typeface="Arial" pitchFamily="34" charset="-122"/>
                <a:cs typeface="Arial" pitchFamily="34" charset="-120"/>
              </a:rPr>
              <a:t>swap algorithm in the tabs.</a:t>
            </a:r>
          </a:p>
          <a:p>
            <a:pPr>
              <a:lnSpc>
                <a:spcPct val="142000"/>
              </a:lnSpc>
            </a:pPr>
            <a:r>
              <a:rPr lang="en-GB" sz="2100" dirty="0"/>
              <a:t>"Trending now"  section which is just the most-rated movies in the dataset, the same for every user and every model, ignoring what they've already watched. It's not time-based and not personalized. It's visual filler to make better ux.</a:t>
            </a:r>
            <a:endParaRPr lang="en-US" sz="2100" dirty="0"/>
          </a:p>
        </p:txBody>
      </p:sp>
      <p:sp>
        <p:nvSpPr>
          <p:cNvPr id="9" name="Shape 7"/>
          <p:cNvSpPr/>
          <p:nvPr/>
        </p:nvSpPr>
        <p:spPr>
          <a:xfrm>
            <a:off x="9267825" y="2912745"/>
            <a:ext cx="7686675" cy="2616518"/>
          </a:xfrm>
          <a:prstGeom prst="roundRect">
            <a:avLst>
              <a:gd name="adj" fmla="val 1456"/>
            </a:avLst>
          </a:prstGeom>
          <a:solidFill>
            <a:srgbClr val="FFFFFF"/>
          </a:solidFill>
          <a:ln w="7620">
            <a:solidFill>
              <a:srgbClr val="E6E2DA"/>
            </a:solidFill>
            <a:prstDash val="solid"/>
          </a:ln>
        </p:spPr>
        <p:txBody>
          <a:bodyPr/>
          <a:lstStyle/>
          <a:p>
            <a:endParaRPr lang="en-GB"/>
          </a:p>
        </p:txBody>
      </p:sp>
      <p:sp>
        <p:nvSpPr>
          <p:cNvPr id="10" name="Text 8"/>
          <p:cNvSpPr/>
          <p:nvPr/>
        </p:nvSpPr>
        <p:spPr>
          <a:xfrm>
            <a:off x="9656445" y="3430905"/>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02</a:t>
            </a:r>
            <a:endParaRPr lang="en-US" sz="1650" dirty="0"/>
          </a:p>
        </p:txBody>
      </p:sp>
      <p:sp>
        <p:nvSpPr>
          <p:cNvPr id="11" name="Text 9"/>
          <p:cNvSpPr/>
          <p:nvPr/>
        </p:nvSpPr>
        <p:spPr>
          <a:xfrm>
            <a:off x="10060306" y="3263265"/>
            <a:ext cx="2039707" cy="586740"/>
          </a:xfrm>
          <a:prstGeom prst="rect">
            <a:avLst/>
          </a:prstGeom>
          <a:noFill/>
          <a:ln/>
        </p:spPr>
        <p:txBody>
          <a:bodyPr wrap="square" lIns="25400" tIns="25400" rIns="25400" bIns="25400" rtlCol="0" anchor="t">
            <a:normAutofit/>
          </a:bodyPr>
          <a:lstStyle/>
          <a:p>
            <a:pPr marL="0" indent="0" algn="l">
              <a:buNone/>
            </a:pPr>
            <a:r>
              <a:rPr lang="en-US" sz="2850" dirty="0">
                <a:solidFill>
                  <a:srgbClr val="1A1A17"/>
                </a:solidFill>
                <a:latin typeface="Georgia" pitchFamily="34" charset="0"/>
                <a:ea typeface="Georgia" pitchFamily="34" charset="-122"/>
                <a:cs typeface="Georgia" pitchFamily="34" charset="-120"/>
              </a:rPr>
              <a:t>Two modes</a:t>
            </a:r>
            <a:endParaRPr lang="en-US" sz="2850" dirty="0"/>
          </a:p>
        </p:txBody>
      </p:sp>
      <p:sp>
        <p:nvSpPr>
          <p:cNvPr id="12" name="Text 10"/>
          <p:cNvSpPr/>
          <p:nvPr/>
        </p:nvSpPr>
        <p:spPr>
          <a:xfrm>
            <a:off x="9656445" y="3964304"/>
            <a:ext cx="7116718" cy="1393507"/>
          </a:xfrm>
          <a:prstGeom prst="rect">
            <a:avLst/>
          </a:prstGeom>
          <a:noFill/>
          <a:ln/>
        </p:spPr>
        <p:txBody>
          <a:bodyPr wrap="square" lIns="25400" tIns="25400" rIns="25400" bIns="25400" rtlCol="0" anchor="t">
            <a:normAutofit fontScale="85000" lnSpcReduction="20000"/>
          </a:bodyPr>
          <a:lstStyle/>
          <a:p>
            <a:pPr>
              <a:lnSpc>
                <a:spcPct val="142000"/>
              </a:lnSpc>
            </a:pPr>
            <a:r>
              <a:rPr lang="en-US" sz="2100" dirty="0">
                <a:solidFill>
                  <a:srgbClr val="3A372F"/>
                </a:solidFill>
                <a:latin typeface="Arial" pitchFamily="34" charset="0"/>
                <a:ea typeface="Arial" pitchFamily="34" charset="-122"/>
                <a:cs typeface="Arial" pitchFamily="34" charset="-120"/>
              </a:rPr>
              <a:t>Existing user (pick from 610) or cold start. Rate a few films, get instant recs. It is available for content based only because </a:t>
            </a:r>
            <a:r>
              <a:rPr lang="en-GB" sz="2100" dirty="0">
                <a:solidFill>
                  <a:srgbClr val="3A372F"/>
                </a:solidFill>
                <a:latin typeface="Arial" pitchFamily="34" charset="0"/>
                <a:ea typeface="Arial" pitchFamily="34" charset="-122"/>
                <a:cs typeface="Arial" pitchFamily="34" charset="-120"/>
              </a:rPr>
              <a:t>it's the one method that can say something sensible about a person it has never seen before and also for </a:t>
            </a:r>
            <a:r>
              <a:rPr lang="en-US" sz="2100" dirty="0">
                <a:solidFill>
                  <a:srgbClr val="3A372F"/>
                </a:solidFill>
                <a:latin typeface="Arial" pitchFamily="34" charset="0"/>
                <a:ea typeface="Arial" pitchFamily="34" charset="-122"/>
                <a:cs typeface="Arial" pitchFamily="34" charset="-120"/>
              </a:rPr>
              <a:t>memory cost on Render.</a:t>
            </a:r>
            <a:endParaRPr lang="en-US" sz="2100" dirty="0"/>
          </a:p>
        </p:txBody>
      </p:sp>
      <p:sp>
        <p:nvSpPr>
          <p:cNvPr id="13" name="Shape 11"/>
          <p:cNvSpPr/>
          <p:nvPr/>
        </p:nvSpPr>
        <p:spPr>
          <a:xfrm>
            <a:off x="1333500" y="5776913"/>
            <a:ext cx="7686675" cy="2616518"/>
          </a:xfrm>
          <a:prstGeom prst="roundRect">
            <a:avLst>
              <a:gd name="adj" fmla="val 1456"/>
            </a:avLst>
          </a:prstGeom>
          <a:solidFill>
            <a:srgbClr val="FFFFFF"/>
          </a:solidFill>
          <a:ln w="7620">
            <a:solidFill>
              <a:srgbClr val="E6E2DA"/>
            </a:solidFill>
            <a:prstDash val="solid"/>
          </a:ln>
        </p:spPr>
        <p:txBody>
          <a:bodyPr/>
          <a:lstStyle/>
          <a:p>
            <a:endParaRPr lang="en-GB"/>
          </a:p>
        </p:txBody>
      </p:sp>
      <p:sp>
        <p:nvSpPr>
          <p:cNvPr id="14" name="Text 12"/>
          <p:cNvSpPr/>
          <p:nvPr/>
        </p:nvSpPr>
        <p:spPr>
          <a:xfrm>
            <a:off x="1722120" y="6295073"/>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03</a:t>
            </a:r>
            <a:endParaRPr lang="en-US" sz="1650" dirty="0"/>
          </a:p>
        </p:txBody>
      </p:sp>
      <p:sp>
        <p:nvSpPr>
          <p:cNvPr id="15" name="Text 13"/>
          <p:cNvSpPr/>
          <p:nvPr/>
        </p:nvSpPr>
        <p:spPr>
          <a:xfrm>
            <a:off x="2125980" y="6127432"/>
            <a:ext cx="2497967" cy="586740"/>
          </a:xfrm>
          <a:prstGeom prst="rect">
            <a:avLst/>
          </a:prstGeom>
          <a:noFill/>
          <a:ln/>
        </p:spPr>
        <p:txBody>
          <a:bodyPr wrap="square" lIns="25400" tIns="25400" rIns="25400" bIns="25400" rtlCol="0" anchor="t">
            <a:normAutofit/>
          </a:bodyPr>
          <a:lstStyle/>
          <a:p>
            <a:pPr marL="0" indent="0" algn="l">
              <a:buNone/>
            </a:pPr>
            <a:r>
              <a:rPr lang="en-US" sz="2850" dirty="0">
                <a:solidFill>
                  <a:srgbClr val="1A1A17"/>
                </a:solidFill>
                <a:latin typeface="Georgia" pitchFamily="34" charset="0"/>
                <a:ea typeface="Georgia" pitchFamily="34" charset="-122"/>
                <a:cs typeface="Georgia" pitchFamily="34" charset="-120"/>
              </a:rPr>
              <a:t>Explainability</a:t>
            </a:r>
            <a:endParaRPr lang="en-US" sz="2850" dirty="0"/>
          </a:p>
        </p:txBody>
      </p:sp>
      <p:sp>
        <p:nvSpPr>
          <p:cNvPr id="16" name="Text 14"/>
          <p:cNvSpPr/>
          <p:nvPr/>
        </p:nvSpPr>
        <p:spPr>
          <a:xfrm>
            <a:off x="1722121" y="6828473"/>
            <a:ext cx="6784206" cy="1304874"/>
          </a:xfrm>
          <a:prstGeom prst="rect">
            <a:avLst/>
          </a:prstGeom>
          <a:noFill/>
          <a:ln/>
        </p:spPr>
        <p:txBody>
          <a:bodyPr wrap="square" lIns="25400" tIns="25400" rIns="25400" bIns="25400" rtlCol="0" anchor="t">
            <a:normAutofit/>
          </a:bodyPr>
          <a:lstStyle/>
          <a:p>
            <a:pPr marL="0" indent="0" algn="l">
              <a:lnSpc>
                <a:spcPct val="142000"/>
              </a:lnSpc>
              <a:buNone/>
            </a:pPr>
            <a:r>
              <a:rPr lang="en-US" sz="2100" dirty="0">
                <a:solidFill>
                  <a:srgbClr val="3A372F"/>
                </a:solidFill>
                <a:latin typeface="Arial" pitchFamily="34" charset="0"/>
                <a:ea typeface="Arial" pitchFamily="34" charset="-122"/>
                <a:cs typeface="Arial" pitchFamily="34" charset="-120"/>
              </a:rPr>
              <a:t>An insights tab that shows the EDA/dataset and </a:t>
            </a:r>
          </a:p>
          <a:p>
            <a:pPr marL="0" indent="0" algn="l">
              <a:lnSpc>
                <a:spcPct val="142000"/>
              </a:lnSpc>
              <a:buNone/>
            </a:pPr>
            <a:r>
              <a:rPr lang="en-US" sz="2100" dirty="0">
                <a:solidFill>
                  <a:srgbClr val="3A372F"/>
                </a:solidFill>
                <a:latin typeface="Arial" pitchFamily="34" charset="0"/>
                <a:ea typeface="Arial" pitchFamily="34" charset="-122"/>
                <a:cs typeface="Arial" pitchFamily="34" charset="-120"/>
              </a:rPr>
              <a:t>the model comparisons.</a:t>
            </a:r>
            <a:endParaRPr lang="en-US" sz="2100" dirty="0"/>
          </a:p>
        </p:txBody>
      </p:sp>
      <p:sp>
        <p:nvSpPr>
          <p:cNvPr id="17" name="Shape 15"/>
          <p:cNvSpPr/>
          <p:nvPr/>
        </p:nvSpPr>
        <p:spPr>
          <a:xfrm>
            <a:off x="9267825" y="5776913"/>
            <a:ext cx="7686675" cy="2616518"/>
          </a:xfrm>
          <a:prstGeom prst="roundRect">
            <a:avLst>
              <a:gd name="adj" fmla="val 1456"/>
            </a:avLst>
          </a:prstGeom>
          <a:solidFill>
            <a:srgbClr val="FFFFFF"/>
          </a:solidFill>
          <a:ln w="7620">
            <a:solidFill>
              <a:srgbClr val="E6E2DA"/>
            </a:solidFill>
            <a:prstDash val="solid"/>
          </a:ln>
        </p:spPr>
        <p:txBody>
          <a:bodyPr/>
          <a:lstStyle/>
          <a:p>
            <a:endParaRPr lang="en-GB"/>
          </a:p>
        </p:txBody>
      </p:sp>
      <p:sp>
        <p:nvSpPr>
          <p:cNvPr id="18" name="Text 16"/>
          <p:cNvSpPr/>
          <p:nvPr/>
        </p:nvSpPr>
        <p:spPr>
          <a:xfrm>
            <a:off x="9656445" y="6295073"/>
            <a:ext cx="32766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2F6F75"/>
                </a:solidFill>
                <a:latin typeface="Courier New" pitchFamily="34" charset="0"/>
                <a:ea typeface="Courier New" pitchFamily="34" charset="-122"/>
                <a:cs typeface="Courier New" pitchFamily="34" charset="-120"/>
              </a:rPr>
              <a:t>04</a:t>
            </a:r>
            <a:endParaRPr lang="en-US" sz="1650" dirty="0"/>
          </a:p>
        </p:txBody>
      </p:sp>
      <p:sp>
        <p:nvSpPr>
          <p:cNvPr id="19" name="Text 17"/>
          <p:cNvSpPr/>
          <p:nvPr/>
        </p:nvSpPr>
        <p:spPr>
          <a:xfrm>
            <a:off x="10060306" y="6127432"/>
            <a:ext cx="2113050" cy="586740"/>
          </a:xfrm>
          <a:prstGeom prst="rect">
            <a:avLst/>
          </a:prstGeom>
          <a:noFill/>
          <a:ln/>
        </p:spPr>
        <p:txBody>
          <a:bodyPr wrap="square" lIns="25400" tIns="25400" rIns="25400" bIns="25400" rtlCol="0" anchor="t">
            <a:normAutofit/>
          </a:bodyPr>
          <a:lstStyle/>
          <a:p>
            <a:pPr marL="0" indent="0" algn="l">
              <a:buNone/>
            </a:pPr>
            <a:r>
              <a:rPr lang="en-US" sz="2850" dirty="0">
                <a:solidFill>
                  <a:srgbClr val="1A1A17"/>
                </a:solidFill>
                <a:latin typeface="Georgia" pitchFamily="34" charset="0"/>
                <a:ea typeface="Georgia" pitchFamily="34" charset="-122"/>
                <a:cs typeface="Georgia" pitchFamily="34" charset="-120"/>
              </a:rPr>
              <a:t>Score labels</a:t>
            </a:r>
            <a:endParaRPr lang="en-US" sz="2850" dirty="0"/>
          </a:p>
        </p:txBody>
      </p:sp>
      <p:sp>
        <p:nvSpPr>
          <p:cNvPr id="20" name="Text 18"/>
          <p:cNvSpPr/>
          <p:nvPr/>
        </p:nvSpPr>
        <p:spPr>
          <a:xfrm>
            <a:off x="9656445" y="6828473"/>
            <a:ext cx="7116718" cy="795338"/>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2100" dirty="0">
                <a:solidFill>
                  <a:srgbClr val="3A372F"/>
                </a:solidFill>
                <a:latin typeface="Arial" pitchFamily="34" charset="0"/>
                <a:ea typeface="Arial" pitchFamily="34" charset="-122"/>
                <a:cs typeface="Arial" pitchFamily="34" charset="-120"/>
              </a:rPr>
              <a:t>Each method shows: rating count, predicted ★, cosine match.</a:t>
            </a:r>
            <a:endParaRPr lang="en-US" sz="2100" dirty="0"/>
          </a:p>
        </p:txBody>
      </p:sp>
      <p:sp>
        <p:nvSpPr>
          <p:cNvPr id="24" name="Text 19"/>
          <p:cNvSpPr/>
          <p:nvPr/>
        </p:nvSpPr>
        <p:spPr>
          <a:xfrm>
            <a:off x="1309438" y="8525178"/>
            <a:ext cx="8845217" cy="556461"/>
          </a:xfrm>
          <a:prstGeom prst="rect">
            <a:avLst/>
          </a:prstGeom>
          <a:noFill/>
          <a:ln/>
        </p:spPr>
        <p:txBody>
          <a:bodyPr wrap="square" lIns="25400" tIns="25400" rIns="25400" bIns="25400" rtlCol="0" anchor="t">
            <a:normAutofit fontScale="85000" lnSpcReduction="10000"/>
          </a:bodyPr>
          <a:lstStyle/>
          <a:p>
            <a:pPr>
              <a:lnSpc>
                <a:spcPct val="160000"/>
              </a:lnSpc>
            </a:pPr>
            <a:r>
              <a:rPr lang="en-US" sz="1800" dirty="0">
                <a:solidFill>
                  <a:srgbClr val="3A372F"/>
                </a:solidFill>
                <a:latin typeface="Courier New" pitchFamily="34" charset="0"/>
                <a:ea typeface="Courier New" pitchFamily="34" charset="-122"/>
                <a:cs typeface="Courier New" pitchFamily="34" charset="-120"/>
              </a:rPr>
              <a:t>Live demo:</a:t>
            </a:r>
            <a:r>
              <a:rPr lang="en-US" dirty="0">
                <a:solidFill>
                  <a:srgbClr val="3A372F"/>
                </a:solidFill>
                <a:latin typeface="Courier New" pitchFamily="34" charset="0"/>
                <a:ea typeface="Courier New" pitchFamily="34" charset="-122"/>
                <a:cs typeface="Courier New" pitchFamily="34" charset="-120"/>
              </a:rPr>
              <a:t> </a:t>
            </a:r>
            <a:r>
              <a:rPr lang="en-US" sz="2400" dirty="0">
                <a:solidFill>
                  <a:srgbClr val="2F6F75"/>
                </a:solidFill>
                <a:latin typeface="Courier New" pitchFamily="34" charset="0"/>
                <a:cs typeface="Courier New" pitchFamily="34" charset="-120"/>
              </a:rPr>
              <a:t>https://cinema-recommender-s23s.onrender.com</a:t>
            </a:r>
          </a:p>
        </p:txBody>
      </p:sp>
      <p:sp>
        <p:nvSpPr>
          <p:cNvPr id="25" name="Text 20"/>
          <p:cNvSpPr/>
          <p:nvPr/>
        </p:nvSpPr>
        <p:spPr>
          <a:xfrm>
            <a:off x="1309438" y="9081639"/>
            <a:ext cx="5650992" cy="403860"/>
          </a:xfrm>
          <a:prstGeom prst="rect">
            <a:avLst/>
          </a:prstGeom>
          <a:noFill/>
          <a:ln/>
        </p:spPr>
        <p:txBody>
          <a:bodyPr wrap="square" lIns="25400" tIns="25400" rIns="25400" bIns="25400" rtlCol="0" anchor="t">
            <a:normAutofit fontScale="92500" lnSpcReduction="20000"/>
          </a:bodyPr>
          <a:lstStyle/>
          <a:p>
            <a:pPr>
              <a:lnSpc>
                <a:spcPct val="160000"/>
              </a:lnSpc>
            </a:pPr>
            <a:r>
              <a:rPr lang="en-US" sz="1800" dirty="0">
                <a:solidFill>
                  <a:srgbClr val="3A372F"/>
                </a:solidFill>
                <a:latin typeface="Courier New" pitchFamily="34" charset="0"/>
                <a:ea typeface="Courier New" pitchFamily="34" charset="-122"/>
                <a:cs typeface="Courier New" pitchFamily="34" charset="-120"/>
              </a:rPr>
              <a:t>Run locally: </a:t>
            </a:r>
            <a:r>
              <a:rPr lang="en-GB" dirty="0" err="1">
                <a:solidFill>
                  <a:srgbClr val="2F6F75"/>
                </a:solidFill>
                <a:latin typeface="Courier New" pitchFamily="34" charset="0"/>
                <a:ea typeface="Courier New" pitchFamily="34" charset="-122"/>
                <a:cs typeface="Courier New" pitchFamily="34" charset="-120"/>
              </a:rPr>
              <a:t>uv</a:t>
            </a:r>
            <a:r>
              <a:rPr lang="en-GB" dirty="0">
                <a:solidFill>
                  <a:srgbClr val="2F6F75"/>
                </a:solidFill>
                <a:latin typeface="Courier New" pitchFamily="34" charset="0"/>
                <a:ea typeface="Courier New" pitchFamily="34" charset="-122"/>
                <a:cs typeface="Courier New" pitchFamily="34" charset="-120"/>
              </a:rPr>
              <a:t> run </a:t>
            </a:r>
            <a:r>
              <a:rPr lang="en-GB" dirty="0" err="1">
                <a:solidFill>
                  <a:srgbClr val="2F6F75"/>
                </a:solidFill>
                <a:latin typeface="Courier New" pitchFamily="34" charset="0"/>
                <a:ea typeface="Courier New" pitchFamily="34" charset="-122"/>
                <a:cs typeface="Courier New" pitchFamily="34" charset="-120"/>
              </a:rPr>
              <a:t>uvicorn</a:t>
            </a:r>
            <a:r>
              <a:rPr lang="en-GB" dirty="0">
                <a:solidFill>
                  <a:srgbClr val="2F6F75"/>
                </a:solidFill>
                <a:latin typeface="Courier New" pitchFamily="34" charset="0"/>
                <a:ea typeface="Courier New" pitchFamily="34" charset="-122"/>
                <a:cs typeface="Courier New" pitchFamily="34" charset="-120"/>
              </a:rPr>
              <a:t> </a:t>
            </a:r>
            <a:r>
              <a:rPr lang="en-GB" dirty="0" err="1">
                <a:solidFill>
                  <a:srgbClr val="2F6F75"/>
                </a:solidFill>
                <a:latin typeface="Courier New" pitchFamily="34" charset="0"/>
                <a:ea typeface="Courier New" pitchFamily="34" charset="-122"/>
                <a:cs typeface="Courier New" pitchFamily="34" charset="-120"/>
              </a:rPr>
              <a:t>server:app</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2F6F75"/>
        </a:solidFill>
        <a:effectLst/>
      </p:bgPr>
    </p:bg>
    <p:spTree>
      <p:nvGrpSpPr>
        <p:cNvPr id="1" name=""/>
        <p:cNvGrpSpPr/>
        <p:nvPr/>
      </p:nvGrpSpPr>
      <p:grpSpPr>
        <a:xfrm>
          <a:off x="0" y="0"/>
          <a:ext cx="0" cy="0"/>
          <a:chOff x="0" y="0"/>
          <a:chExt cx="0" cy="0"/>
        </a:xfrm>
      </p:grpSpPr>
      <p:sp>
        <p:nvSpPr>
          <p:cNvPr id="2" name="Text 0"/>
          <p:cNvSpPr/>
          <p:nvPr/>
        </p:nvSpPr>
        <p:spPr>
          <a:xfrm>
            <a:off x="1333500" y="3286125"/>
            <a:ext cx="17183100" cy="335280"/>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FE1E3"/>
                </a:solidFill>
                <a:latin typeface="Courier New" pitchFamily="34" charset="0"/>
                <a:ea typeface="Courier New" pitchFamily="34" charset="-122"/>
                <a:cs typeface="Courier New" pitchFamily="34" charset="-120"/>
              </a:rPr>
              <a:t>RECOMMENDER SYSTEMS · INDIVIDUAL PROJECT</a:t>
            </a:r>
            <a:endParaRPr lang="en-US" sz="1800" dirty="0"/>
          </a:p>
        </p:txBody>
      </p:sp>
      <p:sp>
        <p:nvSpPr>
          <p:cNvPr id="3" name="Text 1"/>
          <p:cNvSpPr/>
          <p:nvPr/>
        </p:nvSpPr>
        <p:spPr>
          <a:xfrm>
            <a:off x="1333500" y="4592955"/>
            <a:ext cx="17183100" cy="1257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600" kern="0" spc="-192" dirty="0">
                <a:solidFill>
                  <a:srgbClr val="FFFFFF"/>
                </a:solidFill>
                <a:latin typeface="Georgia" pitchFamily="34" charset="0"/>
                <a:ea typeface="Georgia" pitchFamily="34" charset="-122"/>
                <a:cs typeface="Georgia" pitchFamily="34" charset="-120"/>
              </a:rPr>
              <a:t>Thank you</a:t>
            </a:r>
            <a:endParaRPr lang="en-US" sz="9600" dirty="0"/>
          </a:p>
        </p:txBody>
      </p:sp>
      <p:pic>
        <p:nvPicPr>
          <p:cNvPr id="4" name="Picture 3">
            <a:extLst>
              <a:ext uri="{FF2B5EF4-FFF2-40B4-BE49-F238E27FC236}">
                <a16:creationId xmlns:a16="http://schemas.microsoft.com/office/drawing/2014/main" id="{6D1DDB5B-3DB7-788F-0DAE-D65BA6446744}"/>
              </a:ext>
            </a:extLst>
          </p:cNvPr>
          <p:cNvPicPr>
            <a:picLocks noChangeAspect="1"/>
          </p:cNvPicPr>
          <p:nvPr/>
        </p:nvPicPr>
        <p:blipFill>
          <a:blip r:embed="rId3"/>
          <a:stretch>
            <a:fillRect/>
          </a:stretch>
        </p:blipFill>
        <p:spPr>
          <a:xfrm>
            <a:off x="9925050" y="3056670"/>
            <a:ext cx="5185610" cy="518561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2170</Words>
  <Application>Microsoft Office PowerPoint</Application>
  <PresentationFormat>Custom</PresentationFormat>
  <Paragraphs>312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Fruncillo, Yiben Nicolò</cp:lastModifiedBy>
  <cp:revision>30</cp:revision>
  <dcterms:created xsi:type="dcterms:W3CDTF">2026-06-27T00:07:34Z</dcterms:created>
  <dcterms:modified xsi:type="dcterms:W3CDTF">2026-06-28T04:08:02Z</dcterms:modified>
</cp:coreProperties>
</file>